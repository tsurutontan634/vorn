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37"/>
        </a:solidFill>
      </p:bgPr>
    </p:bg>
    <p:spTree>
      <p:nvGrpSpPr>
        <p:cNvPr id="1" name=""/>
        <p:cNvGrpSpPr/>
        <p:nvPr/>
      </p:nvGrpSpPr>
      <p:grpSpPr>
        <a:xfrm>
          <a:off x="0" y="0"/>
          <a:ext cx="0" cy="0"/>
          <a:chOff x="0" y="0"/>
          <a:chExt cx="0" cy="0"/>
        </a:xfrm>
      </p:grpSpPr>
      <p:sp>
        <p:nvSpPr>
          <p:cNvPr id="2" name="Text 0"/>
          <p:cNvSpPr txBox="1"/>
          <p:nvPr/>
        </p:nvSpPr>
        <p:spPr>
          <a:xfrm>
            <a:off x="685800" y="1554480"/>
            <a:ext cx="6400800" cy="365760"/>
          </a:xfrm>
          <a:prstGeom prst="rect">
            <a:avLst/>
          </a:prstGeom>
          <a:noFill/>
          <a:ln/>
        </p:spPr>
        <p:txBody>
          <a:bodyPr wrap="square" lIns="0" tIns="0" rIns="0" bIns="0" rtlCol="0" anchor="t"/>
          <a:lstStyle/>
          <a:p>
            <a:pPr algn="l" indent="0" marL="0">
              <a:lnSpc>
                <a:spcPct val="125000"/>
              </a:lnSpc>
              <a:buNone/>
            </a:pPr>
            <a:r>
              <a:rPr lang="en-US" sz="1300" dirty="0">
                <a:solidFill>
                  <a:srgbClr val="AAB4BE"/>
                </a:solidFill>
                <a:latin typeface="Meiryo" pitchFamily="34" charset="0"/>
                <a:ea typeface="Meiryo" pitchFamily="34" charset="-122"/>
                <a:cs typeface="Meiryo" pitchFamily="34" charset="-120"/>
              </a:rPr>
              <a:t>VORN Challenge 2026 応募作品</a:t>
            </a:r>
            <a:endParaRPr lang="en-US" sz="1300" dirty="0"/>
          </a:p>
        </p:txBody>
      </p:sp>
      <p:sp>
        <p:nvSpPr>
          <p:cNvPr id="3" name="Text 1"/>
          <p:cNvSpPr txBox="1"/>
          <p:nvPr/>
        </p:nvSpPr>
        <p:spPr>
          <a:xfrm>
            <a:off x="685800" y="2011680"/>
            <a:ext cx="6949440" cy="1554480"/>
          </a:xfrm>
          <a:prstGeom prst="rect">
            <a:avLst/>
          </a:prstGeom>
          <a:noFill/>
          <a:ln/>
        </p:spPr>
        <p:txBody>
          <a:bodyPr wrap="square" lIns="0" tIns="0" rIns="0" bIns="0" rtlCol="0" anchor="t"/>
          <a:lstStyle/>
          <a:p>
            <a:pPr algn="l" indent="0" marL="0">
              <a:lnSpc>
                <a:spcPct val="120000"/>
              </a:lnSpc>
              <a:buNone/>
            </a:pPr>
            <a:r>
              <a:rPr lang="en-US" sz="3000" b="1" dirty="0">
                <a:solidFill>
                  <a:srgbClr val="FFFFFF"/>
                </a:solidFill>
                <a:latin typeface="Meiryo" pitchFamily="34" charset="0"/>
                <a:ea typeface="Meiryo" pitchFamily="34" charset="-122"/>
                <a:cs typeface="Meiryo" pitchFamily="34" charset="-120"/>
              </a:rPr>
              <a:t>自治体ごとに違う自然言語のルールを、</a:t>
            </a:r>
            <a:endParaRPr lang="en-US" sz="3000" dirty="0"/>
          </a:p>
          <a:p>
            <a:pPr algn="l" indent="0" marL="0">
              <a:lnSpc>
                <a:spcPct val="120000"/>
              </a:lnSpc>
              <a:buNone/>
            </a:pPr>
            <a:r>
              <a:rPr lang="en-US" sz="3000" b="1" dirty="0">
                <a:solidFill>
                  <a:srgbClr val="FFFFFF"/>
                </a:solidFill>
                <a:latin typeface="Meiryo" pitchFamily="34" charset="0"/>
                <a:ea typeface="Meiryo" pitchFamily="34" charset="-122"/>
                <a:cs typeface="Meiryo" pitchFamily="34" charset="-120"/>
              </a:rPr>
              <a:t>AIが個人の代わりに読み、追い続ける。</a:t>
            </a:r>
            <a:endParaRPr lang="en-US" sz="3000" dirty="0"/>
          </a:p>
        </p:txBody>
      </p:sp>
      <p:sp>
        <p:nvSpPr>
          <p:cNvPr id="4" name="Text 2"/>
          <p:cNvSpPr txBox="1"/>
          <p:nvPr/>
        </p:nvSpPr>
        <p:spPr>
          <a:xfrm>
            <a:off x="685800" y="3749040"/>
            <a:ext cx="6949440" cy="457200"/>
          </a:xfrm>
          <a:prstGeom prst="rect">
            <a:avLst/>
          </a:prstGeom>
          <a:noFill/>
          <a:ln/>
        </p:spPr>
        <p:txBody>
          <a:bodyPr wrap="square" lIns="0" tIns="0" rIns="0" bIns="0" rtlCol="0" anchor="t"/>
          <a:lstStyle/>
          <a:p>
            <a:pPr algn="l" indent="0" marL="0">
              <a:lnSpc>
                <a:spcPct val="125000"/>
              </a:lnSpc>
              <a:buNone/>
            </a:pPr>
            <a:r>
              <a:rPr lang="en-US" sz="1600" dirty="0">
                <a:solidFill>
                  <a:srgbClr val="FFFFFF"/>
                </a:solidFill>
                <a:latin typeface="Meiryo" pitchFamily="34" charset="0"/>
                <a:ea typeface="Meiryo" pitchFamily="34" charset="-122"/>
                <a:cs typeface="Meiryo" pitchFamily="34" charset="-120"/>
              </a:rPr>
              <a:t>【製品名】 ── 地域猫活動の申請・日程・報告を、担い手に代わって回す</a:t>
            </a:r>
            <a:endParaRPr lang="en-US" sz="1600" dirty="0"/>
          </a:p>
        </p:txBody>
      </p:sp>
      <p:sp>
        <p:nvSpPr>
          <p:cNvPr id="5" name="Text 3"/>
          <p:cNvSpPr txBox="1"/>
          <p:nvPr/>
        </p:nvSpPr>
        <p:spPr>
          <a:xfrm>
            <a:off x="685800" y="4297680"/>
            <a:ext cx="6400800" cy="365760"/>
          </a:xfrm>
          <a:prstGeom prst="rect">
            <a:avLst/>
          </a:prstGeom>
          <a:noFill/>
          <a:ln/>
        </p:spPr>
        <p:txBody>
          <a:bodyPr wrap="square" lIns="0" tIns="0" rIns="0" bIns="0" rtlCol="0" anchor="t"/>
          <a:lstStyle/>
          <a:p>
            <a:pPr algn="l" indent="0" marL="0">
              <a:lnSpc>
                <a:spcPct val="125000"/>
              </a:lnSpc>
              <a:buNone/>
            </a:pPr>
            <a:r>
              <a:rPr lang="en-US" sz="1200" dirty="0">
                <a:solidFill>
                  <a:srgbClr val="AAB4BE"/>
                </a:solidFill>
                <a:latin typeface="Meiryo" pitchFamily="34" charset="0"/>
                <a:ea typeface="Meiryo" pitchFamily="34" charset="-122"/>
                <a:cs typeface="Meiryo" pitchFamily="34" charset="-120"/>
              </a:rPr>
              <a:t>チーム【チーム名】</a:t>
            </a:r>
            <a:endParaRPr lang="en-US" sz="1200" dirty="0"/>
          </a:p>
        </p:txBody>
      </p:sp>
      <p:pic>
        <p:nvPicPr>
          <p:cNvPr id="6" name="Image 0" descr="/home/user/VORN/docs/deck/next.jpg">    </p:cNvPr>
          <p:cNvPicPr>
            <a:picLocks noChangeAspect="1"/>
          </p:cNvPicPr>
          <p:nvPr/>
        </p:nvPicPr>
        <p:blipFill>
          <a:blip r:embed="rId1"/>
          <a:stretch>
            <a:fillRect/>
          </a:stretch>
        </p:blipFill>
        <p:spPr>
          <a:xfrm>
            <a:off x="7863840" y="1280160"/>
            <a:ext cx="3749040" cy="914400"/>
          </a:xfrm>
          <a:prstGeom prst="rect">
            <a:avLst/>
          </a:prstGeom>
        </p:spPr>
      </p:pic>
      <p:sp>
        <p:nvSpPr>
          <p:cNvPr id="7" name="Shape 4"/>
          <p:cNvSpPr/>
          <p:nvPr/>
        </p:nvSpPr>
        <p:spPr>
          <a:xfrm>
            <a:off x="7863840" y="1280160"/>
            <a:ext cx="3749040" cy="1296211"/>
          </a:xfrm>
          <a:prstGeom prst="rect">
            <a:avLst/>
          </a:prstGeom>
          <a:ln w="9525">
            <a:solidFill>
              <a:srgbClr val="D5DBE1"/>
            </a:solidFill>
            <a:prstDash val="solid"/>
          </a:ln>
        </p:spPr>
      </p:sp>
      <p:sp>
        <p:nvSpPr>
          <p:cNvPr id="8" name="Text 5"/>
          <p:cNvSpPr txBox="1"/>
          <p:nvPr/>
        </p:nvSpPr>
        <p:spPr>
          <a:xfrm>
            <a:off x="7863840" y="2622091"/>
            <a:ext cx="3749040" cy="274320"/>
          </a:xfrm>
          <a:prstGeom prst="rect">
            <a:avLst/>
          </a:prstGeom>
          <a:noFill/>
          <a:ln/>
        </p:spPr>
        <p:txBody>
          <a:bodyPr wrap="square" lIns="0" tIns="0" rIns="0" bIns="0" rtlCol="0" anchor="t"/>
          <a:lstStyle/>
          <a:p>
            <a:pPr algn="l" indent="0" marL="0">
              <a:lnSpc>
                <a:spcPct val="120000"/>
              </a:lnSpc>
              <a:buNone/>
            </a:pPr>
            <a:r>
              <a:rPr lang="en-US" sz="950" dirty="0">
                <a:solidFill>
                  <a:srgbClr val="5B6570"/>
                </a:solidFill>
                <a:latin typeface="Meiryo" pitchFamily="34" charset="0"/>
                <a:ea typeface="Meiryo" pitchFamily="34" charset="-122"/>
                <a:cs typeface="Meiryo" pitchFamily="34" charset="-120"/>
              </a:rPr>
              <a:t>市民面：開くと「次にやること」が出る</a:t>
            </a:r>
            <a:endParaRPr lang="en-US" sz="950" dirty="0"/>
          </a:p>
        </p:txBody>
      </p:sp>
      <p:sp>
        <p:nvSpPr>
          <p:cNvPr id="9" name="Text 6"/>
          <p:cNvSpPr txBox="1"/>
          <p:nvPr/>
        </p:nvSpPr>
        <p:spPr>
          <a:xfrm>
            <a:off x="685800" y="6446520"/>
            <a:ext cx="10268712" cy="274320"/>
          </a:xfrm>
          <a:prstGeom prst="rect">
            <a:avLst/>
          </a:prstGeom>
          <a:noFill/>
          <a:ln/>
        </p:spPr>
        <p:txBody>
          <a:bodyPr wrap="square" lIns="0" tIns="0" rIns="0" bIns="0" rtlCol="0" anchor="ctr"/>
          <a:lstStyle/>
          <a:p>
            <a:pPr indent="0" marL="0">
              <a:buNone/>
            </a:pPr>
            <a:endParaRPr lang="en-US" sz="800" dirty="0"/>
          </a:p>
        </p:txBody>
      </p:sp>
      <p:sp>
        <p:nvSpPr>
          <p:cNvPr id="10" name="Text 7"/>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AAB4BE"/>
                </a:solidFill>
                <a:latin typeface="Meiryo" pitchFamily="34" charset="0"/>
                <a:ea typeface="Meiryo" pitchFamily="34" charset="-122"/>
                <a:cs typeface="Meiryo" pitchFamily="34" charset="-120"/>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914400"/>
          </a:xfrm>
          <a:prstGeom prst="rect">
            <a:avLst/>
          </a:prstGeom>
          <a:noFill/>
          <a:ln/>
        </p:spPr>
        <p:txBody>
          <a:bodyPr wrap="square" lIns="0" tIns="0" rIns="0" bIns="0" rtlCol="0" anchor="t"/>
          <a:lstStyle/>
          <a:p>
            <a:pPr indent="0" marL="0">
              <a:lnSpc>
                <a:spcPct val="115000"/>
              </a:lnSpc>
              <a:buNone/>
            </a:pPr>
            <a:r>
              <a:rPr lang="en-US" sz="2400" b="1" dirty="0">
                <a:solidFill>
                  <a:srgbClr val="1F2A37"/>
                </a:solidFill>
                <a:latin typeface="Meiryo" pitchFamily="34" charset="0"/>
                <a:ea typeface="Meiryo" pitchFamily="34" charset="-122"/>
                <a:cs typeface="Meiryo" pitchFamily="34" charset="-120"/>
              </a:rPr>
              <a:t>行政の制度は各層が合理的で、それを1件分に合成する役だけが、無報酬の個人に落ちている。</a:t>
            </a:r>
            <a:endParaRPr lang="en-US" sz="2400" dirty="0"/>
          </a:p>
        </p:txBody>
      </p:sp>
      <p:sp>
        <p:nvSpPr>
          <p:cNvPr id="3" name="Text 1"/>
          <p:cNvSpPr txBox="1"/>
          <p:nvPr/>
        </p:nvSpPr>
        <p:spPr>
          <a:xfrm>
            <a:off x="685800" y="1554480"/>
            <a:ext cx="6035040" cy="2377440"/>
          </a:xfrm>
          <a:prstGeom prst="rect">
            <a:avLst/>
          </a:prstGeom>
          <a:noFill/>
          <a:ln/>
        </p:spPr>
        <p:txBody>
          <a:bodyPr wrap="square" lIns="0" tIns="0" rIns="0" bIns="0" rtlCol="0" anchor="t"/>
          <a:lstStyle/>
          <a:p>
            <a:pPr marL="342900" indent="-342900">
              <a:lnSpc>
                <a:spcPct val="120000"/>
              </a:lnSpc>
              <a:spcAft>
                <a:spcPts val="800"/>
              </a:spcAft>
              <a:buSzPct val="100000"/>
              <a:buChar char="•"/>
            </a:pPr>
            <a:r>
              <a:rPr lang="en-US" sz="1400" dirty="0">
                <a:solidFill>
                  <a:srgbClr val="1F2A37"/>
                </a:solidFill>
                <a:latin typeface="Meiryo" pitchFamily="34" charset="0"/>
                <a:ea typeface="Meiryo" pitchFamily="34" charset="-122"/>
                <a:cs typeface="Meiryo" pitchFamily="34" charset="-120"/>
              </a:rPr>
              <a:t>制度は自治体・基金・病院がそれぞれ作る。どれも単体では合理的。</a:t>
            </a:r>
            <a:endParaRPr lang="en-US" sz="1400" dirty="0"/>
          </a:p>
          <a:p>
            <a:pPr marL="342900" indent="-342900">
              <a:lnSpc>
                <a:spcPct val="120000"/>
              </a:lnSpc>
              <a:spcAft>
                <a:spcPts val="800"/>
              </a:spcAft>
              <a:buSzPct val="100000"/>
              <a:buChar char="•"/>
            </a:pPr>
            <a:r>
              <a:rPr lang="en-US" sz="1400" dirty="0">
                <a:solidFill>
                  <a:srgbClr val="1F2A37"/>
                </a:solidFill>
                <a:latin typeface="Meiryo" pitchFamily="34" charset="0"/>
                <a:ea typeface="Meiryo" pitchFamily="34" charset="-122"/>
                <a:cs typeface="Meiryo" pitchFamily="34" charset="-120"/>
              </a:rPr>
              <a:t>しかし「この人・この場所・この自治体で、次に何をいつまでに」を組み立てて追う役は、どの層にもない。</a:t>
            </a:r>
            <a:endParaRPr lang="en-US" sz="1400" dirty="0"/>
          </a:p>
          <a:p>
            <a:pPr marL="342900" indent="-342900">
              <a:lnSpc>
                <a:spcPct val="120000"/>
              </a:lnSpc>
              <a:spcAft>
                <a:spcPts val="800"/>
              </a:spcAft>
              <a:buSzPct val="100000"/>
              <a:buChar char="•"/>
            </a:pPr>
            <a:r>
              <a:rPr lang="en-US" sz="1400" dirty="0">
                <a:solidFill>
                  <a:srgbClr val="1F2A37"/>
                </a:solidFill>
                <a:latin typeface="Meiryo" pitchFamily="34" charset="0"/>
                <a:ea typeface="Meiryo" pitchFamily="34" charset="-122"/>
                <a:cs typeface="Meiryo" pitchFamily="34" charset="-120"/>
              </a:rPr>
              <a:t>その役は現場の個人が無報酬で引き受け、個人が抜けると制度ごと止まる。</a:t>
            </a:r>
            <a:endParaRPr lang="en-US" sz="1400" dirty="0"/>
          </a:p>
          <a:p>
            <a:pPr marL="342900" indent="-342900">
              <a:lnSpc>
                <a:spcPct val="120000"/>
              </a:lnSpc>
              <a:spcAft>
                <a:spcPts val="800"/>
              </a:spcAft>
              <a:buSzPct val="100000"/>
              <a:buChar char="•"/>
            </a:pPr>
            <a:r>
              <a:rPr lang="en-US" sz="1400" dirty="0">
                <a:solidFill>
                  <a:srgbClr val="1F2A37"/>
                </a:solidFill>
                <a:latin typeface="Meiryo" pitchFamily="34" charset="0"/>
                <a:ea typeface="Meiryo" pitchFamily="34" charset="-122"/>
                <a:cs typeface="Meiryo" pitchFamily="34" charset="-120"/>
              </a:rPr>
              <a:t>人手不足の領域ほど、この構造が露出する。</a:t>
            </a:r>
            <a:endParaRPr lang="en-US" sz="1400" dirty="0"/>
          </a:p>
        </p:txBody>
      </p:sp>
      <p:sp>
        <p:nvSpPr>
          <p:cNvPr id="4" name="Shape 2"/>
          <p:cNvSpPr/>
          <p:nvPr/>
        </p:nvSpPr>
        <p:spPr>
          <a:xfrm>
            <a:off x="685800" y="4023360"/>
            <a:ext cx="6035040" cy="1143000"/>
          </a:xfrm>
          <a:prstGeom prst="roundRect">
            <a:avLst>
              <a:gd name="adj" fmla="val 6400"/>
            </a:avLst>
          </a:prstGeom>
          <a:solidFill>
            <a:srgbClr val="F1F4F7"/>
          </a:solidFill>
          <a:ln w="12700">
            <a:solidFill>
              <a:srgbClr val="F1F4F7"/>
            </a:solidFill>
            <a:prstDash val="solid"/>
          </a:ln>
        </p:spPr>
      </p:sp>
      <p:sp>
        <p:nvSpPr>
          <p:cNvPr id="5" name="Text 3"/>
          <p:cNvSpPr txBox="1"/>
          <p:nvPr/>
        </p:nvSpPr>
        <p:spPr>
          <a:xfrm>
            <a:off x="868680" y="4114800"/>
            <a:ext cx="5669280" cy="960120"/>
          </a:xfrm>
          <a:prstGeom prst="rect">
            <a:avLst/>
          </a:prstGeom>
          <a:noFill/>
          <a:ln/>
        </p:spPr>
        <p:txBody>
          <a:bodyPr wrap="square" lIns="0" tIns="0" rIns="0" bIns="0" rtlCol="0" anchor="t"/>
          <a:lstStyle/>
          <a:p>
            <a:pPr algn="l" indent="0" marL="0">
              <a:lnSpc>
                <a:spcPct val="125000"/>
              </a:lnSpc>
              <a:buNone/>
            </a:pPr>
            <a:r>
              <a:rPr lang="en-US" sz="1200" dirty="0">
                <a:solidFill>
                  <a:srgbClr val="1F2A37"/>
                </a:solidFill>
                <a:latin typeface="Meiryo" pitchFamily="34" charset="0"/>
                <a:ea typeface="Meiryo" pitchFamily="34" charset="-122"/>
                <a:cs typeface="Meiryo" pitchFamily="34" charset="-120"/>
              </a:rPr>
              <a:t>「本来市役所の環境課や愛護センターがやるべきことを、ボランティアが無償でやっている」</a:t>
            </a:r>
            <a:endParaRPr lang="en-US" sz="1200" dirty="0"/>
          </a:p>
          <a:p>
            <a:pPr algn="l" indent="0" marL="0">
              <a:lnSpc>
                <a:spcPct val="125000"/>
              </a:lnSpc>
              <a:buNone/>
            </a:pPr>
            <a:r>
              <a:rPr lang="en-US" sz="1200" dirty="0">
                <a:solidFill>
                  <a:srgbClr val="1F2A37"/>
                </a:solidFill>
                <a:latin typeface="Meiryo" pitchFamily="34" charset="0"/>
                <a:ea typeface="Meiryo" pitchFamily="34" charset="-122"/>
                <a:cs typeface="Meiryo" pitchFamily="34" charset="-120"/>
              </a:rPr>
              <a:t>福岡県 県民モニター調査・30代女性</a:t>
            </a:r>
            <a:endParaRPr lang="en-US" sz="1200" dirty="0"/>
          </a:p>
        </p:txBody>
      </p:sp>
      <p:sp>
        <p:nvSpPr>
          <p:cNvPr id="6" name="Shape 4"/>
          <p:cNvSpPr/>
          <p:nvPr/>
        </p:nvSpPr>
        <p:spPr>
          <a:xfrm>
            <a:off x="7315200" y="1645920"/>
            <a:ext cx="1371600" cy="777240"/>
          </a:xfrm>
          <a:prstGeom prst="roundRect">
            <a:avLst>
              <a:gd name="adj" fmla="val 7059"/>
            </a:avLst>
          </a:prstGeom>
          <a:solidFill>
            <a:srgbClr val="F1F4F7"/>
          </a:solidFill>
          <a:ln w="12700">
            <a:solidFill>
              <a:srgbClr val="C9D1D9"/>
            </a:solidFill>
            <a:prstDash val="solid"/>
          </a:ln>
        </p:spPr>
      </p:sp>
      <p:sp>
        <p:nvSpPr>
          <p:cNvPr id="7" name="Text 5"/>
          <p:cNvSpPr txBox="1"/>
          <p:nvPr/>
        </p:nvSpPr>
        <p:spPr>
          <a:xfrm>
            <a:off x="7315200" y="1645920"/>
            <a:ext cx="1371600" cy="777240"/>
          </a:xfrm>
          <a:prstGeom prst="rect">
            <a:avLst/>
          </a:prstGeom>
          <a:noFill/>
          <a:ln/>
        </p:spPr>
        <p:txBody>
          <a:bodyPr wrap="square" lIns="635" tIns="635" rIns="635" bIns="635" rtlCol="0" anchor="ctr"/>
          <a:lstStyle/>
          <a:p>
            <a:pPr algn="ctr" indent="0" marL="0">
              <a:buNone/>
            </a:pPr>
            <a:r>
              <a:rPr lang="en-US" sz="1200" b="1" dirty="0">
                <a:solidFill>
                  <a:srgbClr val="1F2A37"/>
                </a:solidFill>
                <a:latin typeface="Meiryo" pitchFamily="34" charset="0"/>
                <a:ea typeface="Meiryo" pitchFamily="34" charset="-122"/>
                <a:cs typeface="Meiryo" pitchFamily="34" charset="-120"/>
              </a:rPr>
              <a:t>自治体</a:t>
            </a:r>
            <a:endParaRPr lang="en-US" sz="1200" dirty="0"/>
          </a:p>
          <a:p>
            <a:pPr algn="ctr" indent="0" marL="0">
              <a:buNone/>
            </a:pPr>
            <a:r>
              <a:rPr lang="en-US" sz="900" dirty="0">
                <a:solidFill>
                  <a:srgbClr val="5B6570"/>
                </a:solidFill>
                <a:latin typeface="Meiryo" pitchFamily="34" charset="0"/>
                <a:ea typeface="Meiryo" pitchFamily="34" charset="-122"/>
                <a:cs typeface="Meiryo" pitchFamily="34" charset="-120"/>
              </a:rPr>
              <a:t>要綱・様式・期限</a:t>
            </a:r>
            <a:endParaRPr lang="en-US" sz="1200" dirty="0"/>
          </a:p>
        </p:txBody>
      </p:sp>
      <p:sp>
        <p:nvSpPr>
          <p:cNvPr id="8" name="Shape 6"/>
          <p:cNvSpPr/>
          <p:nvPr/>
        </p:nvSpPr>
        <p:spPr>
          <a:xfrm>
            <a:off x="8869680" y="1645920"/>
            <a:ext cx="1371600" cy="777240"/>
          </a:xfrm>
          <a:prstGeom prst="roundRect">
            <a:avLst>
              <a:gd name="adj" fmla="val 7059"/>
            </a:avLst>
          </a:prstGeom>
          <a:solidFill>
            <a:srgbClr val="F1F4F7"/>
          </a:solidFill>
          <a:ln w="12700">
            <a:solidFill>
              <a:srgbClr val="C9D1D9"/>
            </a:solidFill>
            <a:prstDash val="solid"/>
          </a:ln>
        </p:spPr>
      </p:sp>
      <p:sp>
        <p:nvSpPr>
          <p:cNvPr id="9" name="Text 7"/>
          <p:cNvSpPr txBox="1"/>
          <p:nvPr/>
        </p:nvSpPr>
        <p:spPr>
          <a:xfrm>
            <a:off x="8869680" y="1645920"/>
            <a:ext cx="1371600" cy="777240"/>
          </a:xfrm>
          <a:prstGeom prst="rect">
            <a:avLst/>
          </a:prstGeom>
          <a:noFill/>
          <a:ln/>
        </p:spPr>
        <p:txBody>
          <a:bodyPr wrap="square" lIns="635" tIns="635" rIns="635" bIns="635" rtlCol="0" anchor="ctr"/>
          <a:lstStyle/>
          <a:p>
            <a:pPr algn="ctr" indent="0" marL="0">
              <a:buNone/>
            </a:pPr>
            <a:r>
              <a:rPr lang="en-US" sz="1200" b="1" dirty="0">
                <a:solidFill>
                  <a:srgbClr val="1F2A37"/>
                </a:solidFill>
                <a:latin typeface="Meiryo" pitchFamily="34" charset="0"/>
                <a:ea typeface="Meiryo" pitchFamily="34" charset="-122"/>
                <a:cs typeface="Meiryo" pitchFamily="34" charset="-120"/>
              </a:rPr>
              <a:t>基金</a:t>
            </a:r>
            <a:endParaRPr lang="en-US" sz="1200" dirty="0"/>
          </a:p>
          <a:p>
            <a:pPr algn="ctr" indent="0" marL="0">
              <a:buNone/>
            </a:pPr>
            <a:r>
              <a:rPr lang="en-US" sz="900" dirty="0">
                <a:solidFill>
                  <a:srgbClr val="5B6570"/>
                </a:solidFill>
                <a:latin typeface="Meiryo" pitchFamily="34" charset="0"/>
                <a:ea typeface="Meiryo" pitchFamily="34" charset="-122"/>
                <a:cs typeface="Meiryo" pitchFamily="34" charset="-120"/>
              </a:rPr>
              <a:t>受付日・チケット・報告</a:t>
            </a:r>
            <a:endParaRPr lang="en-US" sz="1200" dirty="0"/>
          </a:p>
        </p:txBody>
      </p:sp>
      <p:sp>
        <p:nvSpPr>
          <p:cNvPr id="10" name="Shape 8"/>
          <p:cNvSpPr/>
          <p:nvPr/>
        </p:nvSpPr>
        <p:spPr>
          <a:xfrm>
            <a:off x="10424160" y="1645920"/>
            <a:ext cx="1371600" cy="777240"/>
          </a:xfrm>
          <a:prstGeom prst="roundRect">
            <a:avLst>
              <a:gd name="adj" fmla="val 7059"/>
            </a:avLst>
          </a:prstGeom>
          <a:solidFill>
            <a:srgbClr val="F1F4F7"/>
          </a:solidFill>
          <a:ln w="12700">
            <a:solidFill>
              <a:srgbClr val="C9D1D9"/>
            </a:solidFill>
            <a:prstDash val="solid"/>
          </a:ln>
        </p:spPr>
      </p:sp>
      <p:sp>
        <p:nvSpPr>
          <p:cNvPr id="11" name="Text 9"/>
          <p:cNvSpPr txBox="1"/>
          <p:nvPr/>
        </p:nvSpPr>
        <p:spPr>
          <a:xfrm>
            <a:off x="10424160" y="1645920"/>
            <a:ext cx="1371600" cy="777240"/>
          </a:xfrm>
          <a:prstGeom prst="rect">
            <a:avLst/>
          </a:prstGeom>
          <a:noFill/>
          <a:ln/>
        </p:spPr>
        <p:txBody>
          <a:bodyPr wrap="square" lIns="635" tIns="635" rIns="635" bIns="635" rtlCol="0" anchor="ctr"/>
          <a:lstStyle/>
          <a:p>
            <a:pPr algn="ctr" indent="0" marL="0">
              <a:buNone/>
            </a:pPr>
            <a:r>
              <a:rPr lang="en-US" sz="1200" b="1" dirty="0">
                <a:solidFill>
                  <a:srgbClr val="1F2A37"/>
                </a:solidFill>
                <a:latin typeface="Meiryo" pitchFamily="34" charset="0"/>
                <a:ea typeface="Meiryo" pitchFamily="34" charset="-122"/>
                <a:cs typeface="Meiryo" pitchFamily="34" charset="-120"/>
              </a:rPr>
              <a:t>病院</a:t>
            </a:r>
            <a:endParaRPr lang="en-US" sz="1200" dirty="0"/>
          </a:p>
          <a:p>
            <a:pPr algn="ctr" indent="0" marL="0">
              <a:buNone/>
            </a:pPr>
            <a:r>
              <a:rPr lang="en-US" sz="900" dirty="0">
                <a:solidFill>
                  <a:srgbClr val="5B6570"/>
                </a:solidFill>
                <a:latin typeface="Meiryo" pitchFamily="34" charset="0"/>
                <a:ea typeface="Meiryo" pitchFamily="34" charset="-122"/>
                <a:cs typeface="Meiryo" pitchFamily="34" charset="-120"/>
              </a:rPr>
              <a:t>予約枠・持込日</a:t>
            </a:r>
            <a:endParaRPr lang="en-US" sz="1200" dirty="0"/>
          </a:p>
        </p:txBody>
      </p:sp>
      <p:sp>
        <p:nvSpPr>
          <p:cNvPr id="12" name="Shape 10"/>
          <p:cNvSpPr/>
          <p:nvPr/>
        </p:nvSpPr>
        <p:spPr>
          <a:xfrm>
            <a:off x="8001000" y="2468880"/>
            <a:ext cx="1325880" cy="1920240"/>
          </a:xfrm>
          <a:prstGeom prst="line">
            <a:avLst/>
          </a:prstGeom>
          <a:noFill/>
          <a:ln w="19050">
            <a:solidFill>
              <a:srgbClr val="1F2A37"/>
            </a:solidFill>
            <a:prstDash val="solid"/>
            <a:tailEnd type="triangle"/>
          </a:ln>
        </p:spPr>
      </p:sp>
      <p:sp>
        <p:nvSpPr>
          <p:cNvPr id="13" name="Shape 11"/>
          <p:cNvSpPr/>
          <p:nvPr/>
        </p:nvSpPr>
        <p:spPr>
          <a:xfrm>
            <a:off x="9555480" y="2468880"/>
            <a:ext cx="914" cy="1920240"/>
          </a:xfrm>
          <a:prstGeom prst="line">
            <a:avLst/>
          </a:prstGeom>
          <a:noFill/>
          <a:ln w="19050">
            <a:solidFill>
              <a:srgbClr val="1F2A37"/>
            </a:solidFill>
            <a:prstDash val="solid"/>
            <a:tailEnd type="triangle"/>
          </a:ln>
        </p:spPr>
      </p:sp>
      <p:sp>
        <p:nvSpPr>
          <p:cNvPr id="14" name="Shape 12"/>
          <p:cNvSpPr/>
          <p:nvPr/>
        </p:nvSpPr>
        <p:spPr>
          <a:xfrm flipH="1">
            <a:off x="9784080" y="2468880"/>
            <a:ext cx="1325880" cy="1920240"/>
          </a:xfrm>
          <a:prstGeom prst="line">
            <a:avLst/>
          </a:prstGeom>
          <a:noFill/>
          <a:ln w="19050">
            <a:solidFill>
              <a:srgbClr val="1F2A37"/>
            </a:solidFill>
            <a:prstDash val="solid"/>
            <a:tailEnd type="triangle"/>
          </a:ln>
        </p:spPr>
      </p:sp>
      <p:sp>
        <p:nvSpPr>
          <p:cNvPr id="15" name="Shape 13"/>
          <p:cNvSpPr/>
          <p:nvPr/>
        </p:nvSpPr>
        <p:spPr>
          <a:xfrm>
            <a:off x="8915400" y="4389120"/>
            <a:ext cx="1280160" cy="1280160"/>
          </a:xfrm>
          <a:prstGeom prst="ellipse">
            <a:avLst/>
          </a:prstGeom>
          <a:solidFill>
            <a:srgbClr val="B5442D"/>
          </a:solidFill>
          <a:ln w="12700">
            <a:solidFill>
              <a:srgbClr val="B5442D"/>
            </a:solidFill>
            <a:prstDash val="solid"/>
          </a:ln>
        </p:spPr>
      </p:sp>
      <p:sp>
        <p:nvSpPr>
          <p:cNvPr id="16" name="Text 14"/>
          <p:cNvSpPr txBox="1"/>
          <p:nvPr/>
        </p:nvSpPr>
        <p:spPr>
          <a:xfrm>
            <a:off x="8915400" y="4389120"/>
            <a:ext cx="1280160" cy="1280160"/>
          </a:xfrm>
          <a:prstGeom prst="rect">
            <a:avLst/>
          </a:prstGeom>
          <a:noFill/>
          <a:ln/>
        </p:spPr>
        <p:txBody>
          <a:bodyPr wrap="square" lIns="0" tIns="0" rIns="0" bIns="0" rtlCol="0" anchor="ctr"/>
          <a:lstStyle/>
          <a:p>
            <a:pPr algn="ctr" indent="0" marL="0">
              <a:lnSpc>
                <a:spcPct val="125000"/>
              </a:lnSpc>
              <a:buNone/>
            </a:pPr>
            <a:r>
              <a:rPr lang="en-US" sz="1600" dirty="0">
                <a:solidFill>
                  <a:srgbClr val="FFFFFF"/>
                </a:solidFill>
                <a:latin typeface="Meiryo" pitchFamily="34" charset="0"/>
                <a:ea typeface="Meiryo" pitchFamily="34" charset="-122"/>
                <a:cs typeface="Meiryo" pitchFamily="34" charset="-120"/>
              </a:rPr>
              <a:t>個人</a:t>
            </a:r>
            <a:endParaRPr lang="en-US" sz="1600" dirty="0"/>
          </a:p>
        </p:txBody>
      </p:sp>
      <p:sp>
        <p:nvSpPr>
          <p:cNvPr id="17" name="Text 15"/>
          <p:cNvSpPr txBox="1"/>
          <p:nvPr/>
        </p:nvSpPr>
        <p:spPr>
          <a:xfrm>
            <a:off x="7863840" y="5760720"/>
            <a:ext cx="3383280" cy="320040"/>
          </a:xfrm>
          <a:prstGeom prst="rect">
            <a:avLst/>
          </a:prstGeom>
          <a:noFill/>
          <a:ln/>
        </p:spPr>
        <p:txBody>
          <a:bodyPr wrap="square" lIns="0" tIns="0" rIns="0" bIns="0" rtlCol="0" anchor="t"/>
          <a:lstStyle/>
          <a:p>
            <a:pPr algn="ctr" indent="0" marL="0">
              <a:lnSpc>
                <a:spcPct val="125000"/>
              </a:lnSpc>
              <a:buNone/>
            </a:pPr>
            <a:r>
              <a:rPr lang="en-US" sz="1100" dirty="0">
                <a:solidFill>
                  <a:srgbClr val="5B6570"/>
                </a:solidFill>
                <a:latin typeface="Meiryo" pitchFamily="34" charset="0"/>
                <a:ea typeface="Meiryo" pitchFamily="34" charset="-122"/>
                <a:cs typeface="Meiryo" pitchFamily="34" charset="-120"/>
              </a:rPr>
              <a:t>無報酬・1人・抜けると止まる</a:t>
            </a:r>
            <a:endParaRPr lang="en-US" sz="1100" dirty="0"/>
          </a:p>
        </p:txBody>
      </p:sp>
      <p:sp>
        <p:nvSpPr>
          <p:cNvPr id="18" name="Text 16"/>
          <p:cNvSpPr txBox="1"/>
          <p:nvPr/>
        </p:nvSpPr>
        <p:spPr>
          <a:xfrm>
            <a:off x="685800" y="6446520"/>
            <a:ext cx="10268712" cy="274320"/>
          </a:xfrm>
          <a:prstGeom prst="rect">
            <a:avLst/>
          </a:prstGeom>
          <a:noFill/>
          <a:ln/>
        </p:spPr>
        <p:txBody>
          <a:bodyPr wrap="square" lIns="0" tIns="0" rIns="0" bIns="0" rtlCol="0" anchor="ctr"/>
          <a:lstStyle/>
          <a:p>
            <a:pPr indent="0" marL="0">
              <a:buNone/>
            </a:pPr>
            <a:r>
              <a:rPr lang="en-US" sz="800" dirty="0">
                <a:solidFill>
                  <a:srgbClr val="7A8590"/>
                </a:solidFill>
                <a:latin typeface="Meiryo" pitchFamily="34" charset="0"/>
                <a:ea typeface="Meiryo" pitchFamily="34" charset="-122"/>
                <a:cs typeface="Meiryo" pitchFamily="34" charset="-120"/>
              </a:rPr>
              <a:t>出典：福岡県「ペットや飼い主のいない猫の過剰繁殖等の対策について」県民モニター調査（N=349、2022年実施と推定）</a:t>
            </a:r>
            <a:endParaRPr lang="en-US" sz="800" dirty="0"/>
          </a:p>
        </p:txBody>
      </p:sp>
      <p:sp>
        <p:nvSpPr>
          <p:cNvPr id="19" name="Text 17"/>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914400"/>
          </a:xfrm>
          <a:prstGeom prst="rect">
            <a:avLst/>
          </a:prstGeom>
          <a:noFill/>
          <a:ln/>
        </p:spPr>
        <p:txBody>
          <a:bodyPr wrap="square" lIns="0" tIns="0" rIns="0" bIns="0" rtlCol="0" anchor="t"/>
          <a:lstStyle/>
          <a:p>
            <a:pPr indent="0" marL="0">
              <a:lnSpc>
                <a:spcPct val="115000"/>
              </a:lnSpc>
              <a:buNone/>
            </a:pPr>
            <a:r>
              <a:rPr lang="en-US" sz="2400" b="1" dirty="0">
                <a:solidFill>
                  <a:srgbClr val="1F2A37"/>
                </a:solidFill>
                <a:latin typeface="Meiryo" pitchFamily="34" charset="0"/>
                <a:ea typeface="Meiryo" pitchFamily="34" charset="-122"/>
                <a:cs typeface="Meiryo" pitchFamily="34" charset="-120"/>
              </a:rPr>
              <a:t>この構造が一番むき出しなのが地域猫活動。効果は実証済みで、担い手は少なく、高齢で、後継がいない。</a:t>
            </a:r>
            <a:endParaRPr lang="en-US" sz="2400" dirty="0"/>
          </a:p>
        </p:txBody>
      </p:sp>
      <p:sp>
        <p:nvSpPr>
          <p:cNvPr id="3" name="Text 1"/>
          <p:cNvSpPr txBox="1"/>
          <p:nvPr/>
        </p:nvSpPr>
        <p:spPr>
          <a:xfrm>
            <a:off x="685800" y="1554480"/>
            <a:ext cx="5669280" cy="2286000"/>
          </a:xfrm>
          <a:prstGeom prst="rect">
            <a:avLst/>
          </a:prstGeom>
          <a:noFill/>
          <a:ln/>
        </p:spPr>
        <p:txBody>
          <a:bodyPr wrap="square" lIns="0" tIns="0" rIns="0" bIns="0" rtlCol="0" anchor="t"/>
          <a:lstStyle/>
          <a:p>
            <a:pPr marL="342900" indent="-342900">
              <a:lnSpc>
                <a:spcPct val="120000"/>
              </a:lnSpc>
              <a:spcAft>
                <a:spcPts val="800"/>
              </a:spcAft>
              <a:buSzPct val="100000"/>
              <a:buChar char="•"/>
            </a:pPr>
            <a:r>
              <a:rPr lang="en-US" sz="1400" dirty="0">
                <a:solidFill>
                  <a:srgbClr val="1F2A37"/>
                </a:solidFill>
                <a:latin typeface="Meiryo" pitchFamily="34" charset="0"/>
                <a:ea typeface="Meiryo" pitchFamily="34" charset="-122"/>
                <a:cs typeface="Meiryo" pitchFamily="34" charset="-120"/>
              </a:rPr>
              <a:t>猫は法令上の捕獲根拠がなく、行政は収容しない。行政が事実上使える手段は地域猫活動（不妊手術と地域管理）だけ。</a:t>
            </a:r>
            <a:endParaRPr lang="en-US" sz="1400" dirty="0"/>
          </a:p>
          <a:p>
            <a:pPr marL="342900" indent="-342900">
              <a:lnSpc>
                <a:spcPct val="120000"/>
              </a:lnSpc>
              <a:spcAft>
                <a:spcPts val="800"/>
              </a:spcAft>
              <a:buSzPct val="100000"/>
              <a:buChar char="•"/>
            </a:pPr>
            <a:r>
              <a:rPr lang="en-US" sz="1400" dirty="0">
                <a:solidFill>
                  <a:srgbClr val="1F2A37"/>
                </a:solidFill>
                <a:latin typeface="Meiryo" pitchFamily="34" charset="0"/>
                <a:ea typeface="Meiryo" pitchFamily="34" charset="-122"/>
                <a:cs typeface="Meiryo" pitchFamily="34" charset="-120"/>
              </a:rPr>
              <a:t>効果は実証済み。京都市では活動地域の拡大とともに、センター収容の所有者不明猫が44%減、路上死亡が28%減。</a:t>
            </a:r>
            <a:endParaRPr lang="en-US" sz="1400" dirty="0"/>
          </a:p>
          <a:p>
            <a:pPr marL="342900" indent="-342900">
              <a:lnSpc>
                <a:spcPct val="120000"/>
              </a:lnSpc>
              <a:spcAft>
                <a:spcPts val="800"/>
              </a:spcAft>
              <a:buSzPct val="100000"/>
              <a:buChar char="•"/>
            </a:pPr>
            <a:r>
              <a:rPr lang="en-US" sz="1400" dirty="0">
                <a:solidFill>
                  <a:srgbClr val="1F2A37"/>
                </a:solidFill>
                <a:latin typeface="Meiryo" pitchFamily="34" charset="0"/>
                <a:ea typeface="Meiryo" pitchFamily="34" charset="-122"/>
                <a:cs typeface="Meiryo" pitchFamily="34" charset="-120"/>
              </a:rPr>
              <a:t>実行は無償の住民に全面依存。市が出すのは手術・保護器・助言まで。</a:t>
            </a:r>
            <a:endParaRPr lang="en-US" sz="1400" dirty="0"/>
          </a:p>
        </p:txBody>
      </p:sp>
      <p:sp>
        <p:nvSpPr>
          <p:cNvPr id="4" name="Shape 2"/>
          <p:cNvSpPr/>
          <p:nvPr/>
        </p:nvSpPr>
        <p:spPr>
          <a:xfrm>
            <a:off x="685800" y="3977640"/>
            <a:ext cx="5669280" cy="1417320"/>
          </a:xfrm>
          <a:prstGeom prst="roundRect">
            <a:avLst>
              <a:gd name="adj" fmla="val 5161"/>
            </a:avLst>
          </a:prstGeom>
          <a:solidFill>
            <a:srgbClr val="F1F4F7"/>
          </a:solidFill>
          <a:ln w="12700">
            <a:solidFill>
              <a:srgbClr val="F1F4F7"/>
            </a:solidFill>
            <a:prstDash val="solid"/>
          </a:ln>
        </p:spPr>
      </p:sp>
      <p:sp>
        <p:nvSpPr>
          <p:cNvPr id="5" name="Text 3"/>
          <p:cNvSpPr txBox="1"/>
          <p:nvPr/>
        </p:nvSpPr>
        <p:spPr>
          <a:xfrm>
            <a:off x="868680" y="4069080"/>
            <a:ext cx="5303520" cy="1234440"/>
          </a:xfrm>
          <a:prstGeom prst="rect">
            <a:avLst/>
          </a:prstGeom>
          <a:noFill/>
          <a:ln/>
        </p:spPr>
        <p:txBody>
          <a:bodyPr wrap="square" lIns="0" tIns="0" rIns="0" bIns="0" rtlCol="0" anchor="t"/>
          <a:lstStyle/>
          <a:p>
            <a:pPr algn="l" indent="0" marL="0">
              <a:lnSpc>
                <a:spcPct val="125000"/>
              </a:lnSpc>
              <a:buNone/>
            </a:pPr>
            <a:r>
              <a:rPr lang="en-US" sz="1150" dirty="0">
                <a:solidFill>
                  <a:srgbClr val="1F2A37"/>
                </a:solidFill>
                <a:latin typeface="Meiryo" pitchFamily="34" charset="0"/>
                <a:ea typeface="Meiryo" pitchFamily="34" charset="-122"/>
                <a:cs typeface="Meiryo" pitchFamily="34" charset="-120"/>
              </a:rPr>
              <a:t>「世話する人がいなくて対策が進まなかった。他に出てこなければいずれ途切れる」（70代男性）</a:t>
            </a:r>
            <a:endParaRPr lang="en-US" sz="1150" dirty="0"/>
          </a:p>
          <a:p>
            <a:pPr algn="l" indent="0" marL="0">
              <a:lnSpc>
                <a:spcPct val="125000"/>
              </a:lnSpc>
              <a:buNone/>
            </a:pPr>
            <a:r>
              <a:rPr lang="en-US" sz="1150" dirty="0">
                <a:solidFill>
                  <a:srgbClr val="1F2A37"/>
                </a:solidFill>
                <a:latin typeface="Meiryo" pitchFamily="34" charset="0"/>
                <a:ea typeface="Meiryo" pitchFamily="34" charset="-122"/>
                <a:cs typeface="Meiryo" pitchFamily="34" charset="-120"/>
              </a:rPr>
              <a:t>「高齢者が多く、その方がいなくなったら引き継ぐ人がいない」（50代女性）</a:t>
            </a:r>
            <a:endParaRPr lang="en-US" sz="1150" dirty="0"/>
          </a:p>
          <a:p>
            <a:pPr algn="l" indent="0" marL="0">
              <a:lnSpc>
                <a:spcPct val="125000"/>
              </a:lnSpc>
              <a:buNone/>
            </a:pPr>
            <a:r>
              <a:rPr lang="en-US" sz="1150" dirty="0">
                <a:solidFill>
                  <a:srgbClr val="1F2A37"/>
                </a:solidFill>
                <a:latin typeface="Meiryo" pitchFamily="34" charset="0"/>
                <a:ea typeface="Meiryo" pitchFamily="34" charset="-122"/>
                <a:cs typeface="Meiryo" pitchFamily="34" charset="-120"/>
              </a:rPr>
              <a:t>福岡県 県民モニター調査</a:t>
            </a:r>
            <a:endParaRPr lang="en-US" sz="1150" dirty="0"/>
          </a:p>
        </p:txBody>
      </p:sp>
      <p:sp>
        <p:nvSpPr>
          <p:cNvPr id="6" name="Shape 4"/>
          <p:cNvSpPr/>
          <p:nvPr/>
        </p:nvSpPr>
        <p:spPr>
          <a:xfrm>
            <a:off x="6766560" y="1554480"/>
            <a:ext cx="2286000" cy="1417320"/>
          </a:xfrm>
          <a:prstGeom prst="roundRect">
            <a:avLst>
              <a:gd name="adj" fmla="val 5161"/>
            </a:avLst>
          </a:prstGeom>
          <a:solidFill>
            <a:srgbClr val="F1F4F7"/>
          </a:solidFill>
          <a:ln w="12700">
            <a:solidFill>
              <a:srgbClr val="F1F4F7"/>
            </a:solidFill>
            <a:prstDash val="solid"/>
          </a:ln>
        </p:spPr>
      </p:sp>
      <p:sp>
        <p:nvSpPr>
          <p:cNvPr id="7" name="Text 5"/>
          <p:cNvSpPr txBox="1"/>
          <p:nvPr/>
        </p:nvSpPr>
        <p:spPr>
          <a:xfrm>
            <a:off x="6903720" y="1691640"/>
            <a:ext cx="2011680" cy="731520"/>
          </a:xfrm>
          <a:prstGeom prst="rect">
            <a:avLst/>
          </a:prstGeom>
          <a:noFill/>
          <a:ln/>
        </p:spPr>
        <p:txBody>
          <a:bodyPr wrap="square" lIns="0" tIns="0" rIns="0" bIns="0" rtlCol="0" anchor="ctr"/>
          <a:lstStyle/>
          <a:p>
            <a:pPr algn="l" indent="0" marL="0">
              <a:lnSpc>
                <a:spcPct val="125000"/>
              </a:lnSpc>
              <a:buNone/>
            </a:pPr>
            <a:r>
              <a:rPr lang="en-US" sz="2200" b="1" dirty="0">
                <a:solidFill>
                  <a:srgbClr val="1F2A37"/>
                </a:solidFill>
                <a:latin typeface="Meiryo" pitchFamily="34" charset="0"/>
                <a:ea typeface="Meiryo" pitchFamily="34" charset="-122"/>
                <a:cs typeface="Meiryo" pitchFamily="34" charset="-120"/>
              </a:rPr>
              <a:t>94 → 1,612</a:t>
            </a:r>
            <a:endParaRPr lang="en-US" sz="2200" dirty="0"/>
          </a:p>
        </p:txBody>
      </p:sp>
      <p:sp>
        <p:nvSpPr>
          <p:cNvPr id="8" name="Text 6"/>
          <p:cNvSpPr txBox="1"/>
          <p:nvPr/>
        </p:nvSpPr>
        <p:spPr>
          <a:xfrm>
            <a:off x="6903720" y="2468880"/>
            <a:ext cx="2011680" cy="411480"/>
          </a:xfrm>
          <a:prstGeom prst="rect">
            <a:avLst/>
          </a:prstGeom>
          <a:noFill/>
          <a:ln/>
        </p:spPr>
        <p:txBody>
          <a:bodyPr wrap="square" lIns="0" tIns="0" rIns="0" bIns="0" rtlCol="0" anchor="t"/>
          <a:lstStyle/>
          <a:p>
            <a:pPr algn="l" indent="0" marL="0">
              <a:lnSpc>
                <a:spcPct val="125000"/>
              </a:lnSpc>
              <a:buNone/>
            </a:pPr>
            <a:r>
              <a:rPr lang="en-US" sz="950" dirty="0">
                <a:solidFill>
                  <a:srgbClr val="5B6570"/>
                </a:solidFill>
                <a:latin typeface="Meiryo" pitchFamily="34" charset="0"/>
                <a:ea typeface="Meiryo" pitchFamily="34" charset="-122"/>
                <a:cs typeface="Meiryo" pitchFamily="34" charset="-120"/>
              </a:rPr>
              <a:t>年間の手術頭数（H22 → R1）</a:t>
            </a:r>
            <a:endParaRPr lang="en-US" sz="950" dirty="0"/>
          </a:p>
        </p:txBody>
      </p:sp>
      <p:sp>
        <p:nvSpPr>
          <p:cNvPr id="9" name="Shape 7"/>
          <p:cNvSpPr/>
          <p:nvPr/>
        </p:nvSpPr>
        <p:spPr>
          <a:xfrm>
            <a:off x="9189720" y="1554480"/>
            <a:ext cx="2286000" cy="1417320"/>
          </a:xfrm>
          <a:prstGeom prst="roundRect">
            <a:avLst>
              <a:gd name="adj" fmla="val 5161"/>
            </a:avLst>
          </a:prstGeom>
          <a:solidFill>
            <a:srgbClr val="F1F4F7"/>
          </a:solidFill>
          <a:ln w="12700">
            <a:solidFill>
              <a:srgbClr val="F1F4F7"/>
            </a:solidFill>
            <a:prstDash val="solid"/>
          </a:ln>
        </p:spPr>
      </p:sp>
      <p:sp>
        <p:nvSpPr>
          <p:cNvPr id="10" name="Text 8"/>
          <p:cNvSpPr txBox="1"/>
          <p:nvPr/>
        </p:nvSpPr>
        <p:spPr>
          <a:xfrm>
            <a:off x="9326880" y="1691640"/>
            <a:ext cx="2011680" cy="731520"/>
          </a:xfrm>
          <a:prstGeom prst="rect">
            <a:avLst/>
          </a:prstGeom>
          <a:noFill/>
          <a:ln/>
        </p:spPr>
        <p:txBody>
          <a:bodyPr wrap="square" lIns="0" tIns="0" rIns="0" bIns="0" rtlCol="0" anchor="ctr"/>
          <a:lstStyle/>
          <a:p>
            <a:pPr algn="l" indent="0" marL="0">
              <a:lnSpc>
                <a:spcPct val="125000"/>
              </a:lnSpc>
              <a:buNone/>
            </a:pPr>
            <a:r>
              <a:rPr lang="en-US" sz="2200" b="1" dirty="0">
                <a:solidFill>
                  <a:srgbClr val="1F2A37"/>
                </a:solidFill>
                <a:latin typeface="Meiryo" pitchFamily="34" charset="0"/>
                <a:ea typeface="Meiryo" pitchFamily="34" charset="-122"/>
                <a:cs typeface="Meiryo" pitchFamily="34" charset="-120"/>
              </a:rPr>
              <a:t>5,169 → 3,715</a:t>
            </a:r>
            <a:endParaRPr lang="en-US" sz="2200" dirty="0"/>
          </a:p>
        </p:txBody>
      </p:sp>
      <p:sp>
        <p:nvSpPr>
          <p:cNvPr id="11" name="Text 9"/>
          <p:cNvSpPr txBox="1"/>
          <p:nvPr/>
        </p:nvSpPr>
        <p:spPr>
          <a:xfrm>
            <a:off x="9326880" y="2468880"/>
            <a:ext cx="2011680" cy="411480"/>
          </a:xfrm>
          <a:prstGeom prst="rect">
            <a:avLst/>
          </a:prstGeom>
          <a:noFill/>
          <a:ln/>
        </p:spPr>
        <p:txBody>
          <a:bodyPr wrap="square" lIns="0" tIns="0" rIns="0" bIns="0" rtlCol="0" anchor="t"/>
          <a:lstStyle/>
          <a:p>
            <a:pPr algn="l" indent="0" marL="0">
              <a:lnSpc>
                <a:spcPct val="125000"/>
              </a:lnSpc>
              <a:buNone/>
            </a:pPr>
            <a:r>
              <a:rPr lang="en-US" sz="950" dirty="0">
                <a:solidFill>
                  <a:srgbClr val="5B6570"/>
                </a:solidFill>
                <a:latin typeface="Meiryo" pitchFamily="34" charset="0"/>
                <a:ea typeface="Meiryo" pitchFamily="34" charset="-122"/>
                <a:cs typeface="Meiryo" pitchFamily="34" charset="-120"/>
              </a:rPr>
              <a:t>路上死亡の猫（H26 → R1）</a:t>
            </a:r>
            <a:endParaRPr lang="en-US" sz="950" dirty="0"/>
          </a:p>
        </p:txBody>
      </p:sp>
      <p:sp>
        <p:nvSpPr>
          <p:cNvPr id="12" name="Shape 10"/>
          <p:cNvSpPr/>
          <p:nvPr/>
        </p:nvSpPr>
        <p:spPr>
          <a:xfrm>
            <a:off x="6766560" y="3108960"/>
            <a:ext cx="2286000" cy="1417320"/>
          </a:xfrm>
          <a:prstGeom prst="roundRect">
            <a:avLst>
              <a:gd name="adj" fmla="val 5161"/>
            </a:avLst>
          </a:prstGeom>
          <a:solidFill>
            <a:srgbClr val="F1F4F7"/>
          </a:solidFill>
          <a:ln w="12700">
            <a:solidFill>
              <a:srgbClr val="F1F4F7"/>
            </a:solidFill>
            <a:prstDash val="solid"/>
          </a:ln>
        </p:spPr>
      </p:sp>
      <p:sp>
        <p:nvSpPr>
          <p:cNvPr id="13" name="Text 11"/>
          <p:cNvSpPr txBox="1"/>
          <p:nvPr/>
        </p:nvSpPr>
        <p:spPr>
          <a:xfrm>
            <a:off x="6903720" y="3246120"/>
            <a:ext cx="2011680" cy="731520"/>
          </a:xfrm>
          <a:prstGeom prst="rect">
            <a:avLst/>
          </a:prstGeom>
          <a:noFill/>
          <a:ln/>
        </p:spPr>
        <p:txBody>
          <a:bodyPr wrap="square" lIns="0" tIns="0" rIns="0" bIns="0" rtlCol="0" anchor="ctr"/>
          <a:lstStyle/>
          <a:p>
            <a:pPr algn="l" indent="0" marL="0">
              <a:lnSpc>
                <a:spcPct val="125000"/>
              </a:lnSpc>
              <a:buNone/>
            </a:pPr>
            <a:r>
              <a:rPr lang="en-US" sz="2200" b="1" dirty="0">
                <a:solidFill>
                  <a:srgbClr val="1F2A37"/>
                </a:solidFill>
                <a:latin typeface="Meiryo" pitchFamily="34" charset="0"/>
                <a:ea typeface="Meiryo" pitchFamily="34" charset="-122"/>
                <a:cs typeface="Meiryo" pitchFamily="34" charset="-120"/>
              </a:rPr>
              <a:t>1,470 → 685</a:t>
            </a:r>
            <a:endParaRPr lang="en-US" sz="2200" dirty="0"/>
          </a:p>
        </p:txBody>
      </p:sp>
      <p:sp>
        <p:nvSpPr>
          <p:cNvPr id="14" name="Text 12"/>
          <p:cNvSpPr txBox="1"/>
          <p:nvPr/>
        </p:nvSpPr>
        <p:spPr>
          <a:xfrm>
            <a:off x="6903720" y="4023360"/>
            <a:ext cx="2011680" cy="411480"/>
          </a:xfrm>
          <a:prstGeom prst="rect">
            <a:avLst/>
          </a:prstGeom>
          <a:noFill/>
          <a:ln/>
        </p:spPr>
        <p:txBody>
          <a:bodyPr wrap="square" lIns="0" tIns="0" rIns="0" bIns="0" rtlCol="0" anchor="t"/>
          <a:lstStyle/>
          <a:p>
            <a:pPr algn="l" indent="0" marL="0">
              <a:lnSpc>
                <a:spcPct val="125000"/>
              </a:lnSpc>
              <a:buNone/>
            </a:pPr>
            <a:r>
              <a:rPr lang="en-US" sz="950" dirty="0">
                <a:solidFill>
                  <a:srgbClr val="5B6570"/>
                </a:solidFill>
                <a:latin typeface="Meiryo" pitchFamily="34" charset="0"/>
                <a:ea typeface="Meiryo" pitchFamily="34" charset="-122"/>
                <a:cs typeface="Meiryo" pitchFamily="34" charset="-120"/>
              </a:rPr>
              <a:t>苦情件数（H21 → H25年度）</a:t>
            </a:r>
            <a:endParaRPr lang="en-US" sz="950" dirty="0"/>
          </a:p>
        </p:txBody>
      </p:sp>
      <p:sp>
        <p:nvSpPr>
          <p:cNvPr id="15" name="Shape 13"/>
          <p:cNvSpPr/>
          <p:nvPr/>
        </p:nvSpPr>
        <p:spPr>
          <a:xfrm>
            <a:off x="9189720" y="3108960"/>
            <a:ext cx="2286000" cy="1417320"/>
          </a:xfrm>
          <a:prstGeom prst="roundRect">
            <a:avLst>
              <a:gd name="adj" fmla="val 5161"/>
            </a:avLst>
          </a:prstGeom>
          <a:solidFill>
            <a:srgbClr val="F1F4F7"/>
          </a:solidFill>
          <a:ln w="12700">
            <a:solidFill>
              <a:srgbClr val="F1F4F7"/>
            </a:solidFill>
            <a:prstDash val="solid"/>
          </a:ln>
        </p:spPr>
      </p:sp>
      <p:sp>
        <p:nvSpPr>
          <p:cNvPr id="16" name="Text 14"/>
          <p:cNvSpPr txBox="1"/>
          <p:nvPr/>
        </p:nvSpPr>
        <p:spPr>
          <a:xfrm>
            <a:off x="9326880" y="3246120"/>
            <a:ext cx="2011680" cy="731520"/>
          </a:xfrm>
          <a:prstGeom prst="rect">
            <a:avLst/>
          </a:prstGeom>
          <a:noFill/>
          <a:ln/>
        </p:spPr>
        <p:txBody>
          <a:bodyPr wrap="square" lIns="0" tIns="0" rIns="0" bIns="0" rtlCol="0" anchor="ctr"/>
          <a:lstStyle/>
          <a:p>
            <a:pPr algn="l" indent="0" marL="0">
              <a:lnSpc>
                <a:spcPct val="125000"/>
              </a:lnSpc>
              <a:buNone/>
            </a:pPr>
            <a:r>
              <a:rPr lang="en-US" sz="3000" b="1" dirty="0">
                <a:solidFill>
                  <a:srgbClr val="B5442D"/>
                </a:solidFill>
                <a:latin typeface="Meiryo" pitchFamily="34" charset="0"/>
                <a:ea typeface="Meiryo" pitchFamily="34" charset="-122"/>
                <a:cs typeface="Meiryo" pitchFamily="34" charset="-120"/>
              </a:rPr>
              <a:t>−44%</a:t>
            </a:r>
            <a:endParaRPr lang="en-US" sz="3000" dirty="0"/>
          </a:p>
        </p:txBody>
      </p:sp>
      <p:sp>
        <p:nvSpPr>
          <p:cNvPr id="17" name="Text 15"/>
          <p:cNvSpPr txBox="1"/>
          <p:nvPr/>
        </p:nvSpPr>
        <p:spPr>
          <a:xfrm>
            <a:off x="9326880" y="4023360"/>
            <a:ext cx="2011680" cy="411480"/>
          </a:xfrm>
          <a:prstGeom prst="rect">
            <a:avLst/>
          </a:prstGeom>
          <a:noFill/>
          <a:ln/>
        </p:spPr>
        <p:txBody>
          <a:bodyPr wrap="square" lIns="0" tIns="0" rIns="0" bIns="0" rtlCol="0" anchor="t"/>
          <a:lstStyle/>
          <a:p>
            <a:pPr algn="l" indent="0" marL="0">
              <a:lnSpc>
                <a:spcPct val="125000"/>
              </a:lnSpc>
              <a:buNone/>
            </a:pPr>
            <a:r>
              <a:rPr lang="en-US" sz="950" dirty="0">
                <a:solidFill>
                  <a:srgbClr val="5B6570"/>
                </a:solidFill>
                <a:latin typeface="Meiryo" pitchFamily="34" charset="0"/>
                <a:ea typeface="Meiryo" pitchFamily="34" charset="-122"/>
                <a:cs typeface="Meiryo" pitchFamily="34" charset="-120"/>
              </a:rPr>
              <a:t>センター収容の所有者不明猫</a:t>
            </a:r>
            <a:endParaRPr lang="en-US" sz="950" dirty="0"/>
          </a:p>
        </p:txBody>
      </p:sp>
      <p:sp>
        <p:nvSpPr>
          <p:cNvPr id="18" name="Text 16"/>
          <p:cNvSpPr txBox="1"/>
          <p:nvPr/>
        </p:nvSpPr>
        <p:spPr>
          <a:xfrm>
            <a:off x="6766560" y="4754880"/>
            <a:ext cx="4709160" cy="548640"/>
          </a:xfrm>
          <a:prstGeom prst="rect">
            <a:avLst/>
          </a:prstGeom>
          <a:noFill/>
          <a:ln/>
        </p:spPr>
        <p:txBody>
          <a:bodyPr wrap="square" lIns="0" tIns="0" rIns="0" bIns="0" rtlCol="0" anchor="t"/>
          <a:lstStyle/>
          <a:p>
            <a:pPr algn="l" indent="0" marL="0">
              <a:lnSpc>
                <a:spcPct val="120000"/>
              </a:lnSpc>
              <a:buNone/>
            </a:pPr>
            <a:r>
              <a:rPr lang="en-US" sz="950" dirty="0">
                <a:solidFill>
                  <a:srgbClr val="5B6570"/>
                </a:solidFill>
                <a:latin typeface="Meiryo" pitchFamily="34" charset="0"/>
                <a:ea typeface="Meiryo" pitchFamily="34" charset="-122"/>
                <a:cs typeface="Meiryo" pitchFamily="34" charset="-120"/>
              </a:rPr>
              <a:t>京都市まちねこ活動支援事業（平成22年度開始）の10年評価より。収容される猫の多くは生まれたばかりで自活できない子猫。</a:t>
            </a:r>
            <a:endParaRPr lang="en-US" sz="950" dirty="0"/>
          </a:p>
        </p:txBody>
      </p:sp>
      <p:sp>
        <p:nvSpPr>
          <p:cNvPr id="19" name="Text 17"/>
          <p:cNvSpPr txBox="1"/>
          <p:nvPr/>
        </p:nvSpPr>
        <p:spPr>
          <a:xfrm>
            <a:off x="685800" y="6446520"/>
            <a:ext cx="10268712" cy="274320"/>
          </a:xfrm>
          <a:prstGeom prst="rect">
            <a:avLst/>
          </a:prstGeom>
          <a:noFill/>
          <a:ln/>
        </p:spPr>
        <p:txBody>
          <a:bodyPr wrap="square" lIns="0" tIns="0" rIns="0" bIns="0" rtlCol="0" anchor="ctr"/>
          <a:lstStyle/>
          <a:p>
            <a:pPr indent="0" marL="0">
              <a:buNone/>
            </a:pPr>
            <a:r>
              <a:rPr lang="en-US" sz="800" dirty="0">
                <a:solidFill>
                  <a:srgbClr val="7A8590"/>
                </a:solidFill>
                <a:latin typeface="Meiryo" pitchFamily="34" charset="0"/>
                <a:ea typeface="Meiryo" pitchFamily="34" charset="-122"/>
                <a:cs typeface="Meiryo" pitchFamily="34" charset="-120"/>
              </a:rPr>
              <a:t>出典：京都市「まちねこ活動支援事業の10年間の事業評価」／堺市 猫の困りごとページ／福岡県調査</a:t>
            </a:r>
            <a:endParaRPr lang="en-US" sz="800" dirty="0"/>
          </a:p>
        </p:txBody>
      </p:sp>
      <p:sp>
        <p:nvSpPr>
          <p:cNvPr id="20" name="Text 18"/>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640080"/>
          </a:xfrm>
          <a:prstGeom prst="rect">
            <a:avLst/>
          </a:prstGeom>
          <a:noFill/>
          <a:ln/>
        </p:spPr>
        <p:txBody>
          <a:bodyPr wrap="square" lIns="0" tIns="0" rIns="0" bIns="0" rtlCol="0" anchor="t"/>
          <a:lstStyle/>
          <a:p>
            <a:pPr indent="0" marL="0">
              <a:lnSpc>
                <a:spcPct val="115000"/>
              </a:lnSpc>
              <a:buNone/>
            </a:pPr>
            <a:r>
              <a:rPr lang="en-US" sz="2400" b="1" dirty="0">
                <a:solidFill>
                  <a:srgbClr val="1F2A37"/>
                </a:solidFill>
                <a:latin typeface="Meiryo" pitchFamily="34" charset="0"/>
                <a:ea typeface="Meiryo" pitchFamily="34" charset="-122"/>
                <a:cs typeface="Meiryo" pitchFamily="34" charset="-120"/>
              </a:rPr>
              <a:t>少ない担い手が制度の時間軸に合わせて動かないと、猫の方が先に増える。</a:t>
            </a:r>
            <a:endParaRPr lang="en-US" sz="2400" dirty="0"/>
          </a:p>
        </p:txBody>
      </p:sp>
      <p:sp>
        <p:nvSpPr>
          <p:cNvPr id="3" name="Text 1"/>
          <p:cNvSpPr txBox="1"/>
          <p:nvPr/>
        </p:nvSpPr>
        <p:spPr>
          <a:xfrm>
            <a:off x="685800" y="1280160"/>
            <a:ext cx="6035040" cy="3291840"/>
          </a:xfrm>
          <a:prstGeom prst="rect">
            <a:avLst/>
          </a:prstGeom>
          <a:noFill/>
          <a:ln/>
        </p:spPr>
        <p:txBody>
          <a:bodyPr wrap="square" lIns="0" tIns="0" rIns="0" bIns="0" rtlCol="0" anchor="t"/>
          <a:lstStyle/>
          <a:p>
            <a:pPr marL="342900" indent="-342900">
              <a:lnSpc>
                <a:spcPct val="120000"/>
              </a:lnSpc>
              <a:spcAft>
                <a:spcPts val="800"/>
              </a:spcAft>
              <a:buSzPct val="100000"/>
              <a:buFont typeface="+mj-lt"/>
              <a:buAutoNum type="arabicPeriod" startAt="1"/>
            </a:pPr>
            <a:r>
              <a:rPr lang="en-US" sz="1300" dirty="0">
                <a:solidFill>
                  <a:srgbClr val="1F2A37"/>
                </a:solidFill>
                <a:latin typeface="Meiryo" pitchFamily="34" charset="0"/>
                <a:ea typeface="Meiryo" pitchFamily="34" charset="-122"/>
                <a:cs typeface="Meiryo" pitchFamily="34" charset="-120"/>
              </a:rPr>
              <a:t>受付期間：基金チケットは申請が毎月1〜5日、翌月1か月のみ有効。自治体はさらに独自の期日（高島市は翌々月分）。「いつ妊娠するか分からないので受付期間を限定しないでほしい」（福岡県調査・40代女性）</a:t>
            </a:r>
            <a:endParaRPr lang="en-US" sz="1300" dirty="0"/>
          </a:p>
          <a:p>
            <a:pPr marL="342900" indent="-342900">
              <a:lnSpc>
                <a:spcPct val="120000"/>
              </a:lnSpc>
              <a:spcAft>
                <a:spcPts val="800"/>
              </a:spcAft>
              <a:buSzPct val="100000"/>
              <a:buFont typeface="+mj-lt"/>
              <a:buAutoNum type="arabicPeriod" startAt="1"/>
            </a:pPr>
            <a:r>
              <a:rPr lang="en-US" sz="1300" dirty="0">
                <a:solidFill>
                  <a:srgbClr val="1F2A37"/>
                </a:solidFill>
                <a:latin typeface="Meiryo" pitchFamily="34" charset="0"/>
                <a:ea typeface="Meiryo" pitchFamily="34" charset="-122"/>
                <a:cs typeface="Meiryo" pitchFamily="34" charset="-120"/>
              </a:rPr>
              <a:t>自治体差：出る市町村と出ない市町村、要綱も様式も別。協力病院は全国200件弱。「病院が遠すぎて連れていけない」</a:t>
            </a:r>
            <a:endParaRPr lang="en-US" sz="1300" dirty="0"/>
          </a:p>
          <a:p>
            <a:pPr marL="342900" indent="-342900">
              <a:lnSpc>
                <a:spcPct val="120000"/>
              </a:lnSpc>
              <a:spcAft>
                <a:spcPts val="800"/>
              </a:spcAft>
              <a:buSzPct val="100000"/>
              <a:buFont typeface="+mj-lt"/>
              <a:buAutoNum type="arabicPeriod" startAt="1"/>
            </a:pPr>
            <a:r>
              <a:rPr lang="en-US" sz="1300" dirty="0">
                <a:solidFill>
                  <a:srgbClr val="1F2A37"/>
                </a:solidFill>
                <a:latin typeface="Meiryo" pitchFamily="34" charset="0"/>
                <a:ea typeface="Meiryo" pitchFamily="34" charset="-122"/>
                <a:cs typeface="Meiryo" pitchFamily="34" charset="-120"/>
              </a:rPr>
              <a:t>継続：年次報告・3年更新・完了報告を落とせば制度から外れる。京都市要綱では更新がなければ職権で抹消。</a:t>
            </a:r>
            <a:endParaRPr lang="en-US" sz="1300" dirty="0"/>
          </a:p>
          <a:p>
            <a:pPr marL="342900" indent="-342900">
              <a:lnSpc>
                <a:spcPct val="120000"/>
              </a:lnSpc>
              <a:spcAft>
                <a:spcPts val="800"/>
              </a:spcAft>
              <a:buSzPct val="100000"/>
              <a:buFont typeface="+mj-lt"/>
              <a:buAutoNum type="arabicPeriod" startAt="1"/>
            </a:pPr>
            <a:r>
              <a:rPr lang="en-US" sz="1300" dirty="0">
                <a:solidFill>
                  <a:srgbClr val="1F2A37"/>
                </a:solidFill>
                <a:latin typeface="Meiryo" pitchFamily="34" charset="0"/>
                <a:ea typeface="Meiryo" pitchFamily="34" charset="-122"/>
                <a:cs typeface="Meiryo" pitchFamily="34" charset="-120"/>
              </a:rPr>
              <a:t>引継ぎ：担い手が倒れると、どの猫が手術済みか・餌場はどこかの情報ごと消える。</a:t>
            </a:r>
            <a:endParaRPr lang="en-US" sz="1300" dirty="0"/>
          </a:p>
        </p:txBody>
      </p:sp>
      <p:sp>
        <p:nvSpPr>
          <p:cNvPr id="4" name="Text 2"/>
          <p:cNvSpPr txBox="1"/>
          <p:nvPr/>
        </p:nvSpPr>
        <p:spPr>
          <a:xfrm>
            <a:off x="685800" y="4663440"/>
            <a:ext cx="6035040" cy="1097280"/>
          </a:xfrm>
          <a:prstGeom prst="rect">
            <a:avLst/>
          </a:prstGeom>
          <a:noFill/>
          <a:ln/>
        </p:spPr>
        <p:txBody>
          <a:bodyPr wrap="square" lIns="0" tIns="0" rIns="0" bIns="0" rtlCol="0" anchor="t"/>
          <a:lstStyle/>
          <a:p>
            <a:pPr algn="l" indent="0" marL="0">
              <a:lnSpc>
                <a:spcPct val="125000"/>
              </a:lnSpc>
              <a:buNone/>
            </a:pPr>
            <a:r>
              <a:rPr lang="en-US" sz="1150" dirty="0">
                <a:solidFill>
                  <a:srgbClr val="1F2A37"/>
                </a:solidFill>
                <a:latin typeface="Meiryo" pitchFamily="34" charset="0"/>
                <a:ea typeface="Meiryo" pitchFamily="34" charset="-122"/>
                <a:cs typeface="Meiryo" pitchFamily="34" charset="-120"/>
              </a:rPr>
              <a:t>結果：活動しているのに支援制度を知らない人（35件・10.0%）が知っている人（30件・8.6%）より多く、自腹で手術している人がいる。京都市は毎年新規地域があるのに活動中の地域数は3年横ばい。生まれた子猫がセンターに入る。</a:t>
            </a:r>
            <a:endParaRPr lang="en-US" sz="1150" dirty="0"/>
          </a:p>
        </p:txBody>
      </p:sp>
      <p:sp>
        <p:nvSpPr>
          <p:cNvPr id="5" name="Text 3"/>
          <p:cNvSpPr txBox="1"/>
          <p:nvPr/>
        </p:nvSpPr>
        <p:spPr>
          <a:xfrm>
            <a:off x="7315200" y="2011680"/>
            <a:ext cx="4206240" cy="274320"/>
          </a:xfrm>
          <a:prstGeom prst="rect">
            <a:avLst/>
          </a:prstGeom>
          <a:noFill/>
          <a:ln/>
        </p:spPr>
        <p:txBody>
          <a:bodyPr wrap="square" lIns="0" tIns="0" rIns="0" bIns="0" rtlCol="0" anchor="t"/>
          <a:lstStyle/>
          <a:p>
            <a:pPr algn="l" indent="0" marL="0">
              <a:lnSpc>
                <a:spcPct val="125000"/>
              </a:lnSpc>
              <a:buNone/>
            </a:pPr>
            <a:r>
              <a:rPr lang="en-US" sz="1050" dirty="0">
                <a:solidFill>
                  <a:srgbClr val="1F2A37"/>
                </a:solidFill>
                <a:latin typeface="Meiryo" pitchFamily="34" charset="0"/>
                <a:ea typeface="Meiryo" pitchFamily="34" charset="-122"/>
                <a:cs typeface="Meiryo" pitchFamily="34" charset="-120"/>
              </a:rPr>
              <a:t>▮ 制度の受付窓（月1回・数日）→ 使えるのは翌月</a:t>
            </a:r>
            <a:endParaRPr lang="en-US" sz="1050" dirty="0"/>
          </a:p>
        </p:txBody>
      </p:sp>
      <p:sp>
        <p:nvSpPr>
          <p:cNvPr id="6" name="Shape 4"/>
          <p:cNvSpPr/>
          <p:nvPr/>
        </p:nvSpPr>
        <p:spPr>
          <a:xfrm>
            <a:off x="7315200" y="2651760"/>
            <a:ext cx="4206240" cy="914"/>
          </a:xfrm>
          <a:prstGeom prst="line">
            <a:avLst/>
          </a:prstGeom>
          <a:noFill/>
          <a:ln w="25400">
            <a:solidFill>
              <a:srgbClr val="C9D1D9"/>
            </a:solidFill>
            <a:prstDash val="solid"/>
          </a:ln>
        </p:spPr>
      </p:sp>
      <p:sp>
        <p:nvSpPr>
          <p:cNvPr id="7" name="Shape 5"/>
          <p:cNvSpPr/>
          <p:nvPr/>
        </p:nvSpPr>
        <p:spPr>
          <a:xfrm>
            <a:off x="7315200" y="2514600"/>
            <a:ext cx="54864" cy="274320"/>
          </a:xfrm>
          <a:prstGeom prst="rect">
            <a:avLst/>
          </a:prstGeom>
          <a:solidFill>
            <a:srgbClr val="1F2A37"/>
          </a:solidFill>
          <a:ln w="12700">
            <a:solidFill>
              <a:srgbClr val="1F2A37"/>
            </a:solidFill>
            <a:prstDash val="solid"/>
          </a:ln>
        </p:spPr>
      </p:sp>
      <p:sp>
        <p:nvSpPr>
          <p:cNvPr id="8" name="Shape 6"/>
          <p:cNvSpPr/>
          <p:nvPr/>
        </p:nvSpPr>
        <p:spPr>
          <a:xfrm>
            <a:off x="7665720" y="2514600"/>
            <a:ext cx="54864" cy="274320"/>
          </a:xfrm>
          <a:prstGeom prst="rect">
            <a:avLst/>
          </a:prstGeom>
          <a:solidFill>
            <a:srgbClr val="1F2A37"/>
          </a:solidFill>
          <a:ln w="12700">
            <a:solidFill>
              <a:srgbClr val="1F2A37"/>
            </a:solidFill>
            <a:prstDash val="solid"/>
          </a:ln>
        </p:spPr>
      </p:sp>
      <p:sp>
        <p:nvSpPr>
          <p:cNvPr id="9" name="Shape 7"/>
          <p:cNvSpPr/>
          <p:nvPr/>
        </p:nvSpPr>
        <p:spPr>
          <a:xfrm>
            <a:off x="8016240" y="2514600"/>
            <a:ext cx="54864" cy="274320"/>
          </a:xfrm>
          <a:prstGeom prst="rect">
            <a:avLst/>
          </a:prstGeom>
          <a:solidFill>
            <a:srgbClr val="1F2A37"/>
          </a:solidFill>
          <a:ln w="12700">
            <a:solidFill>
              <a:srgbClr val="1F2A37"/>
            </a:solidFill>
            <a:prstDash val="solid"/>
          </a:ln>
        </p:spPr>
      </p:sp>
      <p:sp>
        <p:nvSpPr>
          <p:cNvPr id="10" name="Shape 8"/>
          <p:cNvSpPr/>
          <p:nvPr/>
        </p:nvSpPr>
        <p:spPr>
          <a:xfrm>
            <a:off x="8366760" y="2514600"/>
            <a:ext cx="54864" cy="274320"/>
          </a:xfrm>
          <a:prstGeom prst="rect">
            <a:avLst/>
          </a:prstGeom>
          <a:solidFill>
            <a:srgbClr val="1F2A37"/>
          </a:solidFill>
          <a:ln w="12700">
            <a:solidFill>
              <a:srgbClr val="1F2A37"/>
            </a:solidFill>
            <a:prstDash val="solid"/>
          </a:ln>
        </p:spPr>
      </p:sp>
      <p:sp>
        <p:nvSpPr>
          <p:cNvPr id="11" name="Shape 9"/>
          <p:cNvSpPr/>
          <p:nvPr/>
        </p:nvSpPr>
        <p:spPr>
          <a:xfrm>
            <a:off x="8717280" y="2514600"/>
            <a:ext cx="54864" cy="274320"/>
          </a:xfrm>
          <a:prstGeom prst="rect">
            <a:avLst/>
          </a:prstGeom>
          <a:solidFill>
            <a:srgbClr val="1F2A37"/>
          </a:solidFill>
          <a:ln w="12700">
            <a:solidFill>
              <a:srgbClr val="1F2A37"/>
            </a:solidFill>
            <a:prstDash val="solid"/>
          </a:ln>
        </p:spPr>
      </p:sp>
      <p:sp>
        <p:nvSpPr>
          <p:cNvPr id="12" name="Shape 10"/>
          <p:cNvSpPr/>
          <p:nvPr/>
        </p:nvSpPr>
        <p:spPr>
          <a:xfrm>
            <a:off x="9067800" y="2514600"/>
            <a:ext cx="54864" cy="274320"/>
          </a:xfrm>
          <a:prstGeom prst="rect">
            <a:avLst/>
          </a:prstGeom>
          <a:solidFill>
            <a:srgbClr val="1F2A37"/>
          </a:solidFill>
          <a:ln w="12700">
            <a:solidFill>
              <a:srgbClr val="1F2A37"/>
            </a:solidFill>
            <a:prstDash val="solid"/>
          </a:ln>
        </p:spPr>
      </p:sp>
      <p:sp>
        <p:nvSpPr>
          <p:cNvPr id="13" name="Shape 11"/>
          <p:cNvSpPr/>
          <p:nvPr/>
        </p:nvSpPr>
        <p:spPr>
          <a:xfrm>
            <a:off x="9418320" y="2514600"/>
            <a:ext cx="54864" cy="274320"/>
          </a:xfrm>
          <a:prstGeom prst="rect">
            <a:avLst/>
          </a:prstGeom>
          <a:solidFill>
            <a:srgbClr val="1F2A37"/>
          </a:solidFill>
          <a:ln w="12700">
            <a:solidFill>
              <a:srgbClr val="1F2A37"/>
            </a:solidFill>
            <a:prstDash val="solid"/>
          </a:ln>
        </p:spPr>
      </p:sp>
      <p:sp>
        <p:nvSpPr>
          <p:cNvPr id="14" name="Shape 12"/>
          <p:cNvSpPr/>
          <p:nvPr/>
        </p:nvSpPr>
        <p:spPr>
          <a:xfrm>
            <a:off x="9768840" y="2514600"/>
            <a:ext cx="54864" cy="274320"/>
          </a:xfrm>
          <a:prstGeom prst="rect">
            <a:avLst/>
          </a:prstGeom>
          <a:solidFill>
            <a:srgbClr val="1F2A37"/>
          </a:solidFill>
          <a:ln w="12700">
            <a:solidFill>
              <a:srgbClr val="1F2A37"/>
            </a:solidFill>
            <a:prstDash val="solid"/>
          </a:ln>
        </p:spPr>
      </p:sp>
      <p:sp>
        <p:nvSpPr>
          <p:cNvPr id="15" name="Shape 13"/>
          <p:cNvSpPr/>
          <p:nvPr/>
        </p:nvSpPr>
        <p:spPr>
          <a:xfrm>
            <a:off x="10119360" y="2514600"/>
            <a:ext cx="54864" cy="274320"/>
          </a:xfrm>
          <a:prstGeom prst="rect">
            <a:avLst/>
          </a:prstGeom>
          <a:solidFill>
            <a:srgbClr val="1F2A37"/>
          </a:solidFill>
          <a:ln w="12700">
            <a:solidFill>
              <a:srgbClr val="1F2A37"/>
            </a:solidFill>
            <a:prstDash val="solid"/>
          </a:ln>
        </p:spPr>
      </p:sp>
      <p:sp>
        <p:nvSpPr>
          <p:cNvPr id="16" name="Shape 14"/>
          <p:cNvSpPr/>
          <p:nvPr/>
        </p:nvSpPr>
        <p:spPr>
          <a:xfrm>
            <a:off x="10469880" y="2514600"/>
            <a:ext cx="54864" cy="274320"/>
          </a:xfrm>
          <a:prstGeom prst="rect">
            <a:avLst/>
          </a:prstGeom>
          <a:solidFill>
            <a:srgbClr val="1F2A37"/>
          </a:solidFill>
          <a:ln w="12700">
            <a:solidFill>
              <a:srgbClr val="1F2A37"/>
            </a:solidFill>
            <a:prstDash val="solid"/>
          </a:ln>
        </p:spPr>
      </p:sp>
      <p:sp>
        <p:nvSpPr>
          <p:cNvPr id="17" name="Shape 15"/>
          <p:cNvSpPr/>
          <p:nvPr/>
        </p:nvSpPr>
        <p:spPr>
          <a:xfrm>
            <a:off x="10820400" y="2514600"/>
            <a:ext cx="54864" cy="274320"/>
          </a:xfrm>
          <a:prstGeom prst="rect">
            <a:avLst/>
          </a:prstGeom>
          <a:solidFill>
            <a:srgbClr val="1F2A37"/>
          </a:solidFill>
          <a:ln w="12700">
            <a:solidFill>
              <a:srgbClr val="1F2A37"/>
            </a:solidFill>
            <a:prstDash val="solid"/>
          </a:ln>
        </p:spPr>
      </p:sp>
      <p:sp>
        <p:nvSpPr>
          <p:cNvPr id="18" name="Shape 16"/>
          <p:cNvSpPr/>
          <p:nvPr/>
        </p:nvSpPr>
        <p:spPr>
          <a:xfrm>
            <a:off x="11170920" y="2514600"/>
            <a:ext cx="54864" cy="274320"/>
          </a:xfrm>
          <a:prstGeom prst="rect">
            <a:avLst/>
          </a:prstGeom>
          <a:solidFill>
            <a:srgbClr val="1F2A37"/>
          </a:solidFill>
          <a:ln w="12700">
            <a:solidFill>
              <a:srgbClr val="1F2A37"/>
            </a:solidFill>
            <a:prstDash val="solid"/>
          </a:ln>
        </p:spPr>
      </p:sp>
      <p:sp>
        <p:nvSpPr>
          <p:cNvPr id="19" name="Text 17"/>
          <p:cNvSpPr txBox="1"/>
          <p:nvPr/>
        </p:nvSpPr>
        <p:spPr>
          <a:xfrm>
            <a:off x="7086600" y="2834640"/>
            <a:ext cx="457200" cy="274320"/>
          </a:xfrm>
          <a:prstGeom prst="rect">
            <a:avLst/>
          </a:prstGeom>
          <a:noFill/>
          <a:ln/>
        </p:spPr>
        <p:txBody>
          <a:bodyPr wrap="square" lIns="0" tIns="0" rIns="0" bIns="0" rtlCol="0" anchor="t"/>
          <a:lstStyle/>
          <a:p>
            <a:pPr algn="ctr" indent="0" marL="0">
              <a:lnSpc>
                <a:spcPct val="125000"/>
              </a:lnSpc>
              <a:buNone/>
            </a:pPr>
            <a:r>
              <a:rPr lang="en-US" sz="950" dirty="0">
                <a:solidFill>
                  <a:srgbClr val="5B6570"/>
                </a:solidFill>
                <a:latin typeface="Meiryo" pitchFamily="34" charset="0"/>
                <a:ea typeface="Meiryo" pitchFamily="34" charset="-122"/>
                <a:cs typeface="Meiryo" pitchFamily="34" charset="-120"/>
              </a:rPr>
              <a:t>4月</a:t>
            </a:r>
            <a:endParaRPr lang="en-US" sz="950" dirty="0"/>
          </a:p>
        </p:txBody>
      </p:sp>
      <p:sp>
        <p:nvSpPr>
          <p:cNvPr id="20" name="Text 18"/>
          <p:cNvSpPr txBox="1"/>
          <p:nvPr/>
        </p:nvSpPr>
        <p:spPr>
          <a:xfrm>
            <a:off x="8138160" y="2834640"/>
            <a:ext cx="457200" cy="274320"/>
          </a:xfrm>
          <a:prstGeom prst="rect">
            <a:avLst/>
          </a:prstGeom>
          <a:noFill/>
          <a:ln/>
        </p:spPr>
        <p:txBody>
          <a:bodyPr wrap="square" lIns="0" tIns="0" rIns="0" bIns="0" rtlCol="0" anchor="t"/>
          <a:lstStyle/>
          <a:p>
            <a:pPr algn="ctr" indent="0" marL="0">
              <a:lnSpc>
                <a:spcPct val="125000"/>
              </a:lnSpc>
              <a:buNone/>
            </a:pPr>
            <a:r>
              <a:rPr lang="en-US" sz="950" dirty="0">
                <a:solidFill>
                  <a:srgbClr val="5B6570"/>
                </a:solidFill>
                <a:latin typeface="Meiryo" pitchFamily="34" charset="0"/>
                <a:ea typeface="Meiryo" pitchFamily="34" charset="-122"/>
                <a:cs typeface="Meiryo" pitchFamily="34" charset="-120"/>
              </a:rPr>
              <a:t>7月</a:t>
            </a:r>
            <a:endParaRPr lang="en-US" sz="950" dirty="0"/>
          </a:p>
        </p:txBody>
      </p:sp>
      <p:sp>
        <p:nvSpPr>
          <p:cNvPr id="21" name="Text 19"/>
          <p:cNvSpPr txBox="1"/>
          <p:nvPr/>
        </p:nvSpPr>
        <p:spPr>
          <a:xfrm>
            <a:off x="9189720" y="2834640"/>
            <a:ext cx="457200" cy="274320"/>
          </a:xfrm>
          <a:prstGeom prst="rect">
            <a:avLst/>
          </a:prstGeom>
          <a:noFill/>
          <a:ln/>
        </p:spPr>
        <p:txBody>
          <a:bodyPr wrap="square" lIns="0" tIns="0" rIns="0" bIns="0" rtlCol="0" anchor="t"/>
          <a:lstStyle/>
          <a:p>
            <a:pPr algn="ctr" indent="0" marL="0">
              <a:lnSpc>
                <a:spcPct val="125000"/>
              </a:lnSpc>
              <a:buNone/>
            </a:pPr>
            <a:r>
              <a:rPr lang="en-US" sz="950" dirty="0">
                <a:solidFill>
                  <a:srgbClr val="5B6570"/>
                </a:solidFill>
                <a:latin typeface="Meiryo" pitchFamily="34" charset="0"/>
                <a:ea typeface="Meiryo" pitchFamily="34" charset="-122"/>
                <a:cs typeface="Meiryo" pitchFamily="34" charset="-120"/>
              </a:rPr>
              <a:t>10月</a:t>
            </a:r>
            <a:endParaRPr lang="en-US" sz="950" dirty="0"/>
          </a:p>
        </p:txBody>
      </p:sp>
      <p:sp>
        <p:nvSpPr>
          <p:cNvPr id="22" name="Text 20"/>
          <p:cNvSpPr txBox="1"/>
          <p:nvPr/>
        </p:nvSpPr>
        <p:spPr>
          <a:xfrm>
            <a:off x="10241280" y="2834640"/>
            <a:ext cx="457200" cy="274320"/>
          </a:xfrm>
          <a:prstGeom prst="rect">
            <a:avLst/>
          </a:prstGeom>
          <a:noFill/>
          <a:ln/>
        </p:spPr>
        <p:txBody>
          <a:bodyPr wrap="square" lIns="0" tIns="0" rIns="0" bIns="0" rtlCol="0" anchor="t"/>
          <a:lstStyle/>
          <a:p>
            <a:pPr algn="ctr" indent="0" marL="0">
              <a:lnSpc>
                <a:spcPct val="125000"/>
              </a:lnSpc>
              <a:buNone/>
            </a:pPr>
            <a:r>
              <a:rPr lang="en-US" sz="950" dirty="0">
                <a:solidFill>
                  <a:srgbClr val="5B6570"/>
                </a:solidFill>
                <a:latin typeface="Meiryo" pitchFamily="34" charset="0"/>
                <a:ea typeface="Meiryo" pitchFamily="34" charset="-122"/>
                <a:cs typeface="Meiryo" pitchFamily="34" charset="-120"/>
              </a:rPr>
              <a:t>1月</a:t>
            </a:r>
            <a:endParaRPr lang="en-US" sz="950" dirty="0"/>
          </a:p>
        </p:txBody>
      </p:sp>
      <p:sp>
        <p:nvSpPr>
          <p:cNvPr id="23" name="Text 21"/>
          <p:cNvSpPr txBox="1"/>
          <p:nvPr/>
        </p:nvSpPr>
        <p:spPr>
          <a:xfrm>
            <a:off x="11292840" y="2834640"/>
            <a:ext cx="457200" cy="274320"/>
          </a:xfrm>
          <a:prstGeom prst="rect">
            <a:avLst/>
          </a:prstGeom>
          <a:noFill/>
          <a:ln/>
        </p:spPr>
        <p:txBody>
          <a:bodyPr wrap="square" lIns="0" tIns="0" rIns="0" bIns="0" rtlCol="0" anchor="t"/>
          <a:lstStyle/>
          <a:p>
            <a:pPr algn="ctr" indent="0" marL="0">
              <a:lnSpc>
                <a:spcPct val="125000"/>
              </a:lnSpc>
              <a:buNone/>
            </a:pPr>
            <a:r>
              <a:rPr lang="en-US" sz="950" dirty="0">
                <a:solidFill>
                  <a:srgbClr val="5B6570"/>
                </a:solidFill>
                <a:latin typeface="Meiryo" pitchFamily="34" charset="0"/>
                <a:ea typeface="Meiryo" pitchFamily="34" charset="-122"/>
                <a:cs typeface="Meiryo" pitchFamily="34" charset="-120"/>
              </a:rPr>
              <a:t>4月</a:t>
            </a:r>
            <a:endParaRPr lang="en-US" sz="950" dirty="0"/>
          </a:p>
        </p:txBody>
      </p:sp>
      <p:sp>
        <p:nvSpPr>
          <p:cNvPr id="24" name="Shape 22"/>
          <p:cNvSpPr/>
          <p:nvPr/>
        </p:nvSpPr>
        <p:spPr>
          <a:xfrm>
            <a:off x="7770571" y="3337560"/>
            <a:ext cx="182880" cy="182880"/>
          </a:xfrm>
          <a:prstGeom prst="ellipse">
            <a:avLst/>
          </a:prstGeom>
          <a:solidFill>
            <a:srgbClr val="B5442D"/>
          </a:solidFill>
          <a:ln w="12700">
            <a:solidFill>
              <a:srgbClr val="B5442D"/>
            </a:solidFill>
            <a:prstDash val="solid"/>
          </a:ln>
        </p:spPr>
      </p:sp>
      <p:sp>
        <p:nvSpPr>
          <p:cNvPr id="25" name="Shape 23"/>
          <p:cNvSpPr/>
          <p:nvPr/>
        </p:nvSpPr>
        <p:spPr>
          <a:xfrm>
            <a:off x="9326880" y="3337560"/>
            <a:ext cx="182880" cy="182880"/>
          </a:xfrm>
          <a:prstGeom prst="ellipse">
            <a:avLst/>
          </a:prstGeom>
          <a:solidFill>
            <a:srgbClr val="B5442D"/>
          </a:solidFill>
          <a:ln w="12700">
            <a:solidFill>
              <a:srgbClr val="B5442D"/>
            </a:solidFill>
            <a:prstDash val="solid"/>
          </a:ln>
        </p:spPr>
      </p:sp>
      <p:sp>
        <p:nvSpPr>
          <p:cNvPr id="26" name="Shape 24"/>
          <p:cNvSpPr/>
          <p:nvPr/>
        </p:nvSpPr>
        <p:spPr>
          <a:xfrm>
            <a:off x="10883189" y="3337560"/>
            <a:ext cx="182880" cy="182880"/>
          </a:xfrm>
          <a:prstGeom prst="ellipse">
            <a:avLst/>
          </a:prstGeom>
          <a:solidFill>
            <a:srgbClr val="B5442D"/>
          </a:solidFill>
          <a:ln w="12700">
            <a:solidFill>
              <a:srgbClr val="B5442D"/>
            </a:solidFill>
            <a:prstDash val="solid"/>
          </a:ln>
        </p:spPr>
      </p:sp>
      <p:sp>
        <p:nvSpPr>
          <p:cNvPr id="27" name="Text 25"/>
          <p:cNvSpPr txBox="1"/>
          <p:nvPr/>
        </p:nvSpPr>
        <p:spPr>
          <a:xfrm>
            <a:off x="7315200" y="3657600"/>
            <a:ext cx="4206240" cy="274320"/>
          </a:xfrm>
          <a:prstGeom prst="rect">
            <a:avLst/>
          </a:prstGeom>
          <a:noFill/>
          <a:ln/>
        </p:spPr>
        <p:txBody>
          <a:bodyPr wrap="square" lIns="0" tIns="0" rIns="0" bIns="0" rtlCol="0" anchor="t"/>
          <a:lstStyle/>
          <a:p>
            <a:pPr algn="l" indent="0" marL="0">
              <a:lnSpc>
                <a:spcPct val="125000"/>
              </a:lnSpc>
              <a:buNone/>
            </a:pPr>
            <a:r>
              <a:rPr lang="en-US" sz="1050" dirty="0">
                <a:solidFill>
                  <a:srgbClr val="B5442D"/>
                </a:solidFill>
                <a:latin typeface="Meiryo" pitchFamily="34" charset="0"/>
                <a:ea typeface="Meiryo" pitchFamily="34" charset="-122"/>
                <a:cs typeface="Meiryo" pitchFamily="34" charset="-120"/>
              </a:rPr>
              <a:t>● 出産（年2〜3回、一度に4〜6匹）</a:t>
            </a:r>
            <a:endParaRPr lang="en-US" sz="1050" dirty="0"/>
          </a:p>
        </p:txBody>
      </p:sp>
      <p:sp>
        <p:nvSpPr>
          <p:cNvPr id="28" name="Text 26"/>
          <p:cNvSpPr txBox="1"/>
          <p:nvPr/>
        </p:nvSpPr>
        <p:spPr>
          <a:xfrm>
            <a:off x="7315200" y="3977640"/>
            <a:ext cx="4206240" cy="320040"/>
          </a:xfrm>
          <a:prstGeom prst="rect">
            <a:avLst/>
          </a:prstGeom>
          <a:noFill/>
          <a:ln/>
        </p:spPr>
        <p:txBody>
          <a:bodyPr wrap="square" lIns="0" tIns="0" rIns="0" bIns="0" rtlCol="0" anchor="t"/>
          <a:lstStyle/>
          <a:p>
            <a:pPr algn="l" indent="0" marL="0">
              <a:lnSpc>
                <a:spcPct val="125000"/>
              </a:lnSpc>
              <a:buNone/>
            </a:pPr>
            <a:r>
              <a:rPr lang="en-US" sz="1050" dirty="0">
                <a:solidFill>
                  <a:srgbClr val="1F2A37"/>
                </a:solidFill>
                <a:latin typeface="Meiryo" pitchFamily="34" charset="0"/>
                <a:ea typeface="Meiryo" pitchFamily="34" charset="-122"/>
                <a:cs typeface="Meiryo" pitchFamily="34" charset="-120"/>
              </a:rPr>
              <a:t>窓を1回逃すと手術は1か月遅れ、次の出産が先に来る。</a:t>
            </a:r>
            <a:endParaRPr lang="en-US" sz="1050" dirty="0"/>
          </a:p>
        </p:txBody>
      </p:sp>
      <p:sp>
        <p:nvSpPr>
          <p:cNvPr id="29" name="Text 27"/>
          <p:cNvSpPr txBox="1"/>
          <p:nvPr/>
        </p:nvSpPr>
        <p:spPr>
          <a:xfrm>
            <a:off x="685800" y="6446520"/>
            <a:ext cx="10268712" cy="274320"/>
          </a:xfrm>
          <a:prstGeom prst="rect">
            <a:avLst/>
          </a:prstGeom>
          <a:noFill/>
          <a:ln/>
        </p:spPr>
        <p:txBody>
          <a:bodyPr wrap="square" lIns="0" tIns="0" rIns="0" bIns="0" rtlCol="0" anchor="ctr"/>
          <a:lstStyle/>
          <a:p>
            <a:pPr indent="0" marL="0">
              <a:buNone/>
            </a:pPr>
            <a:r>
              <a:rPr lang="en-US" sz="800" dirty="0">
                <a:solidFill>
                  <a:srgbClr val="7A8590"/>
                </a:solidFill>
                <a:latin typeface="Meiryo" pitchFamily="34" charset="0"/>
                <a:ea typeface="Meiryo" pitchFamily="34" charset="-122"/>
                <a:cs typeface="Meiryo" pitchFamily="34" charset="-120"/>
              </a:rPr>
              <a:t>出典：どうぶつ基金 チケットFAQ・規約／高島市／京都市要綱 第7条／福岡県調査／京都市10年評価</a:t>
            </a:r>
            <a:endParaRPr lang="en-US" sz="800" dirty="0"/>
          </a:p>
        </p:txBody>
      </p:sp>
      <p:sp>
        <p:nvSpPr>
          <p:cNvPr id="30" name="Text 28"/>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640080"/>
          </a:xfrm>
          <a:prstGeom prst="rect">
            <a:avLst/>
          </a:prstGeom>
          <a:noFill/>
          <a:ln/>
        </p:spPr>
        <p:txBody>
          <a:bodyPr wrap="square" lIns="0" tIns="0" rIns="0" bIns="0" rtlCol="0" anchor="t"/>
          <a:lstStyle/>
          <a:p>
            <a:pPr indent="0" marL="0">
              <a:lnSpc>
                <a:spcPct val="115000"/>
              </a:lnSpc>
              <a:buNone/>
            </a:pPr>
            <a:r>
              <a:rPr lang="en-US" sz="2400" b="1" dirty="0">
                <a:solidFill>
                  <a:srgbClr val="1F2A37"/>
                </a:solidFill>
                <a:latin typeface="Meiryo" pitchFamily="34" charset="0"/>
                <a:ea typeface="Meiryo" pitchFamily="34" charset="-122"/>
                <a:cs typeface="Meiryo" pitchFamily="34" charset="-120"/>
              </a:rPr>
              <a:t>欠けているのは情報でも予算でもなく、「次に何をいつまでに」を組み立てて追い続ける役。</a:t>
            </a:r>
            <a:endParaRPr lang="en-US" sz="2400" dirty="0"/>
          </a:p>
        </p:txBody>
      </p:sp>
      <p:sp>
        <p:nvSpPr>
          <p:cNvPr id="3" name="Text 1"/>
          <p:cNvSpPr txBox="1"/>
          <p:nvPr/>
        </p:nvSpPr>
        <p:spPr>
          <a:xfrm>
            <a:off x="685800" y="1371600"/>
            <a:ext cx="5852160" cy="3657600"/>
          </a:xfrm>
          <a:prstGeom prst="rect">
            <a:avLst/>
          </a:prstGeom>
          <a:noFill/>
          <a:ln/>
        </p:spPr>
        <p:txBody>
          <a:bodyPr wrap="square" lIns="0" tIns="0" rIns="0" bIns="0" rtlCol="0" anchor="t"/>
          <a:lstStyle/>
          <a:p>
            <a:pPr marL="342900" indent="-342900">
              <a:lnSpc>
                <a:spcPct val="120000"/>
              </a:lnSpc>
              <a:spcAft>
                <a:spcPts val="800"/>
              </a:spcAft>
              <a:buSzPct val="100000"/>
              <a:buChar char="•"/>
            </a:pPr>
            <a:r>
              <a:rPr lang="en-US" sz="1400" dirty="0">
                <a:solidFill>
                  <a:srgbClr val="1F2A37"/>
                </a:solidFill>
                <a:latin typeface="Meiryo" pitchFamily="34" charset="0"/>
                <a:ea typeface="Meiryo" pitchFamily="34" charset="-122"/>
                <a:cs typeface="Meiryo" pitchFamily="34" charset="-120"/>
              </a:rPr>
              <a:t>必要な知識は、要綱・FAQ・規約として全部自然言語で公開されている。</a:t>
            </a:r>
            <a:endParaRPr lang="en-US" sz="1400" dirty="0"/>
          </a:p>
          <a:p>
            <a:pPr marL="342900" indent="-342900">
              <a:lnSpc>
                <a:spcPct val="120000"/>
              </a:lnSpc>
              <a:spcAft>
                <a:spcPts val="800"/>
              </a:spcAft>
              <a:buSzPct val="100000"/>
              <a:buChar char="•"/>
            </a:pPr>
            <a:r>
              <a:rPr lang="en-US" sz="1400" dirty="0">
                <a:solidFill>
                  <a:srgbClr val="1F2A37"/>
                </a:solidFill>
                <a:latin typeface="Meiryo" pitchFamily="34" charset="0"/>
                <a:ea typeface="Meiryo" pitchFamily="34" charset="-122"/>
                <a:cs typeface="Meiryo" pitchFamily="34" charset="-120"/>
              </a:rPr>
              <a:t>行政はそれを平日の電話で助言している（京都市医療衛生センターは4方面）。人手が限られ、担い手が代わればゼロからになる。</a:t>
            </a:r>
            <a:endParaRPr lang="en-US" sz="1400" dirty="0"/>
          </a:p>
          <a:p>
            <a:pPr marL="342900" indent="-342900">
              <a:lnSpc>
                <a:spcPct val="120000"/>
              </a:lnSpc>
              <a:spcAft>
                <a:spcPts val="800"/>
              </a:spcAft>
              <a:buSzPct val="100000"/>
              <a:buChar char="•"/>
            </a:pPr>
            <a:r>
              <a:rPr lang="en-US" sz="1400" dirty="0">
                <a:solidFill>
                  <a:srgbClr val="1F2A37"/>
                </a:solidFill>
                <a:latin typeface="Meiryo" pitchFamily="34" charset="0"/>
                <a:ea typeface="Meiryo" pitchFamily="34" charset="-122"/>
                <a:cs typeface="Meiryo" pitchFamily="34" charset="-120"/>
              </a:rPr>
              <a:t>現場の道具は電話・LINE・Excel・紙。期限は人の記憶。</a:t>
            </a:r>
            <a:endParaRPr lang="en-US" sz="1400" dirty="0"/>
          </a:p>
          <a:p>
            <a:pPr marL="342900" indent="-342900">
              <a:lnSpc>
                <a:spcPct val="120000"/>
              </a:lnSpc>
              <a:spcAft>
                <a:spcPts val="800"/>
              </a:spcAft>
              <a:buSzPct val="100000"/>
              <a:buChar char="•"/>
            </a:pPr>
            <a:r>
              <a:rPr lang="en-US" sz="1400" dirty="0">
                <a:solidFill>
                  <a:srgbClr val="1F2A37"/>
                </a:solidFill>
                <a:latin typeface="Meiryo" pitchFamily="34" charset="0"/>
                <a:ea typeface="Meiryo" pitchFamily="34" charset="-122"/>
                <a:cs typeface="Meiryo" pitchFamily="34" charset="-120"/>
              </a:rPr>
              <a:t>京都市は令和6年4月に要件を緩和（町内会長署名の廃止）。市自身が「手続きが障壁」と認めて手を入れた。</a:t>
            </a:r>
            <a:endParaRPr lang="en-US" sz="1400" dirty="0"/>
          </a:p>
        </p:txBody>
      </p:sp>
      <p:sp>
        <p:nvSpPr>
          <p:cNvPr id="4" name="Shape 2"/>
          <p:cNvSpPr/>
          <p:nvPr/>
        </p:nvSpPr>
        <p:spPr>
          <a:xfrm>
            <a:off x="7040880" y="1554480"/>
            <a:ext cx="1737360" cy="2651760"/>
          </a:xfrm>
          <a:prstGeom prst="roundRect">
            <a:avLst>
              <a:gd name="adj" fmla="val 4211"/>
            </a:avLst>
          </a:prstGeom>
          <a:solidFill>
            <a:srgbClr val="F1F4F7"/>
          </a:solidFill>
          <a:ln w="12700">
            <a:solidFill>
              <a:srgbClr val="C9D1D9"/>
            </a:solidFill>
            <a:prstDash val="solid"/>
          </a:ln>
        </p:spPr>
      </p:sp>
      <p:sp>
        <p:nvSpPr>
          <p:cNvPr id="5" name="Text 3"/>
          <p:cNvSpPr txBox="1"/>
          <p:nvPr/>
        </p:nvSpPr>
        <p:spPr>
          <a:xfrm>
            <a:off x="7178040" y="1691640"/>
            <a:ext cx="1554480" cy="2377440"/>
          </a:xfrm>
          <a:prstGeom prst="rect">
            <a:avLst/>
          </a:prstGeom>
          <a:noFill/>
          <a:ln/>
        </p:spPr>
        <p:txBody>
          <a:bodyPr wrap="square" lIns="0" tIns="0" rIns="0" bIns="0" rtlCol="0" anchor="t"/>
          <a:lstStyle/>
          <a:p>
            <a:pPr algn="l" indent="0" marL="0">
              <a:lnSpc>
                <a:spcPct val="135000"/>
              </a:lnSpc>
              <a:buNone/>
            </a:pPr>
            <a:r>
              <a:rPr lang="en-US" sz="1100" dirty="0">
                <a:solidFill>
                  <a:srgbClr val="1F2A37"/>
                </a:solidFill>
                <a:latin typeface="Meiryo" pitchFamily="34" charset="0"/>
                <a:ea typeface="Meiryo" pitchFamily="34" charset="-122"/>
                <a:cs typeface="Meiryo" pitchFamily="34" charset="-120"/>
              </a:rPr>
              <a:t>公開されている知識</a:t>
            </a:r>
            <a:endParaRPr lang="en-US" sz="1100" dirty="0"/>
          </a:p>
          <a:p>
            <a:pPr algn="l" indent="0" marL="0">
              <a:lnSpc>
                <a:spcPct val="135000"/>
              </a:lnSpc>
              <a:buNone/>
            </a:pPr>
            <a:endParaRPr lang="en-US" sz="1100" dirty="0"/>
          </a:p>
          <a:p>
            <a:pPr algn="l" indent="0" marL="0">
              <a:lnSpc>
                <a:spcPct val="135000"/>
              </a:lnSpc>
              <a:buNone/>
            </a:pPr>
            <a:r>
              <a:rPr lang="en-US" sz="1100" dirty="0">
                <a:solidFill>
                  <a:srgbClr val="1F2A37"/>
                </a:solidFill>
                <a:latin typeface="Meiryo" pitchFamily="34" charset="0"/>
                <a:ea typeface="Meiryo" pitchFamily="34" charset="-122"/>
                <a:cs typeface="Meiryo" pitchFamily="34" charset="-120"/>
              </a:rPr>
              <a:t>要綱 PDF（16条＋6様式）</a:t>
            </a:r>
            <a:endParaRPr lang="en-US" sz="1100" dirty="0"/>
          </a:p>
          <a:p>
            <a:pPr algn="l" indent="0" marL="0">
              <a:lnSpc>
                <a:spcPct val="135000"/>
              </a:lnSpc>
              <a:buNone/>
            </a:pPr>
            <a:r>
              <a:rPr lang="en-US" sz="1100" dirty="0">
                <a:solidFill>
                  <a:srgbClr val="1F2A37"/>
                </a:solidFill>
                <a:latin typeface="Meiryo" pitchFamily="34" charset="0"/>
                <a:ea typeface="Meiryo" pitchFamily="34" charset="-122"/>
                <a:cs typeface="Meiryo" pitchFamily="34" charset="-120"/>
              </a:rPr>
              <a:t>様式 DOCX・記載例</a:t>
            </a:r>
            <a:endParaRPr lang="en-US" sz="1100" dirty="0"/>
          </a:p>
          <a:p>
            <a:pPr algn="l" indent="0" marL="0">
              <a:lnSpc>
                <a:spcPct val="135000"/>
              </a:lnSpc>
              <a:buNone/>
            </a:pPr>
            <a:r>
              <a:rPr lang="en-US" sz="1100" dirty="0">
                <a:solidFill>
                  <a:srgbClr val="1F2A37"/>
                </a:solidFill>
                <a:latin typeface="Meiryo" pitchFamily="34" charset="0"/>
                <a:ea typeface="Meiryo" pitchFamily="34" charset="-122"/>
                <a:cs typeface="Meiryo" pitchFamily="34" charset="-120"/>
              </a:rPr>
              <a:t>基金 FAQ・規約</a:t>
            </a:r>
            <a:endParaRPr lang="en-US" sz="1100" dirty="0"/>
          </a:p>
          <a:p>
            <a:pPr algn="l" indent="0" marL="0">
              <a:lnSpc>
                <a:spcPct val="135000"/>
              </a:lnSpc>
              <a:buNone/>
            </a:pPr>
            <a:r>
              <a:rPr lang="en-US" sz="1100" dirty="0">
                <a:solidFill>
                  <a:srgbClr val="1F2A37"/>
                </a:solidFill>
                <a:latin typeface="Meiryo" pitchFamily="34" charset="0"/>
                <a:ea typeface="Meiryo" pitchFamily="34" charset="-122"/>
                <a:cs typeface="Meiryo" pitchFamily="34" charset="-120"/>
              </a:rPr>
              <a:t>協力病院一覧</a:t>
            </a:r>
            <a:endParaRPr lang="en-US" sz="1100" dirty="0"/>
          </a:p>
          <a:p>
            <a:pPr algn="l" indent="0" marL="0">
              <a:lnSpc>
                <a:spcPct val="135000"/>
              </a:lnSpc>
              <a:buNone/>
            </a:pPr>
            <a:r>
              <a:rPr lang="en-US" sz="1100" dirty="0">
                <a:solidFill>
                  <a:srgbClr val="1F2A37"/>
                </a:solidFill>
                <a:latin typeface="Meiryo" pitchFamily="34" charset="0"/>
                <a:ea typeface="Meiryo" pitchFamily="34" charset="-122"/>
                <a:cs typeface="Meiryo" pitchFamily="34" charset="-120"/>
              </a:rPr>
              <a:t>市HPの注意事項</a:t>
            </a:r>
            <a:endParaRPr lang="en-US" sz="1100" dirty="0"/>
          </a:p>
        </p:txBody>
      </p:sp>
      <p:sp>
        <p:nvSpPr>
          <p:cNvPr id="6" name="Shape 4"/>
          <p:cNvSpPr/>
          <p:nvPr/>
        </p:nvSpPr>
        <p:spPr>
          <a:xfrm>
            <a:off x="9966960" y="1554480"/>
            <a:ext cx="1737360" cy="2651760"/>
          </a:xfrm>
          <a:prstGeom prst="roundRect">
            <a:avLst>
              <a:gd name="adj" fmla="val 4211"/>
            </a:avLst>
          </a:prstGeom>
          <a:solidFill>
            <a:srgbClr val="F1F4F7"/>
          </a:solidFill>
          <a:ln w="12700">
            <a:solidFill>
              <a:srgbClr val="C9D1D9"/>
            </a:solidFill>
            <a:prstDash val="solid"/>
          </a:ln>
        </p:spPr>
      </p:sp>
      <p:sp>
        <p:nvSpPr>
          <p:cNvPr id="7" name="Text 5"/>
          <p:cNvSpPr txBox="1"/>
          <p:nvPr/>
        </p:nvSpPr>
        <p:spPr>
          <a:xfrm>
            <a:off x="10104120" y="1691640"/>
            <a:ext cx="1554480" cy="2377440"/>
          </a:xfrm>
          <a:prstGeom prst="rect">
            <a:avLst/>
          </a:prstGeom>
          <a:noFill/>
          <a:ln/>
        </p:spPr>
        <p:txBody>
          <a:bodyPr wrap="square" lIns="0" tIns="0" rIns="0" bIns="0" rtlCol="0" anchor="t"/>
          <a:lstStyle/>
          <a:p>
            <a:pPr algn="l" indent="0" marL="0">
              <a:lnSpc>
                <a:spcPct val="135000"/>
              </a:lnSpc>
              <a:buNone/>
            </a:pPr>
            <a:r>
              <a:rPr lang="en-US" sz="1100" dirty="0">
                <a:solidFill>
                  <a:srgbClr val="1F2A37"/>
                </a:solidFill>
                <a:latin typeface="Meiryo" pitchFamily="34" charset="0"/>
                <a:ea typeface="Meiryo" pitchFamily="34" charset="-122"/>
                <a:cs typeface="Meiryo" pitchFamily="34" charset="-120"/>
              </a:rPr>
              <a:t>担い手</a:t>
            </a:r>
            <a:endParaRPr lang="en-US" sz="1100" dirty="0"/>
          </a:p>
          <a:p>
            <a:pPr algn="l" indent="0" marL="0">
              <a:lnSpc>
                <a:spcPct val="135000"/>
              </a:lnSpc>
              <a:buNone/>
            </a:pPr>
            <a:endParaRPr lang="en-US" sz="1100" dirty="0"/>
          </a:p>
          <a:p>
            <a:pPr algn="l" indent="0" marL="0">
              <a:lnSpc>
                <a:spcPct val="135000"/>
              </a:lnSpc>
              <a:buNone/>
            </a:pPr>
            <a:r>
              <a:rPr lang="en-US" sz="1100" dirty="0">
                <a:solidFill>
                  <a:srgbClr val="1F2A37"/>
                </a:solidFill>
                <a:latin typeface="Meiryo" pitchFamily="34" charset="0"/>
                <a:ea typeface="Meiryo" pitchFamily="34" charset="-122"/>
                <a:cs typeface="Meiryo" pitchFamily="34" charset="-120"/>
              </a:rPr>
              <a:t>この場所・この頭数</a:t>
            </a:r>
            <a:endParaRPr lang="en-US" sz="1100" dirty="0"/>
          </a:p>
          <a:p>
            <a:pPr algn="l" indent="0" marL="0">
              <a:lnSpc>
                <a:spcPct val="135000"/>
              </a:lnSpc>
              <a:buNone/>
            </a:pPr>
            <a:r>
              <a:rPr lang="en-US" sz="1100" dirty="0">
                <a:solidFill>
                  <a:srgbClr val="1F2A37"/>
                </a:solidFill>
                <a:latin typeface="Meiryo" pitchFamily="34" charset="0"/>
                <a:ea typeface="Meiryo" pitchFamily="34" charset="-122"/>
                <a:cs typeface="Meiryo" pitchFamily="34" charset="-120"/>
              </a:rPr>
              <a:t>この自治体</a:t>
            </a:r>
            <a:endParaRPr lang="en-US" sz="1100" dirty="0"/>
          </a:p>
          <a:p>
            <a:pPr algn="l" indent="0" marL="0">
              <a:lnSpc>
                <a:spcPct val="135000"/>
              </a:lnSpc>
              <a:buNone/>
            </a:pPr>
            <a:r>
              <a:rPr lang="en-US" sz="1100" dirty="0">
                <a:solidFill>
                  <a:srgbClr val="1F2A37"/>
                </a:solidFill>
                <a:latin typeface="Meiryo" pitchFamily="34" charset="0"/>
                <a:ea typeface="Meiryo" pitchFamily="34" charset="-122"/>
                <a:cs typeface="Meiryo" pitchFamily="34" charset="-120"/>
              </a:rPr>
              <a:t>今日の日付</a:t>
            </a:r>
            <a:endParaRPr lang="en-US" sz="1100" dirty="0"/>
          </a:p>
          <a:p>
            <a:pPr algn="l" indent="0" marL="0">
              <a:lnSpc>
                <a:spcPct val="135000"/>
              </a:lnSpc>
              <a:buNone/>
            </a:pPr>
            <a:r>
              <a:rPr lang="en-US" sz="1100" dirty="0">
                <a:solidFill>
                  <a:srgbClr val="1F2A37"/>
                </a:solidFill>
                <a:latin typeface="Meiryo" pitchFamily="34" charset="0"/>
                <a:ea typeface="Meiryo" pitchFamily="34" charset="-122"/>
                <a:cs typeface="Meiryo" pitchFamily="34" charset="-120"/>
              </a:rPr>
              <a:t>前回の報告</a:t>
            </a:r>
            <a:endParaRPr lang="en-US" sz="1100" dirty="0"/>
          </a:p>
          <a:p>
            <a:pPr algn="l" indent="0" marL="0">
              <a:lnSpc>
                <a:spcPct val="135000"/>
              </a:lnSpc>
              <a:buNone/>
            </a:pPr>
            <a:r>
              <a:rPr lang="en-US" sz="1100" dirty="0">
                <a:solidFill>
                  <a:srgbClr val="1F2A37"/>
                </a:solidFill>
                <a:latin typeface="Meiryo" pitchFamily="34" charset="0"/>
                <a:ea typeface="Meiryo" pitchFamily="34" charset="-122"/>
                <a:cs typeface="Meiryo" pitchFamily="34" charset="-120"/>
              </a:rPr>
              <a:t>誰が引き継ぐか</a:t>
            </a:r>
            <a:endParaRPr lang="en-US" sz="1100" dirty="0"/>
          </a:p>
        </p:txBody>
      </p:sp>
      <p:sp>
        <p:nvSpPr>
          <p:cNvPr id="8" name="Shape 6"/>
          <p:cNvSpPr/>
          <p:nvPr/>
        </p:nvSpPr>
        <p:spPr>
          <a:xfrm>
            <a:off x="8915400" y="2423160"/>
            <a:ext cx="914400" cy="822960"/>
          </a:xfrm>
          <a:prstGeom prst="roundRect">
            <a:avLst>
              <a:gd name="adj" fmla="val 8889"/>
            </a:avLst>
          </a:prstGeom>
          <a:ln w="19050">
            <a:solidFill>
              <a:srgbClr val="B5442D"/>
            </a:solidFill>
            <a:prstDash val="dash"/>
          </a:ln>
        </p:spPr>
      </p:sp>
      <p:sp>
        <p:nvSpPr>
          <p:cNvPr id="9" name="Text 7"/>
          <p:cNvSpPr txBox="1"/>
          <p:nvPr/>
        </p:nvSpPr>
        <p:spPr>
          <a:xfrm>
            <a:off x="8915400" y="2423160"/>
            <a:ext cx="914400" cy="822960"/>
          </a:xfrm>
          <a:prstGeom prst="rect">
            <a:avLst/>
          </a:prstGeom>
          <a:noFill/>
          <a:ln/>
        </p:spPr>
        <p:txBody>
          <a:bodyPr wrap="square" lIns="0" tIns="0" rIns="0" bIns="0" rtlCol="0" anchor="ctr"/>
          <a:lstStyle/>
          <a:p>
            <a:pPr algn="ctr" indent="0" marL="0">
              <a:lnSpc>
                <a:spcPct val="125000"/>
              </a:lnSpc>
              <a:buNone/>
            </a:pPr>
            <a:r>
              <a:rPr lang="en-US" sz="1150" dirty="0">
                <a:solidFill>
                  <a:srgbClr val="B5442D"/>
                </a:solidFill>
                <a:latin typeface="Meiryo" pitchFamily="34" charset="0"/>
                <a:ea typeface="Meiryo" pitchFamily="34" charset="-122"/>
                <a:cs typeface="Meiryo" pitchFamily="34" charset="-120"/>
              </a:rPr>
              <a:t>合成と</a:t>
            </a:r>
            <a:endParaRPr lang="en-US" sz="1150" dirty="0"/>
          </a:p>
          <a:p>
            <a:pPr algn="ctr" indent="0" marL="0">
              <a:lnSpc>
                <a:spcPct val="125000"/>
              </a:lnSpc>
              <a:buNone/>
            </a:pPr>
            <a:r>
              <a:rPr lang="en-US" sz="1150" dirty="0">
                <a:solidFill>
                  <a:srgbClr val="B5442D"/>
                </a:solidFill>
                <a:latin typeface="Meiryo" pitchFamily="34" charset="0"/>
                <a:ea typeface="Meiryo" pitchFamily="34" charset="-122"/>
                <a:cs typeface="Meiryo" pitchFamily="34" charset="-120"/>
              </a:rPr>
              <a:t>追跡</a:t>
            </a:r>
            <a:endParaRPr lang="en-US" sz="1150" dirty="0"/>
          </a:p>
        </p:txBody>
      </p:sp>
      <p:sp>
        <p:nvSpPr>
          <p:cNvPr id="10" name="Text 8"/>
          <p:cNvSpPr txBox="1"/>
          <p:nvPr/>
        </p:nvSpPr>
        <p:spPr>
          <a:xfrm>
            <a:off x="7040880" y="4343400"/>
            <a:ext cx="4663440" cy="274320"/>
          </a:xfrm>
          <a:prstGeom prst="rect">
            <a:avLst/>
          </a:prstGeom>
          <a:noFill/>
          <a:ln/>
        </p:spPr>
        <p:txBody>
          <a:bodyPr wrap="square" lIns="0" tIns="0" rIns="0" bIns="0" rtlCol="0" anchor="t"/>
          <a:lstStyle/>
          <a:p>
            <a:pPr algn="ctr" indent="0" marL="0">
              <a:lnSpc>
                <a:spcPct val="125000"/>
              </a:lnSpc>
              <a:buNone/>
            </a:pPr>
            <a:r>
              <a:rPr lang="en-US" sz="1000" dirty="0">
                <a:solidFill>
                  <a:srgbClr val="5B6570"/>
                </a:solidFill>
                <a:latin typeface="Meiryo" pitchFamily="34" charset="0"/>
                <a:ea typeface="Meiryo" pitchFamily="34" charset="-122"/>
                <a:cs typeface="Meiryo" pitchFamily="34" charset="-120"/>
              </a:rPr>
              <a:t>この空白を、今は無償の誰か1人が埋めている</a:t>
            </a:r>
            <a:endParaRPr lang="en-US" sz="1000" dirty="0"/>
          </a:p>
        </p:txBody>
      </p:sp>
      <p:sp>
        <p:nvSpPr>
          <p:cNvPr id="11" name="Text 9"/>
          <p:cNvSpPr txBox="1"/>
          <p:nvPr/>
        </p:nvSpPr>
        <p:spPr>
          <a:xfrm>
            <a:off x="685800" y="6446520"/>
            <a:ext cx="10268712" cy="274320"/>
          </a:xfrm>
          <a:prstGeom prst="rect">
            <a:avLst/>
          </a:prstGeom>
          <a:noFill/>
          <a:ln/>
        </p:spPr>
        <p:txBody>
          <a:bodyPr wrap="square" lIns="0" tIns="0" rIns="0" bIns="0" rtlCol="0" anchor="ctr"/>
          <a:lstStyle/>
          <a:p>
            <a:pPr indent="0" marL="0">
              <a:buNone/>
            </a:pPr>
            <a:r>
              <a:rPr lang="en-US" sz="800" dirty="0">
                <a:solidFill>
                  <a:srgbClr val="7A8590"/>
                </a:solidFill>
                <a:latin typeface="Meiryo" pitchFamily="34" charset="0"/>
                <a:ea typeface="Meiryo" pitchFamily="34" charset="-122"/>
                <a:cs typeface="Meiryo" pitchFamily="34" charset="-120"/>
              </a:rPr>
              <a:t>出典：京都市まちねこ活動支援事業ページ／京都市まちねこ活動支援要綱（令和6年4月1日改正）</a:t>
            </a:r>
            <a:endParaRPr lang="en-US" sz="800" dirty="0"/>
          </a:p>
        </p:txBody>
      </p:sp>
      <p:sp>
        <p:nvSpPr>
          <p:cNvPr id="12" name="Text 10"/>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F2A37"/>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640080"/>
          </a:xfrm>
          <a:prstGeom prst="rect">
            <a:avLst/>
          </a:prstGeom>
          <a:noFill/>
          <a:ln/>
        </p:spPr>
        <p:txBody>
          <a:bodyPr wrap="square" lIns="0" tIns="0" rIns="0" bIns="0" rtlCol="0" anchor="t"/>
          <a:lstStyle/>
          <a:p>
            <a:pPr indent="0" marL="0">
              <a:lnSpc>
                <a:spcPct val="115000"/>
              </a:lnSpc>
              <a:buNone/>
            </a:pPr>
            <a:r>
              <a:rPr lang="en-US" sz="2400" b="1" dirty="0">
                <a:solidFill>
                  <a:srgbClr val="FFFFFF"/>
                </a:solidFill>
                <a:latin typeface="Meiryo" pitchFamily="34" charset="0"/>
                <a:ea typeface="Meiryo" pitchFamily="34" charset="-122"/>
                <a:cs typeface="Meiryo" pitchFamily="34" charset="-120"/>
              </a:rPr>
              <a:t>担い手には「次にやること」を、市には「途切れない台帳」を。</a:t>
            </a:r>
            <a:endParaRPr lang="en-US" sz="2400" dirty="0"/>
          </a:p>
        </p:txBody>
      </p:sp>
      <p:sp>
        <p:nvSpPr>
          <p:cNvPr id="3" name="Shape 1"/>
          <p:cNvSpPr/>
          <p:nvPr/>
        </p:nvSpPr>
        <p:spPr>
          <a:xfrm>
            <a:off x="685800" y="1371600"/>
            <a:ext cx="3566160" cy="2377440"/>
          </a:xfrm>
          <a:prstGeom prst="roundRect">
            <a:avLst>
              <a:gd name="adj" fmla="val 3077"/>
            </a:avLst>
          </a:prstGeom>
          <a:solidFill>
            <a:srgbClr val="2B3948"/>
          </a:solidFill>
          <a:ln w="12700">
            <a:solidFill>
              <a:srgbClr val="2B3948"/>
            </a:solidFill>
            <a:prstDash val="solid"/>
          </a:ln>
        </p:spPr>
      </p:sp>
      <p:sp>
        <p:nvSpPr>
          <p:cNvPr id="4" name="Text 2"/>
          <p:cNvSpPr txBox="1"/>
          <p:nvPr/>
        </p:nvSpPr>
        <p:spPr>
          <a:xfrm>
            <a:off x="868680" y="1508760"/>
            <a:ext cx="3200400" cy="365760"/>
          </a:xfrm>
          <a:prstGeom prst="rect">
            <a:avLst/>
          </a:prstGeom>
          <a:noFill/>
          <a:ln/>
        </p:spPr>
        <p:txBody>
          <a:bodyPr wrap="square" lIns="0" tIns="0" rIns="0" bIns="0" rtlCol="0" anchor="t"/>
          <a:lstStyle/>
          <a:p>
            <a:pPr algn="l" indent="0" marL="0">
              <a:lnSpc>
                <a:spcPct val="125000"/>
              </a:lnSpc>
              <a:buNone/>
            </a:pPr>
            <a:r>
              <a:rPr lang="en-US" sz="1500" b="1" dirty="0">
                <a:solidFill>
                  <a:srgbClr val="FFFFFF"/>
                </a:solidFill>
                <a:latin typeface="Meiryo" pitchFamily="34" charset="0"/>
                <a:ea typeface="Meiryo" pitchFamily="34" charset="-122"/>
                <a:cs typeface="Meiryo" pitchFamily="34" charset="-120"/>
              </a:rPr>
              <a:t>市民面（担い手）</a:t>
            </a:r>
            <a:endParaRPr lang="en-US" sz="1500" dirty="0"/>
          </a:p>
        </p:txBody>
      </p:sp>
      <p:sp>
        <p:nvSpPr>
          <p:cNvPr id="5" name="Text 3"/>
          <p:cNvSpPr txBox="1"/>
          <p:nvPr/>
        </p:nvSpPr>
        <p:spPr>
          <a:xfrm>
            <a:off x="868680" y="1920240"/>
            <a:ext cx="3200400" cy="1737360"/>
          </a:xfrm>
          <a:prstGeom prst="rect">
            <a:avLst/>
          </a:prstGeom>
          <a:noFill/>
          <a:ln/>
        </p:spPr>
        <p:txBody>
          <a:bodyPr wrap="square" lIns="0" tIns="0" rIns="0" bIns="0" rtlCol="0" anchor="t"/>
          <a:lstStyle/>
          <a:p>
            <a:pPr algn="l" indent="0" marL="0">
              <a:lnSpc>
                <a:spcPct val="125000"/>
              </a:lnSpc>
              <a:buNone/>
            </a:pPr>
            <a:r>
              <a:rPr lang="en-US" sz="1150" dirty="0">
                <a:solidFill>
                  <a:srgbClr val="FFFFFF"/>
                </a:solidFill>
                <a:latin typeface="Meiryo" pitchFamily="34" charset="0"/>
                <a:ea typeface="Meiryo" pitchFamily="34" charset="-122"/>
                <a:cs typeface="Meiryo" pitchFamily="34" charset="-120"/>
              </a:rPr>
              <a:t>場所と頭数を会話で入れると、その自治体の要綱を読んで「使える制度・条件・次の受付・必要書類」を返す。様式を埋め、日程を組み、期限が来れば促し、報告を出す。</a:t>
            </a:r>
            <a:endParaRPr lang="en-US" sz="1150" dirty="0"/>
          </a:p>
        </p:txBody>
      </p:sp>
      <p:sp>
        <p:nvSpPr>
          <p:cNvPr id="6" name="Text 4"/>
          <p:cNvSpPr txBox="1"/>
          <p:nvPr/>
        </p:nvSpPr>
        <p:spPr>
          <a:xfrm>
            <a:off x="4526280" y="1417320"/>
            <a:ext cx="3108960" cy="274320"/>
          </a:xfrm>
          <a:prstGeom prst="rect">
            <a:avLst/>
          </a:prstGeom>
          <a:noFill/>
          <a:ln/>
        </p:spPr>
        <p:txBody>
          <a:bodyPr wrap="square" lIns="0" tIns="0" rIns="0" bIns="0" rtlCol="0" anchor="t"/>
          <a:lstStyle/>
          <a:p>
            <a:pPr algn="ctr" indent="0" marL="0">
              <a:lnSpc>
                <a:spcPct val="125000"/>
              </a:lnSpc>
              <a:buNone/>
            </a:pPr>
            <a:r>
              <a:rPr lang="en-US" sz="1100" dirty="0">
                <a:solidFill>
                  <a:srgbClr val="AAB4BE"/>
                </a:solidFill>
                <a:latin typeface="Meiryo" pitchFamily="34" charset="0"/>
                <a:ea typeface="Meiryo" pitchFamily="34" charset="-122"/>
                <a:cs typeface="Meiryo" pitchFamily="34" charset="-120"/>
              </a:rPr>
              <a:t>AI の役割</a:t>
            </a:r>
            <a:endParaRPr lang="en-US" sz="1100" dirty="0"/>
          </a:p>
        </p:txBody>
      </p:sp>
      <p:sp>
        <p:nvSpPr>
          <p:cNvPr id="7" name="Text 5"/>
          <p:cNvSpPr txBox="1"/>
          <p:nvPr/>
        </p:nvSpPr>
        <p:spPr>
          <a:xfrm>
            <a:off x="4526280" y="1737360"/>
            <a:ext cx="3108960" cy="731520"/>
          </a:xfrm>
          <a:prstGeom prst="rect">
            <a:avLst/>
          </a:prstGeom>
          <a:noFill/>
          <a:ln/>
        </p:spPr>
        <p:txBody>
          <a:bodyPr wrap="square" lIns="0" tIns="0" rIns="0" bIns="0" rtlCol="0" anchor="t"/>
          <a:lstStyle/>
          <a:p>
            <a:pPr algn="ctr" indent="0" marL="0">
              <a:lnSpc>
                <a:spcPct val="125000"/>
              </a:lnSpc>
              <a:buNone/>
            </a:pPr>
            <a:r>
              <a:rPr lang="en-US" sz="1250" dirty="0">
                <a:solidFill>
                  <a:srgbClr val="FFFFFF"/>
                </a:solidFill>
                <a:latin typeface="Meiryo" pitchFamily="34" charset="0"/>
                <a:ea typeface="Meiryo" pitchFamily="34" charset="-122"/>
                <a:cs typeface="Meiryo" pitchFamily="34" charset="-120"/>
              </a:rPr>
              <a:t>自治体ごとに違う自然言語の要綱を、個別の事情に翻訳し、追い続ける</a:t>
            </a:r>
            <a:endParaRPr lang="en-US" sz="1250" dirty="0"/>
          </a:p>
        </p:txBody>
      </p:sp>
      <p:sp>
        <p:nvSpPr>
          <p:cNvPr id="8" name="Shape 6"/>
          <p:cNvSpPr/>
          <p:nvPr/>
        </p:nvSpPr>
        <p:spPr>
          <a:xfrm>
            <a:off x="4663440" y="2834640"/>
            <a:ext cx="2834640" cy="914"/>
          </a:xfrm>
          <a:prstGeom prst="line">
            <a:avLst/>
          </a:prstGeom>
          <a:noFill/>
          <a:ln w="19050">
            <a:solidFill>
              <a:srgbClr val="AAB4BE"/>
            </a:solidFill>
            <a:prstDash val="solid"/>
            <a:tailEnd type="triangle"/>
          </a:ln>
        </p:spPr>
      </p:sp>
      <p:sp>
        <p:nvSpPr>
          <p:cNvPr id="9" name="Text 7"/>
          <p:cNvSpPr txBox="1"/>
          <p:nvPr/>
        </p:nvSpPr>
        <p:spPr>
          <a:xfrm>
            <a:off x="4526280" y="2514600"/>
            <a:ext cx="3108960" cy="274320"/>
          </a:xfrm>
          <a:prstGeom prst="rect">
            <a:avLst/>
          </a:prstGeom>
          <a:noFill/>
          <a:ln/>
        </p:spPr>
        <p:txBody>
          <a:bodyPr wrap="square" lIns="0" tIns="0" rIns="0" bIns="0" rtlCol="0" anchor="t"/>
          <a:lstStyle/>
          <a:p>
            <a:pPr algn="ctr" indent="0" marL="0">
              <a:lnSpc>
                <a:spcPct val="125000"/>
              </a:lnSpc>
              <a:buNone/>
            </a:pPr>
            <a:r>
              <a:rPr lang="en-US" sz="1000" dirty="0">
                <a:solidFill>
                  <a:srgbClr val="FFFFFF"/>
                </a:solidFill>
                <a:latin typeface="Meiryo" pitchFamily="34" charset="0"/>
                <a:ea typeface="Meiryo" pitchFamily="34" charset="-122"/>
                <a:cs typeface="Meiryo" pitchFamily="34" charset="-120"/>
              </a:rPr>
              <a:t>要綱 → 個別の日程・様式</a:t>
            </a:r>
            <a:endParaRPr lang="en-US" sz="1000" dirty="0"/>
          </a:p>
        </p:txBody>
      </p:sp>
      <p:sp>
        <p:nvSpPr>
          <p:cNvPr id="10" name="Shape 8"/>
          <p:cNvSpPr/>
          <p:nvPr/>
        </p:nvSpPr>
        <p:spPr>
          <a:xfrm flipH="1">
            <a:off x="4663440" y="3383280"/>
            <a:ext cx="2834640" cy="914"/>
          </a:xfrm>
          <a:prstGeom prst="line">
            <a:avLst/>
          </a:prstGeom>
          <a:noFill/>
          <a:ln w="19050">
            <a:solidFill>
              <a:srgbClr val="AAB4BE"/>
            </a:solidFill>
            <a:prstDash val="solid"/>
            <a:tailEnd type="triangle"/>
          </a:ln>
        </p:spPr>
      </p:sp>
      <p:sp>
        <p:nvSpPr>
          <p:cNvPr id="11" name="Text 9"/>
          <p:cNvSpPr txBox="1"/>
          <p:nvPr/>
        </p:nvSpPr>
        <p:spPr>
          <a:xfrm>
            <a:off x="4526280" y="3474720"/>
            <a:ext cx="3108960" cy="274320"/>
          </a:xfrm>
          <a:prstGeom prst="rect">
            <a:avLst/>
          </a:prstGeom>
          <a:noFill/>
          <a:ln/>
        </p:spPr>
        <p:txBody>
          <a:bodyPr wrap="square" lIns="0" tIns="0" rIns="0" bIns="0" rtlCol="0" anchor="t"/>
          <a:lstStyle/>
          <a:p>
            <a:pPr algn="ctr" indent="0" marL="0">
              <a:lnSpc>
                <a:spcPct val="125000"/>
              </a:lnSpc>
              <a:buNone/>
            </a:pPr>
            <a:r>
              <a:rPr lang="en-US" sz="1000" dirty="0">
                <a:solidFill>
                  <a:srgbClr val="FFFFFF"/>
                </a:solidFill>
                <a:latin typeface="Meiryo" pitchFamily="34" charset="0"/>
                <a:ea typeface="Meiryo" pitchFamily="34" charset="-122"/>
                <a:cs typeface="Meiryo" pitchFamily="34" charset="-120"/>
              </a:rPr>
              <a:t>申請・報告 → 一覧</a:t>
            </a:r>
            <a:endParaRPr lang="en-US" sz="1000" dirty="0"/>
          </a:p>
        </p:txBody>
      </p:sp>
      <p:sp>
        <p:nvSpPr>
          <p:cNvPr id="12" name="Shape 10"/>
          <p:cNvSpPr/>
          <p:nvPr/>
        </p:nvSpPr>
        <p:spPr>
          <a:xfrm>
            <a:off x="7955280" y="1371600"/>
            <a:ext cx="3566160" cy="2377440"/>
          </a:xfrm>
          <a:prstGeom prst="roundRect">
            <a:avLst>
              <a:gd name="adj" fmla="val 3077"/>
            </a:avLst>
          </a:prstGeom>
          <a:solidFill>
            <a:srgbClr val="2B3948"/>
          </a:solidFill>
          <a:ln w="12700">
            <a:solidFill>
              <a:srgbClr val="2B3948"/>
            </a:solidFill>
            <a:prstDash val="solid"/>
          </a:ln>
        </p:spPr>
      </p:sp>
      <p:sp>
        <p:nvSpPr>
          <p:cNvPr id="13" name="Text 11"/>
          <p:cNvSpPr txBox="1"/>
          <p:nvPr/>
        </p:nvSpPr>
        <p:spPr>
          <a:xfrm>
            <a:off x="8138160" y="1508760"/>
            <a:ext cx="3200400" cy="365760"/>
          </a:xfrm>
          <a:prstGeom prst="rect">
            <a:avLst/>
          </a:prstGeom>
          <a:noFill/>
          <a:ln/>
        </p:spPr>
        <p:txBody>
          <a:bodyPr wrap="square" lIns="0" tIns="0" rIns="0" bIns="0" rtlCol="0" anchor="t"/>
          <a:lstStyle/>
          <a:p>
            <a:pPr algn="l" indent="0" marL="0">
              <a:lnSpc>
                <a:spcPct val="125000"/>
              </a:lnSpc>
              <a:buNone/>
            </a:pPr>
            <a:r>
              <a:rPr lang="en-US" sz="1500" b="1" dirty="0">
                <a:solidFill>
                  <a:srgbClr val="FFFFFF"/>
                </a:solidFill>
                <a:latin typeface="Meiryo" pitchFamily="34" charset="0"/>
                <a:ea typeface="Meiryo" pitchFamily="34" charset="-122"/>
                <a:cs typeface="Meiryo" pitchFamily="34" charset="-120"/>
              </a:rPr>
              <a:t>自治体面（市の窓口）</a:t>
            </a:r>
            <a:endParaRPr lang="en-US" sz="1500" dirty="0"/>
          </a:p>
        </p:txBody>
      </p:sp>
      <p:sp>
        <p:nvSpPr>
          <p:cNvPr id="14" name="Text 12"/>
          <p:cNvSpPr txBox="1"/>
          <p:nvPr/>
        </p:nvSpPr>
        <p:spPr>
          <a:xfrm>
            <a:off x="8138160" y="1920240"/>
            <a:ext cx="3200400" cy="1737360"/>
          </a:xfrm>
          <a:prstGeom prst="rect">
            <a:avLst/>
          </a:prstGeom>
          <a:noFill/>
          <a:ln/>
        </p:spPr>
        <p:txBody>
          <a:bodyPr wrap="square" lIns="0" tIns="0" rIns="0" bIns="0" rtlCol="0" anchor="t"/>
          <a:lstStyle/>
          <a:p>
            <a:pPr algn="l" indent="0" marL="0">
              <a:lnSpc>
                <a:spcPct val="125000"/>
              </a:lnSpc>
              <a:buNone/>
            </a:pPr>
            <a:r>
              <a:rPr lang="en-US" sz="1150" dirty="0">
                <a:solidFill>
                  <a:srgbClr val="FFFFFF"/>
                </a:solidFill>
                <a:latin typeface="Meiryo" pitchFamily="34" charset="0"/>
                <a:ea typeface="Meiryo" pitchFamily="34" charset="-122"/>
                <a:cs typeface="Meiryo" pitchFamily="34" charset="-120"/>
              </a:rPr>
              <a:t>登録コロニーの状態と期限が一覧になる。申請と報告の副産物として残るので、担い手が代わっても市に情報が残る。届いた申請の不備が減る。</a:t>
            </a:r>
            <a:endParaRPr lang="en-US" sz="1150" dirty="0"/>
          </a:p>
        </p:txBody>
      </p:sp>
      <p:sp>
        <p:nvSpPr>
          <p:cNvPr id="15" name="Text 13"/>
          <p:cNvSpPr txBox="1"/>
          <p:nvPr/>
        </p:nvSpPr>
        <p:spPr>
          <a:xfrm>
            <a:off x="685800" y="4114800"/>
            <a:ext cx="5120640" cy="822960"/>
          </a:xfrm>
          <a:prstGeom prst="rect">
            <a:avLst/>
          </a:prstGeom>
          <a:noFill/>
          <a:ln/>
        </p:spPr>
        <p:txBody>
          <a:bodyPr wrap="square" lIns="0" tIns="0" rIns="0" bIns="0" rtlCol="0" anchor="t"/>
          <a:lstStyle/>
          <a:p>
            <a:pPr indent="0" marL="0">
              <a:lnSpc>
                <a:spcPct val="125000"/>
              </a:lnSpc>
              <a:buNone/>
            </a:pPr>
            <a:r>
              <a:rPr lang="en-US" sz="900" b="1" dirty="0">
                <a:solidFill>
                  <a:srgbClr val="FFFFFF"/>
                </a:solidFill>
                <a:latin typeface="Meiryo" pitchFamily="34" charset="0"/>
                <a:ea typeface="Meiryo" pitchFamily="34" charset="-122"/>
                <a:cs typeface="Meiryo" pitchFamily="34" charset="-120"/>
              </a:rPr>
              <a:t> やらないこと </a:t>
            </a:r>
            <a:pPr indent="0" marL="0">
              <a:lnSpc>
                <a:spcPct val="125000"/>
              </a:lnSpc>
              <a:buNone/>
            </a:pPr>
            <a:r>
              <a:rPr lang="en-US" sz="1150" dirty="0">
                <a:solidFill>
                  <a:srgbClr val="FFFFFF"/>
                </a:solidFill>
                <a:latin typeface="Meiryo" pitchFamily="34" charset="0"/>
                <a:ea typeface="Meiryo" pitchFamily="34" charset="-122"/>
                <a:cs typeface="Meiryo" pitchFamily="34" charset="-120"/>
              </a:rPr>
              <a:t>  担い手を増やさない。捕獲しない。説得しない。制度と担い手の間の、時間と引継ぎの摩擦だけを消す。</a:t>
            </a:r>
            <a:endParaRPr lang="en-US" sz="900" dirty="0"/>
          </a:p>
        </p:txBody>
      </p:sp>
      <p:sp>
        <p:nvSpPr>
          <p:cNvPr id="16" name="Text 14"/>
          <p:cNvSpPr txBox="1"/>
          <p:nvPr/>
        </p:nvSpPr>
        <p:spPr>
          <a:xfrm>
            <a:off x="6309360" y="4114800"/>
            <a:ext cx="5212080" cy="822960"/>
          </a:xfrm>
          <a:prstGeom prst="rect">
            <a:avLst/>
          </a:prstGeom>
          <a:noFill/>
          <a:ln/>
        </p:spPr>
        <p:txBody>
          <a:bodyPr wrap="square" lIns="0" tIns="0" rIns="0" bIns="0" rtlCol="0" anchor="t"/>
          <a:lstStyle/>
          <a:p>
            <a:pPr indent="0" marL="0">
              <a:lnSpc>
                <a:spcPct val="125000"/>
              </a:lnSpc>
              <a:buNone/>
            </a:pPr>
            <a:r>
              <a:rPr lang="en-US" sz="900" b="1" dirty="0">
                <a:solidFill>
                  <a:srgbClr val="FFFFFF"/>
                </a:solidFill>
                <a:latin typeface="Meiryo" pitchFamily="34" charset="0"/>
                <a:ea typeface="Meiryo" pitchFamily="34" charset="-122"/>
                <a:cs typeface="Meiryo" pitchFamily="34" charset="-120"/>
              </a:rPr>
              <a:t> 0になるもの </a:t>
            </a:r>
            <a:pPr indent="0" marL="0">
              <a:lnSpc>
                <a:spcPct val="125000"/>
              </a:lnSpc>
              <a:buNone/>
            </a:pPr>
            <a:r>
              <a:rPr lang="en-US" sz="1150" dirty="0">
                <a:solidFill>
                  <a:srgbClr val="FFFFFF"/>
                </a:solidFill>
                <a:latin typeface="Meiryo" pitchFamily="34" charset="0"/>
                <a:ea typeface="Meiryo" pitchFamily="34" charset="-122"/>
                <a:cs typeface="Meiryo" pitchFamily="34" charset="-120"/>
              </a:rPr>
              <a:t>  日程逆算、書類、規約適合チェック、期限管理、記録。</a:t>
            </a:r>
            <a:endParaRPr lang="en-US" sz="900" dirty="0"/>
          </a:p>
          <a:p>
            <a:pPr indent="0" marL="0">
              <a:lnSpc>
                <a:spcPct val="125000"/>
              </a:lnSpc>
              <a:buNone/>
            </a:pPr>
            <a:r>
              <a:rPr lang="en-US" sz="900" b="1" dirty="0">
                <a:solidFill>
                  <a:srgbClr val="FFFFFF"/>
                </a:solidFill>
                <a:latin typeface="Meiryo" pitchFamily="34" charset="0"/>
                <a:ea typeface="Meiryo" pitchFamily="34" charset="-122"/>
                <a:cs typeface="Meiryo" pitchFamily="34" charset="-120"/>
              </a:rPr>
              <a:t> 0にならないもの </a:t>
            </a:r>
            <a:pPr indent="0" marL="0">
              <a:lnSpc>
                <a:spcPct val="125000"/>
              </a:lnSpc>
              <a:buNone/>
            </a:pPr>
            <a:r>
              <a:rPr lang="en-US" sz="1150" dirty="0">
                <a:solidFill>
                  <a:srgbClr val="FFFFFF"/>
                </a:solidFill>
                <a:latin typeface="Meiryo" pitchFamily="34" charset="0"/>
                <a:ea typeface="Meiryo" pitchFamily="34" charset="-122"/>
                <a:cs typeface="Meiryo" pitchFamily="34" charset="-120"/>
              </a:rPr>
              <a:t>  捕獲の腕、深夜の授乳、対面の説得。</a:t>
            </a:r>
            <a:endParaRPr lang="en-US" sz="900" dirty="0"/>
          </a:p>
        </p:txBody>
      </p:sp>
      <p:sp>
        <p:nvSpPr>
          <p:cNvPr id="17" name="Text 15"/>
          <p:cNvSpPr txBox="1"/>
          <p:nvPr/>
        </p:nvSpPr>
        <p:spPr>
          <a:xfrm>
            <a:off x="685800" y="6446520"/>
            <a:ext cx="10268712" cy="274320"/>
          </a:xfrm>
          <a:prstGeom prst="rect">
            <a:avLst/>
          </a:prstGeom>
          <a:noFill/>
          <a:ln/>
        </p:spPr>
        <p:txBody>
          <a:bodyPr wrap="square" lIns="0" tIns="0" rIns="0" bIns="0" rtlCol="0" anchor="ctr"/>
          <a:lstStyle/>
          <a:p>
            <a:pPr indent="0" marL="0">
              <a:buNone/>
            </a:pPr>
            <a:endParaRPr lang="en-US" sz="800" dirty="0"/>
          </a:p>
        </p:txBody>
      </p:sp>
      <p:sp>
        <p:nvSpPr>
          <p:cNvPr id="18" name="Text 16"/>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AAB4BE"/>
                </a:solidFill>
                <a:latin typeface="Meiryo" pitchFamily="34" charset="0"/>
                <a:ea typeface="Meiryo" pitchFamily="34" charset="-122"/>
                <a:cs typeface="Meiryo"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640080"/>
          </a:xfrm>
          <a:prstGeom prst="rect">
            <a:avLst/>
          </a:prstGeom>
          <a:noFill/>
          <a:ln/>
        </p:spPr>
        <p:txBody>
          <a:bodyPr wrap="square" lIns="0" tIns="0" rIns="0" bIns="0" rtlCol="0" anchor="t"/>
          <a:lstStyle/>
          <a:p>
            <a:pPr indent="0" marL="0">
              <a:lnSpc>
                <a:spcPct val="115000"/>
              </a:lnSpc>
              <a:buNone/>
            </a:pPr>
            <a:r>
              <a:rPr lang="en-US" sz="2400" b="1" dirty="0">
                <a:solidFill>
                  <a:srgbClr val="1F2A37"/>
                </a:solidFill>
                <a:latin typeface="Meiryo" pitchFamily="34" charset="0"/>
                <a:ea typeface="Meiryo" pitchFamily="34" charset="-122"/>
                <a:cs typeface="Meiryo" pitchFamily="34" charset="-120"/>
              </a:rPr>
              <a:t>要綱は自然言語で公開され、自治体ごとに違う。だから今までは作れず、LLMなら作れる。</a:t>
            </a:r>
            <a:endParaRPr lang="en-US" sz="2400" dirty="0"/>
          </a:p>
        </p:txBody>
      </p:sp>
      <p:sp>
        <p:nvSpPr>
          <p:cNvPr id="3" name="Text 1"/>
          <p:cNvSpPr txBox="1"/>
          <p:nvPr/>
        </p:nvSpPr>
        <p:spPr>
          <a:xfrm>
            <a:off x="685800" y="1325880"/>
            <a:ext cx="5303520" cy="274320"/>
          </a:xfrm>
          <a:prstGeom prst="rect">
            <a:avLst/>
          </a:prstGeom>
          <a:noFill/>
          <a:ln/>
        </p:spPr>
        <p:txBody>
          <a:bodyPr wrap="square" lIns="0" tIns="0" rIns="0" bIns="0" rtlCol="0" anchor="t"/>
          <a:lstStyle/>
          <a:p>
            <a:pPr algn="l" indent="0" marL="0">
              <a:lnSpc>
                <a:spcPct val="125000"/>
              </a:lnSpc>
              <a:buNone/>
            </a:pPr>
            <a:r>
              <a:rPr lang="en-US" sz="1100" b="1" dirty="0">
                <a:solidFill>
                  <a:srgbClr val="5B6570"/>
                </a:solidFill>
                <a:latin typeface="Meiryo" pitchFamily="34" charset="0"/>
                <a:ea typeface="Meiryo" pitchFamily="34" charset="-122"/>
                <a:cs typeface="Meiryo" pitchFamily="34" charset="-120"/>
              </a:rPr>
              <a:t>技術の言葉</a:t>
            </a:r>
            <a:endParaRPr lang="en-US" sz="1100" dirty="0"/>
          </a:p>
        </p:txBody>
      </p:sp>
      <p:sp>
        <p:nvSpPr>
          <p:cNvPr id="4" name="Text 2"/>
          <p:cNvSpPr txBox="1"/>
          <p:nvPr/>
        </p:nvSpPr>
        <p:spPr>
          <a:xfrm>
            <a:off x="685800" y="1645920"/>
            <a:ext cx="5303520" cy="3657600"/>
          </a:xfrm>
          <a:prstGeom prst="rect">
            <a:avLst/>
          </a:prstGeom>
          <a:noFill/>
          <a:ln/>
        </p:spPr>
        <p:txBody>
          <a:bodyPr wrap="square" lIns="0" tIns="0" rIns="0" bIns="0" rtlCol="0" anchor="t"/>
          <a:lstStyle/>
          <a:p>
            <a:pPr marL="342900" indent="-342900">
              <a:lnSpc>
                <a:spcPct val="120000"/>
              </a:lnSpc>
              <a:spcAft>
                <a:spcPts val="800"/>
              </a:spcAft>
              <a:buSzPct val="100000"/>
              <a:buChar char="•"/>
            </a:pPr>
            <a:r>
              <a:rPr lang="en-US" sz="1250" dirty="0">
                <a:solidFill>
                  <a:srgbClr val="1F2A37"/>
                </a:solidFill>
                <a:latin typeface="Meiryo" pitchFamily="34" charset="0"/>
                <a:ea typeface="Meiryo" pitchFamily="34" charset="-122"/>
                <a:cs typeface="Meiryo" pitchFamily="34" charset="-120"/>
              </a:rPr>
              <a:t>入力は要綱PDF・様式DOCX・FAQ。構造化されていない。</a:t>
            </a:r>
            <a:endParaRPr lang="en-US" sz="1250" dirty="0"/>
          </a:p>
          <a:p>
            <a:pPr marL="342900" indent="-342900">
              <a:lnSpc>
                <a:spcPct val="120000"/>
              </a:lnSpc>
              <a:spcAft>
                <a:spcPts val="800"/>
              </a:spcAft>
              <a:buSzPct val="100000"/>
              <a:buChar char="•"/>
            </a:pPr>
            <a:r>
              <a:rPr lang="en-US" sz="1250" dirty="0">
                <a:solidFill>
                  <a:srgbClr val="1F2A37"/>
                </a:solidFill>
                <a:latin typeface="Meiryo" pitchFamily="34" charset="0"/>
                <a:ea typeface="Meiryo" pitchFamily="34" charset="-122"/>
                <a:cs typeface="Meiryo" pitchFamily="34" charset="-120"/>
              </a:rPr>
              <a:t>自治体を変えると条文も様式も変わる。ルールベースなら自治体ごとに再実装。</a:t>
            </a:r>
            <a:endParaRPr lang="en-US" sz="1250" dirty="0"/>
          </a:p>
          <a:p>
            <a:pPr marL="342900" indent="-342900">
              <a:lnSpc>
                <a:spcPct val="120000"/>
              </a:lnSpc>
              <a:spcAft>
                <a:spcPts val="800"/>
              </a:spcAft>
              <a:buSzPct val="100000"/>
              <a:buChar char="•"/>
            </a:pPr>
            <a:r>
              <a:rPr lang="en-US" sz="1250" dirty="0">
                <a:solidFill>
                  <a:srgbClr val="1F2A37"/>
                </a:solidFill>
                <a:latin typeface="Meiryo" pitchFamily="34" charset="0"/>
                <a:ea typeface="Meiryo" pitchFamily="34" charset="-122"/>
                <a:cs typeface="Meiryo" pitchFamily="34" charset="-120"/>
              </a:rPr>
              <a:t>LLMは条文から「受付日・有効期限・必要人数・必要書類・報告期限」を抽出し、個別の日程に落とし、様式のセル構造を読んで転記する。日付の計算だけはコード側。</a:t>
            </a:r>
            <a:endParaRPr lang="en-US" sz="1250" dirty="0"/>
          </a:p>
          <a:p>
            <a:pPr marL="342900" indent="-342900">
              <a:lnSpc>
                <a:spcPct val="120000"/>
              </a:lnSpc>
              <a:spcAft>
                <a:spcPts val="800"/>
              </a:spcAft>
              <a:buSzPct val="100000"/>
              <a:buChar char="•"/>
            </a:pPr>
            <a:r>
              <a:rPr lang="en-US" sz="1250" dirty="0">
                <a:solidFill>
                  <a:srgbClr val="1F2A37"/>
                </a:solidFill>
                <a:latin typeface="Meiryo" pitchFamily="34" charset="0"/>
                <a:ea typeface="Meiryo" pitchFamily="34" charset="-122"/>
                <a:cs typeface="Meiryo" pitchFamily="34" charset="-120"/>
              </a:rPr>
              <a:t>自治体プロファイル（要綱一式のフォルダ）を差し替えるだけで別の自治体に対応。規則はコードに1行も書かない。</a:t>
            </a:r>
            <a:endParaRPr lang="en-US" sz="1250" dirty="0"/>
          </a:p>
        </p:txBody>
      </p:sp>
      <p:sp>
        <p:nvSpPr>
          <p:cNvPr id="5" name="Text 3"/>
          <p:cNvSpPr txBox="1"/>
          <p:nvPr/>
        </p:nvSpPr>
        <p:spPr>
          <a:xfrm>
            <a:off x="6309360" y="1325880"/>
            <a:ext cx="5212080" cy="274320"/>
          </a:xfrm>
          <a:prstGeom prst="rect">
            <a:avLst/>
          </a:prstGeom>
          <a:noFill/>
          <a:ln/>
        </p:spPr>
        <p:txBody>
          <a:bodyPr wrap="square" lIns="0" tIns="0" rIns="0" bIns="0" rtlCol="0" anchor="t"/>
          <a:lstStyle/>
          <a:p>
            <a:pPr algn="l" indent="0" marL="0">
              <a:lnSpc>
                <a:spcPct val="125000"/>
              </a:lnSpc>
              <a:buNone/>
            </a:pPr>
            <a:r>
              <a:rPr lang="en-US" sz="1100" b="1" dirty="0">
                <a:solidFill>
                  <a:srgbClr val="5B6570"/>
                </a:solidFill>
                <a:latin typeface="Meiryo" pitchFamily="34" charset="0"/>
                <a:ea typeface="Meiryo" pitchFamily="34" charset="-122"/>
                <a:cs typeface="Meiryo" pitchFamily="34" charset="-120"/>
              </a:rPr>
              <a:t>事業の言葉</a:t>
            </a:r>
            <a:endParaRPr lang="en-US" sz="1100" dirty="0"/>
          </a:p>
        </p:txBody>
      </p:sp>
      <p:sp>
        <p:nvSpPr>
          <p:cNvPr id="6" name="Text 4"/>
          <p:cNvSpPr txBox="1"/>
          <p:nvPr/>
        </p:nvSpPr>
        <p:spPr>
          <a:xfrm>
            <a:off x="6309360" y="1645920"/>
            <a:ext cx="5212080" cy="2011680"/>
          </a:xfrm>
          <a:prstGeom prst="rect">
            <a:avLst/>
          </a:prstGeom>
          <a:noFill/>
          <a:ln/>
        </p:spPr>
        <p:txBody>
          <a:bodyPr wrap="square" lIns="0" tIns="0" rIns="0" bIns="0" rtlCol="0" anchor="t"/>
          <a:lstStyle/>
          <a:p>
            <a:pPr marL="342900" indent="-342900">
              <a:lnSpc>
                <a:spcPct val="120000"/>
              </a:lnSpc>
              <a:spcAft>
                <a:spcPts val="800"/>
              </a:spcAft>
              <a:buSzPct val="100000"/>
              <a:buChar char="•"/>
            </a:pPr>
            <a:r>
              <a:rPr lang="en-US" sz="1250" dirty="0">
                <a:solidFill>
                  <a:srgbClr val="1F2A37"/>
                </a:solidFill>
                <a:latin typeface="Meiryo" pitchFamily="34" charset="0"/>
                <a:ea typeface="Meiryo" pitchFamily="34" charset="-122"/>
                <a:cs typeface="Meiryo" pitchFamily="34" charset="-120"/>
              </a:rPr>
              <a:t>全国の協働自治体は298（どうぶつ基金2022年度）。それぞれ要綱が違う。</a:t>
            </a:r>
            <a:endParaRPr lang="en-US" sz="1250" dirty="0"/>
          </a:p>
          <a:p>
            <a:pPr marL="342900" indent="-342900">
              <a:lnSpc>
                <a:spcPct val="120000"/>
              </a:lnSpc>
              <a:spcAft>
                <a:spcPts val="800"/>
              </a:spcAft>
              <a:buSzPct val="100000"/>
              <a:buChar char="•"/>
            </a:pPr>
            <a:r>
              <a:rPr lang="en-US" sz="1250" dirty="0">
                <a:solidFill>
                  <a:srgbClr val="1F2A37"/>
                </a:solidFill>
                <a:latin typeface="Meiryo" pitchFamily="34" charset="0"/>
                <a:ea typeface="Meiryo" pitchFamily="34" charset="-122"/>
                <a:cs typeface="Meiryo" pitchFamily="34" charset="-120"/>
              </a:rPr>
              <a:t>1自治体あたりの担い手は数十〜数百人。個別開発が成立する規模ではない。</a:t>
            </a:r>
            <a:endParaRPr lang="en-US" sz="1250" dirty="0"/>
          </a:p>
          <a:p>
            <a:pPr marL="342900" indent="-342900">
              <a:lnSpc>
                <a:spcPct val="120000"/>
              </a:lnSpc>
              <a:spcAft>
                <a:spcPts val="800"/>
              </a:spcAft>
              <a:buSzPct val="100000"/>
              <a:buChar char="•"/>
            </a:pPr>
            <a:r>
              <a:rPr lang="en-US" sz="1250" dirty="0">
                <a:solidFill>
                  <a:srgbClr val="1F2A37"/>
                </a:solidFill>
                <a:latin typeface="Meiryo" pitchFamily="34" charset="0"/>
                <a:ea typeface="Meiryo" pitchFamily="34" charset="-122"/>
                <a:cs typeface="Meiryo" pitchFamily="34" charset="-120"/>
              </a:rPr>
              <a:t>だから誰も作らず、現場は電話とExcelのまま。要綱を読む部分をAIに置くと、初めて1本のシステムで全自治体を扱える。</a:t>
            </a:r>
            <a:endParaRPr lang="en-US" sz="1250" dirty="0"/>
          </a:p>
        </p:txBody>
      </p:sp>
      <p:sp>
        <p:nvSpPr>
          <p:cNvPr id="7" name="Shape 5"/>
          <p:cNvSpPr/>
          <p:nvPr/>
        </p:nvSpPr>
        <p:spPr>
          <a:xfrm>
            <a:off x="6309360" y="3840480"/>
            <a:ext cx="1234440" cy="457200"/>
          </a:xfrm>
          <a:prstGeom prst="roundRect">
            <a:avLst>
              <a:gd name="adj" fmla="val 12000"/>
            </a:avLst>
          </a:prstGeom>
          <a:solidFill>
            <a:srgbClr val="F1F4F7"/>
          </a:solidFill>
          <a:ln w="12700">
            <a:solidFill>
              <a:srgbClr val="C9D1D9"/>
            </a:solidFill>
            <a:prstDash val="solid"/>
          </a:ln>
        </p:spPr>
      </p:sp>
      <p:sp>
        <p:nvSpPr>
          <p:cNvPr id="8" name="Text 6"/>
          <p:cNvSpPr txBox="1"/>
          <p:nvPr/>
        </p:nvSpPr>
        <p:spPr>
          <a:xfrm>
            <a:off x="6309360" y="3840480"/>
            <a:ext cx="1234440" cy="457200"/>
          </a:xfrm>
          <a:prstGeom prst="rect">
            <a:avLst/>
          </a:prstGeom>
          <a:noFill/>
          <a:ln/>
        </p:spPr>
        <p:txBody>
          <a:bodyPr wrap="square" lIns="635" tIns="635" rIns="635" bIns="635" rtlCol="0" anchor="ctr"/>
          <a:lstStyle/>
          <a:p>
            <a:pPr algn="ctr" indent="0" marL="0">
              <a:buNone/>
            </a:pPr>
            <a:r>
              <a:rPr lang="en-US" sz="1050" dirty="0">
                <a:solidFill>
                  <a:srgbClr val="1F2A37"/>
                </a:solidFill>
                <a:latin typeface="Meiryo" pitchFamily="34" charset="0"/>
                <a:ea typeface="Meiryo" pitchFamily="34" charset="-122"/>
                <a:cs typeface="Meiryo" pitchFamily="34" charset="-120"/>
              </a:rPr>
              <a:t>京都市 要綱</a:t>
            </a:r>
            <a:endParaRPr lang="en-US" sz="1050" dirty="0"/>
          </a:p>
        </p:txBody>
      </p:sp>
      <p:sp>
        <p:nvSpPr>
          <p:cNvPr id="9" name="Shape 7"/>
          <p:cNvSpPr/>
          <p:nvPr/>
        </p:nvSpPr>
        <p:spPr>
          <a:xfrm>
            <a:off x="6309360" y="4846320"/>
            <a:ext cx="1234440" cy="457200"/>
          </a:xfrm>
          <a:prstGeom prst="roundRect">
            <a:avLst>
              <a:gd name="adj" fmla="val 12000"/>
            </a:avLst>
          </a:prstGeom>
          <a:solidFill>
            <a:srgbClr val="F1F4F7"/>
          </a:solidFill>
          <a:ln w="12700">
            <a:solidFill>
              <a:srgbClr val="C9D1D9"/>
            </a:solidFill>
            <a:prstDash val="solid"/>
          </a:ln>
        </p:spPr>
      </p:sp>
      <p:sp>
        <p:nvSpPr>
          <p:cNvPr id="10" name="Text 8"/>
          <p:cNvSpPr txBox="1"/>
          <p:nvPr/>
        </p:nvSpPr>
        <p:spPr>
          <a:xfrm>
            <a:off x="6309360" y="4846320"/>
            <a:ext cx="1234440" cy="457200"/>
          </a:xfrm>
          <a:prstGeom prst="rect">
            <a:avLst/>
          </a:prstGeom>
          <a:noFill/>
          <a:ln/>
        </p:spPr>
        <p:txBody>
          <a:bodyPr wrap="square" lIns="635" tIns="635" rIns="635" bIns="635" rtlCol="0" anchor="ctr"/>
          <a:lstStyle/>
          <a:p>
            <a:pPr algn="ctr" indent="0" marL="0">
              <a:buNone/>
            </a:pPr>
            <a:r>
              <a:rPr lang="en-US" sz="1050" dirty="0">
                <a:solidFill>
                  <a:srgbClr val="1F2A37"/>
                </a:solidFill>
                <a:latin typeface="Meiryo" pitchFamily="34" charset="0"/>
                <a:ea typeface="Meiryo" pitchFamily="34" charset="-122"/>
                <a:cs typeface="Meiryo" pitchFamily="34" charset="-120"/>
              </a:rPr>
              <a:t>高島市 要綱</a:t>
            </a:r>
            <a:endParaRPr lang="en-US" sz="1050" dirty="0"/>
          </a:p>
        </p:txBody>
      </p:sp>
      <p:sp>
        <p:nvSpPr>
          <p:cNvPr id="11" name="Shape 9"/>
          <p:cNvSpPr/>
          <p:nvPr/>
        </p:nvSpPr>
        <p:spPr>
          <a:xfrm>
            <a:off x="8001000" y="4206240"/>
            <a:ext cx="1234440" cy="731520"/>
          </a:xfrm>
          <a:prstGeom prst="roundRect">
            <a:avLst>
              <a:gd name="adj" fmla="val 7500"/>
            </a:avLst>
          </a:prstGeom>
          <a:solidFill>
            <a:srgbClr val="1F2A37"/>
          </a:solidFill>
          <a:ln w="12700">
            <a:solidFill>
              <a:srgbClr val="1F2A37"/>
            </a:solidFill>
            <a:prstDash val="solid"/>
          </a:ln>
        </p:spPr>
      </p:sp>
      <p:sp>
        <p:nvSpPr>
          <p:cNvPr id="12" name="Text 10"/>
          <p:cNvSpPr txBox="1"/>
          <p:nvPr/>
        </p:nvSpPr>
        <p:spPr>
          <a:xfrm>
            <a:off x="8001000" y="4206240"/>
            <a:ext cx="1234440" cy="731520"/>
          </a:xfrm>
          <a:prstGeom prst="rect">
            <a:avLst/>
          </a:prstGeom>
          <a:noFill/>
          <a:ln/>
        </p:spPr>
        <p:txBody>
          <a:bodyPr wrap="square" lIns="635" tIns="635" rIns="635" bIns="635" rtlCol="0" anchor="ctr"/>
          <a:lstStyle/>
          <a:p>
            <a:pPr algn="ctr" indent="0" marL="0">
              <a:buNone/>
            </a:pPr>
            <a:r>
              <a:rPr lang="en-US" sz="1050" dirty="0">
                <a:solidFill>
                  <a:srgbClr val="FFFFFF"/>
                </a:solidFill>
                <a:latin typeface="Meiryo" pitchFamily="34" charset="0"/>
                <a:ea typeface="Meiryo" pitchFamily="34" charset="-122"/>
                <a:cs typeface="Meiryo" pitchFamily="34" charset="-120"/>
              </a:rPr>
              <a:t>同じエンジン</a:t>
            </a:r>
            <a:endParaRPr lang="en-US" sz="1050" dirty="0"/>
          </a:p>
        </p:txBody>
      </p:sp>
      <p:sp>
        <p:nvSpPr>
          <p:cNvPr id="13" name="Shape 11"/>
          <p:cNvSpPr/>
          <p:nvPr/>
        </p:nvSpPr>
        <p:spPr>
          <a:xfrm>
            <a:off x="9692640" y="3749040"/>
            <a:ext cx="1828800" cy="685800"/>
          </a:xfrm>
          <a:prstGeom prst="roundRect">
            <a:avLst>
              <a:gd name="adj" fmla="val 8000"/>
            </a:avLst>
          </a:prstGeom>
          <a:solidFill>
            <a:srgbClr val="FFFFFF"/>
          </a:solidFill>
          <a:ln w="12700">
            <a:solidFill>
              <a:srgbClr val="B5442D"/>
            </a:solidFill>
            <a:prstDash val="solid"/>
          </a:ln>
        </p:spPr>
      </p:sp>
      <p:sp>
        <p:nvSpPr>
          <p:cNvPr id="14" name="Text 12"/>
          <p:cNvSpPr txBox="1"/>
          <p:nvPr/>
        </p:nvSpPr>
        <p:spPr>
          <a:xfrm>
            <a:off x="9692640" y="3749040"/>
            <a:ext cx="1828800" cy="685800"/>
          </a:xfrm>
          <a:prstGeom prst="rect">
            <a:avLst/>
          </a:prstGeom>
          <a:noFill/>
          <a:ln/>
        </p:spPr>
        <p:txBody>
          <a:bodyPr wrap="square" lIns="635" tIns="635" rIns="635" bIns="635" rtlCol="0" anchor="ctr"/>
          <a:lstStyle/>
          <a:p>
            <a:pPr algn="ctr" indent="0" marL="0">
              <a:buNone/>
            </a:pPr>
            <a:r>
              <a:rPr lang="en-US" sz="850" dirty="0">
                <a:solidFill>
                  <a:srgbClr val="1F2A37"/>
                </a:solidFill>
                <a:latin typeface="Meiryo" pitchFamily="34" charset="0"/>
                <a:ea typeface="Meiryo" pitchFamily="34" charset="-122"/>
                <a:cs typeface="Meiryo" pitchFamily="34" charset="-120"/>
              </a:rPr>
              <a:t>登録は3年有効</a:t>
            </a:r>
            <a:endParaRPr lang="en-US" sz="850" dirty="0"/>
          </a:p>
          <a:p>
            <a:pPr algn="ctr" indent="0" marL="0">
              <a:buNone/>
            </a:pPr>
            <a:r>
              <a:rPr lang="en-US" sz="850" dirty="0">
                <a:solidFill>
                  <a:srgbClr val="1F2A37"/>
                </a:solidFill>
                <a:latin typeface="Meiryo" pitchFamily="34" charset="0"/>
                <a:ea typeface="Meiryo" pitchFamily="34" charset="-122"/>
                <a:cs typeface="Meiryo" pitchFamily="34" charset="-120"/>
              </a:rPr>
              <a:t>報告は登録日と同月日から30日以内</a:t>
            </a:r>
            <a:endParaRPr lang="en-US" sz="850" dirty="0"/>
          </a:p>
          <a:p>
            <a:pPr algn="ctr" indent="0" marL="0">
              <a:buNone/>
            </a:pPr>
            <a:r>
              <a:rPr lang="en-US" sz="850" dirty="0">
                <a:solidFill>
                  <a:srgbClr val="1F2A37"/>
                </a:solidFill>
                <a:latin typeface="Meiryo" pitchFamily="34" charset="0"/>
                <a:ea typeface="Meiryo" pitchFamily="34" charset="-122"/>
                <a:cs typeface="Meiryo" pitchFamily="34" charset="-120"/>
              </a:rPr>
              <a:t>更新は満了日の30日前から</a:t>
            </a:r>
            <a:endParaRPr lang="en-US" sz="850" dirty="0"/>
          </a:p>
        </p:txBody>
      </p:sp>
      <p:sp>
        <p:nvSpPr>
          <p:cNvPr id="15" name="Shape 13"/>
          <p:cNvSpPr/>
          <p:nvPr/>
        </p:nvSpPr>
        <p:spPr>
          <a:xfrm>
            <a:off x="9692640" y="4709160"/>
            <a:ext cx="1828800" cy="685800"/>
          </a:xfrm>
          <a:prstGeom prst="roundRect">
            <a:avLst>
              <a:gd name="adj" fmla="val 8000"/>
            </a:avLst>
          </a:prstGeom>
          <a:solidFill>
            <a:srgbClr val="FFFFFF"/>
          </a:solidFill>
          <a:ln w="12700">
            <a:solidFill>
              <a:srgbClr val="B5442D"/>
            </a:solidFill>
            <a:prstDash val="solid"/>
          </a:ln>
        </p:spPr>
      </p:sp>
      <p:sp>
        <p:nvSpPr>
          <p:cNvPr id="16" name="Text 14"/>
          <p:cNvSpPr txBox="1"/>
          <p:nvPr/>
        </p:nvSpPr>
        <p:spPr>
          <a:xfrm>
            <a:off x="9692640" y="4709160"/>
            <a:ext cx="1828800" cy="685800"/>
          </a:xfrm>
          <a:prstGeom prst="rect">
            <a:avLst/>
          </a:prstGeom>
          <a:noFill/>
          <a:ln/>
        </p:spPr>
        <p:txBody>
          <a:bodyPr wrap="square" lIns="635" tIns="635" rIns="635" bIns="635" rtlCol="0" anchor="ctr"/>
          <a:lstStyle/>
          <a:p>
            <a:pPr algn="ctr" indent="0" marL="0">
              <a:buNone/>
            </a:pPr>
            <a:r>
              <a:rPr lang="en-US" sz="850" dirty="0">
                <a:solidFill>
                  <a:srgbClr val="1F2A37"/>
                </a:solidFill>
                <a:latin typeface="Meiryo" pitchFamily="34" charset="0"/>
                <a:ea typeface="Meiryo" pitchFamily="34" charset="-122"/>
                <a:cs typeface="Meiryo" pitchFamily="34" charset="-120"/>
              </a:rPr>
              <a:t>毎月6日〜末日に申請</a:t>
            </a:r>
            <a:endParaRPr lang="en-US" sz="850" dirty="0"/>
          </a:p>
          <a:p>
            <a:pPr algn="ctr" indent="0" marL="0">
              <a:buNone/>
            </a:pPr>
            <a:r>
              <a:rPr lang="en-US" sz="850" dirty="0">
                <a:solidFill>
                  <a:srgbClr val="1F2A37"/>
                </a:solidFill>
                <a:latin typeface="Meiryo" pitchFamily="34" charset="0"/>
                <a:ea typeface="Meiryo" pitchFamily="34" charset="-122"/>
                <a:cs typeface="Meiryo" pitchFamily="34" charset="-120"/>
              </a:rPr>
              <a:t>翌々月分のチケット・1か月有効</a:t>
            </a:r>
            <a:endParaRPr lang="en-US" sz="850" dirty="0"/>
          </a:p>
          <a:p>
            <a:pPr algn="ctr" indent="0" marL="0">
              <a:buNone/>
            </a:pPr>
            <a:r>
              <a:rPr lang="en-US" sz="850" dirty="0">
                <a:solidFill>
                  <a:srgbClr val="1F2A37"/>
                </a:solidFill>
                <a:latin typeface="Meiryo" pitchFamily="34" charset="0"/>
                <a:ea typeface="Meiryo" pitchFamily="34" charset="-122"/>
                <a:cs typeface="Meiryo" pitchFamily="34" charset="-120"/>
              </a:rPr>
              <a:t>写真付き報告、未報告なら次回不可</a:t>
            </a:r>
            <a:endParaRPr lang="en-US" sz="850" dirty="0"/>
          </a:p>
        </p:txBody>
      </p:sp>
      <p:sp>
        <p:nvSpPr>
          <p:cNvPr id="17" name="Shape 15"/>
          <p:cNvSpPr/>
          <p:nvPr/>
        </p:nvSpPr>
        <p:spPr>
          <a:xfrm>
            <a:off x="7543800" y="4069080"/>
            <a:ext cx="457200" cy="320040"/>
          </a:xfrm>
          <a:prstGeom prst="line">
            <a:avLst/>
          </a:prstGeom>
          <a:noFill/>
          <a:ln w="12700">
            <a:solidFill>
              <a:srgbClr val="5B6570"/>
            </a:solidFill>
            <a:prstDash val="solid"/>
          </a:ln>
        </p:spPr>
      </p:sp>
      <p:sp>
        <p:nvSpPr>
          <p:cNvPr id="18" name="Shape 16"/>
          <p:cNvSpPr/>
          <p:nvPr/>
        </p:nvSpPr>
        <p:spPr>
          <a:xfrm flipV="1">
            <a:off x="7543800" y="4754880"/>
            <a:ext cx="457200" cy="320040"/>
          </a:xfrm>
          <a:prstGeom prst="line">
            <a:avLst/>
          </a:prstGeom>
          <a:noFill/>
          <a:ln w="12700">
            <a:solidFill>
              <a:srgbClr val="5B6570"/>
            </a:solidFill>
            <a:prstDash val="solid"/>
          </a:ln>
        </p:spPr>
      </p:sp>
      <p:sp>
        <p:nvSpPr>
          <p:cNvPr id="19" name="Shape 17"/>
          <p:cNvSpPr/>
          <p:nvPr/>
        </p:nvSpPr>
        <p:spPr>
          <a:xfrm flipV="1">
            <a:off x="9235440" y="4096512"/>
            <a:ext cx="457200" cy="292608"/>
          </a:xfrm>
          <a:prstGeom prst="line">
            <a:avLst/>
          </a:prstGeom>
          <a:noFill/>
          <a:ln w="12700">
            <a:solidFill>
              <a:srgbClr val="5B6570"/>
            </a:solidFill>
            <a:prstDash val="solid"/>
          </a:ln>
        </p:spPr>
      </p:sp>
      <p:sp>
        <p:nvSpPr>
          <p:cNvPr id="20" name="Shape 18"/>
          <p:cNvSpPr/>
          <p:nvPr/>
        </p:nvSpPr>
        <p:spPr>
          <a:xfrm>
            <a:off x="9235440" y="4754880"/>
            <a:ext cx="457200" cy="292608"/>
          </a:xfrm>
          <a:prstGeom prst="line">
            <a:avLst/>
          </a:prstGeom>
          <a:noFill/>
          <a:ln w="12700">
            <a:solidFill>
              <a:srgbClr val="5B6570"/>
            </a:solidFill>
            <a:prstDash val="solid"/>
          </a:ln>
        </p:spPr>
      </p:sp>
      <p:sp>
        <p:nvSpPr>
          <p:cNvPr id="21" name="Text 19"/>
          <p:cNvSpPr txBox="1"/>
          <p:nvPr/>
        </p:nvSpPr>
        <p:spPr>
          <a:xfrm>
            <a:off x="685800" y="6446520"/>
            <a:ext cx="10268712" cy="274320"/>
          </a:xfrm>
          <a:prstGeom prst="rect">
            <a:avLst/>
          </a:prstGeom>
          <a:noFill/>
          <a:ln/>
        </p:spPr>
        <p:txBody>
          <a:bodyPr wrap="square" lIns="0" tIns="0" rIns="0" bIns="0" rtlCol="0" anchor="ctr"/>
          <a:lstStyle/>
          <a:p>
            <a:pPr indent="0" marL="0">
              <a:buNone/>
            </a:pPr>
            <a:r>
              <a:rPr lang="en-US" sz="800" dirty="0">
                <a:solidFill>
                  <a:srgbClr val="7A8590"/>
                </a:solidFill>
                <a:latin typeface="Meiryo" pitchFamily="34" charset="0"/>
                <a:ea typeface="Meiryo" pitchFamily="34" charset="-122"/>
                <a:cs typeface="Meiryo" pitchFamily="34" charset="-120"/>
              </a:rPr>
              <a:t>出典：どうぶつ基金 2022年度実績（個人3,546名／47団体／298行政／約62,128頭）</a:t>
            </a:r>
            <a:endParaRPr lang="en-US" sz="800" dirty="0"/>
          </a:p>
        </p:txBody>
      </p:sp>
      <p:sp>
        <p:nvSpPr>
          <p:cNvPr id="22" name="Text 20"/>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822960"/>
          </a:xfrm>
          <a:prstGeom prst="rect">
            <a:avLst/>
          </a:prstGeom>
          <a:noFill/>
          <a:ln/>
        </p:spPr>
        <p:txBody>
          <a:bodyPr wrap="square" lIns="0" tIns="0" rIns="0" bIns="0" rtlCol="0" anchor="t"/>
          <a:lstStyle/>
          <a:p>
            <a:pPr indent="0" marL="0">
              <a:lnSpc>
                <a:spcPct val="115000"/>
              </a:lnSpc>
              <a:buNone/>
            </a:pPr>
            <a:r>
              <a:rPr lang="en-US" sz="2400" b="1" dirty="0">
                <a:solidFill>
                  <a:srgbClr val="1F2A37"/>
                </a:solidFill>
                <a:latin typeface="Meiryo" pitchFamily="34" charset="0"/>
                <a:ea typeface="Meiryo" pitchFamily="34" charset="-122"/>
                <a:cs typeface="Meiryo" pitchFamily="34" charset="-120"/>
              </a:rPr>
              <a:t>開くと「次にやること」が1枚出る。会話で状況を入れると、要綱に照らした不足が返り、様式が埋まって出る。</a:t>
            </a:r>
            <a:endParaRPr lang="en-US" sz="2400" dirty="0"/>
          </a:p>
        </p:txBody>
      </p:sp>
      <p:pic>
        <p:nvPicPr>
          <p:cNvPr id="3" name="Image 0" descr="/home/user/VORN/docs/deck/next.jpg">    </p:cNvPr>
          <p:cNvPicPr>
            <a:picLocks noChangeAspect="1"/>
          </p:cNvPicPr>
          <p:nvPr/>
        </p:nvPicPr>
        <p:blipFill>
          <a:blip r:embed="rId1"/>
          <a:stretch>
            <a:fillRect/>
          </a:stretch>
        </p:blipFill>
        <p:spPr>
          <a:xfrm>
            <a:off x="685800" y="1417320"/>
            <a:ext cx="5577840" cy="914400"/>
          </a:xfrm>
          <a:prstGeom prst="rect">
            <a:avLst/>
          </a:prstGeom>
        </p:spPr>
      </p:pic>
      <p:sp>
        <p:nvSpPr>
          <p:cNvPr id="4" name="Shape 1"/>
          <p:cNvSpPr/>
          <p:nvPr/>
        </p:nvSpPr>
        <p:spPr>
          <a:xfrm>
            <a:off x="685800" y="1417320"/>
            <a:ext cx="5577840" cy="1928509"/>
          </a:xfrm>
          <a:prstGeom prst="rect">
            <a:avLst/>
          </a:prstGeom>
          <a:ln w="9525">
            <a:solidFill>
              <a:srgbClr val="D5DBE1"/>
            </a:solidFill>
            <a:prstDash val="solid"/>
          </a:ln>
        </p:spPr>
      </p:sp>
      <p:sp>
        <p:nvSpPr>
          <p:cNvPr id="5" name="Text 2"/>
          <p:cNvSpPr txBox="1"/>
          <p:nvPr/>
        </p:nvSpPr>
        <p:spPr>
          <a:xfrm>
            <a:off x="685800" y="3391549"/>
            <a:ext cx="5577840" cy="320040"/>
          </a:xfrm>
          <a:prstGeom prst="rect">
            <a:avLst/>
          </a:prstGeom>
          <a:noFill/>
          <a:ln/>
        </p:spPr>
        <p:txBody>
          <a:bodyPr wrap="square" lIns="0" tIns="0" rIns="0" bIns="0" rtlCol="0" anchor="t"/>
          <a:lstStyle/>
          <a:p>
            <a:pPr algn="l" indent="0" marL="0">
              <a:lnSpc>
                <a:spcPct val="120000"/>
              </a:lnSpc>
              <a:buNone/>
            </a:pPr>
            <a:r>
              <a:rPr lang="en-US" sz="950" dirty="0">
                <a:solidFill>
                  <a:srgbClr val="5B6570"/>
                </a:solidFill>
                <a:latin typeface="Meiryo" pitchFamily="34" charset="0"/>
                <a:ea typeface="Meiryo" pitchFamily="34" charset="-122"/>
                <a:cs typeface="Meiryo" pitchFamily="34" charset="-120"/>
              </a:rPr>
              <a:t>何を・いつまでに・様式は何、を1枚で。要綱から抽出した工程と台帳の状態から組み立てる。</a:t>
            </a:r>
            <a:endParaRPr lang="en-US" sz="950" dirty="0"/>
          </a:p>
        </p:txBody>
      </p:sp>
      <p:pic>
        <p:nvPicPr>
          <p:cNvPr id="6" name="Image 1" descr="/home/user/VORN/docs/deck/rules_s.jpg">    </p:cNvPr>
          <p:cNvPicPr>
            <a:picLocks noChangeAspect="1"/>
          </p:cNvPicPr>
          <p:nvPr/>
        </p:nvPicPr>
        <p:blipFill>
          <a:blip r:embed="rId2"/>
          <a:stretch>
            <a:fillRect/>
          </a:stretch>
        </p:blipFill>
        <p:spPr>
          <a:xfrm>
            <a:off x="685800" y="3757309"/>
            <a:ext cx="5577840" cy="914400"/>
          </a:xfrm>
          <a:prstGeom prst="rect">
            <a:avLst/>
          </a:prstGeom>
        </p:spPr>
      </p:pic>
      <p:sp>
        <p:nvSpPr>
          <p:cNvPr id="7" name="Shape 3"/>
          <p:cNvSpPr/>
          <p:nvPr/>
        </p:nvSpPr>
        <p:spPr>
          <a:xfrm>
            <a:off x="685800" y="3757309"/>
            <a:ext cx="5577840" cy="1987847"/>
          </a:xfrm>
          <a:prstGeom prst="rect">
            <a:avLst/>
          </a:prstGeom>
          <a:ln w="9525">
            <a:solidFill>
              <a:srgbClr val="D5DBE1"/>
            </a:solidFill>
            <a:prstDash val="solid"/>
          </a:ln>
        </p:spPr>
      </p:sp>
      <p:sp>
        <p:nvSpPr>
          <p:cNvPr id="8" name="Text 4"/>
          <p:cNvSpPr txBox="1"/>
          <p:nvPr/>
        </p:nvSpPr>
        <p:spPr>
          <a:xfrm>
            <a:off x="685800" y="5790876"/>
            <a:ext cx="5577840" cy="457200"/>
          </a:xfrm>
          <a:prstGeom prst="rect">
            <a:avLst/>
          </a:prstGeom>
          <a:noFill/>
          <a:ln/>
        </p:spPr>
        <p:txBody>
          <a:bodyPr wrap="square" lIns="0" tIns="0" rIns="0" bIns="0" rtlCol="0" anchor="t"/>
          <a:lstStyle/>
          <a:p>
            <a:pPr algn="l" indent="0" marL="0">
              <a:lnSpc>
                <a:spcPct val="120000"/>
              </a:lnSpc>
              <a:buNone/>
            </a:pPr>
            <a:r>
              <a:rPr lang="en-US" sz="950" dirty="0">
                <a:solidFill>
                  <a:srgbClr val="5B6570"/>
                </a:solidFill>
                <a:latin typeface="Meiryo" pitchFamily="34" charset="0"/>
                <a:ea typeface="Meiryo" pitchFamily="34" charset="-122"/>
                <a:cs typeface="Meiryo" pitchFamily="34" charset="-120"/>
              </a:rPr>
              <a:t>京都市要綱に照らした判定。「11頭（10頭以上）のため京都市民3名以上」「周辺地図は別途添付」「登録後に第4号様式」。根拠の条文引用付き。</a:t>
            </a:r>
            <a:endParaRPr lang="en-US" sz="950" dirty="0"/>
          </a:p>
        </p:txBody>
      </p:sp>
      <p:pic>
        <p:nvPicPr>
          <p:cNvPr id="9" name="Image 2" descr="/home/user/VORN/docs/deck/form1.jpg">    </p:cNvPr>
          <p:cNvPicPr>
            <a:picLocks noChangeAspect="1"/>
          </p:cNvPicPr>
          <p:nvPr/>
        </p:nvPicPr>
        <p:blipFill>
          <a:blip r:embed="rId3"/>
          <a:srcRect l="0" r="99975" t="0" b="99975"/>
          <a:stretch/>
        </p:blipFill>
        <p:spPr>
          <a:xfrm>
            <a:off x="6583680" y="1417320"/>
            <a:ext cx="1215" cy="1024"/>
          </a:xfrm>
          <a:prstGeom prst="rect">
            <a:avLst/>
          </a:prstGeom>
        </p:spPr>
      </p:pic>
      <p:sp>
        <p:nvSpPr>
          <p:cNvPr id="10" name="Shape 5"/>
          <p:cNvSpPr/>
          <p:nvPr/>
        </p:nvSpPr>
        <p:spPr>
          <a:xfrm>
            <a:off x="6583680" y="1417320"/>
            <a:ext cx="4937760" cy="4160520"/>
          </a:xfrm>
          <a:prstGeom prst="rect">
            <a:avLst/>
          </a:prstGeom>
          <a:ln w="9525">
            <a:solidFill>
              <a:srgbClr val="D5DBE1"/>
            </a:solidFill>
            <a:prstDash val="solid"/>
          </a:ln>
        </p:spPr>
      </p:sp>
      <p:sp>
        <p:nvSpPr>
          <p:cNvPr id="11" name="Text 6"/>
          <p:cNvSpPr txBox="1"/>
          <p:nvPr/>
        </p:nvSpPr>
        <p:spPr>
          <a:xfrm>
            <a:off x="6583680" y="5623560"/>
            <a:ext cx="4937760" cy="457200"/>
          </a:xfrm>
          <a:prstGeom prst="rect">
            <a:avLst/>
          </a:prstGeom>
          <a:noFill/>
          <a:ln/>
        </p:spPr>
        <p:txBody>
          <a:bodyPr wrap="square" lIns="0" tIns="0" rIns="0" bIns="0" rtlCol="0" anchor="t"/>
          <a:lstStyle/>
          <a:p>
            <a:pPr algn="l" indent="0" marL="0">
              <a:lnSpc>
                <a:spcPct val="120000"/>
              </a:lnSpc>
              <a:buNone/>
            </a:pPr>
            <a:r>
              <a:rPr lang="en-US" sz="950" dirty="0">
                <a:solidFill>
                  <a:srgbClr val="5B6570"/>
                </a:solidFill>
                <a:latin typeface="Meiryo" pitchFamily="34" charset="0"/>
                <a:ea typeface="Meiryo" pitchFamily="34" charset="-122"/>
                <a:cs typeface="Meiryo" pitchFamily="34" charset="-120"/>
              </a:rPr>
              <a:t>京都市配布の第1号様式（登録申請書）DOCX に転記した結果。第6号様式（実施計画書）・第4号様式（手術実施申請書）も同様に出る。</a:t>
            </a:r>
            <a:endParaRPr lang="en-US" sz="950" dirty="0"/>
          </a:p>
        </p:txBody>
      </p:sp>
      <p:sp>
        <p:nvSpPr>
          <p:cNvPr id="12" name="Text 7"/>
          <p:cNvSpPr txBox="1"/>
          <p:nvPr/>
        </p:nvSpPr>
        <p:spPr>
          <a:xfrm>
            <a:off x="685800" y="6446520"/>
            <a:ext cx="10268712" cy="274320"/>
          </a:xfrm>
          <a:prstGeom prst="rect">
            <a:avLst/>
          </a:prstGeom>
          <a:noFill/>
          <a:ln/>
        </p:spPr>
        <p:txBody>
          <a:bodyPr wrap="square" lIns="0" tIns="0" rIns="0" bIns="0" rtlCol="0" anchor="ctr"/>
          <a:lstStyle/>
          <a:p>
            <a:pPr indent="0" marL="0">
              <a:buNone/>
            </a:pPr>
            <a:r>
              <a:rPr lang="en-US" sz="800" dirty="0">
                <a:solidFill>
                  <a:srgbClr val="7A8590"/>
                </a:solidFill>
                <a:latin typeface="Meiryo" pitchFamily="34" charset="0"/>
                <a:ea typeface="Meiryo" pitchFamily="34" charset="-122"/>
                <a:cs typeface="Meiryo" pitchFamily="34" charset="-120"/>
              </a:rPr>
              <a:t>画面はプロトタイプ（Streamlit）。デモ用の架空コロニー（左京区・11頭・活動者3名）</a:t>
            </a:r>
            <a:endParaRPr lang="en-US" sz="800" dirty="0"/>
          </a:p>
        </p:txBody>
      </p:sp>
      <p:sp>
        <p:nvSpPr>
          <p:cNvPr id="13" name="Text 8"/>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640080"/>
          </a:xfrm>
          <a:prstGeom prst="rect">
            <a:avLst/>
          </a:prstGeom>
          <a:noFill/>
          <a:ln/>
        </p:spPr>
        <p:txBody>
          <a:bodyPr wrap="square" lIns="0" tIns="0" rIns="0" bIns="0" rtlCol="0" anchor="t"/>
          <a:lstStyle/>
          <a:p>
            <a:pPr indent="0" marL="0">
              <a:lnSpc>
                <a:spcPct val="115000"/>
              </a:lnSpc>
              <a:buNone/>
            </a:pPr>
            <a:r>
              <a:rPr lang="en-US" sz="2400" b="1" dirty="0">
                <a:solidFill>
                  <a:srgbClr val="1F2A37"/>
                </a:solidFill>
                <a:latin typeface="Meiryo" pitchFamily="34" charset="0"/>
                <a:ea typeface="Meiryo" pitchFamily="34" charset="-122"/>
                <a:cs typeface="Meiryo" pitchFamily="34" charset="-120"/>
              </a:rPr>
              <a:t>市は、届いた申請の不備をなくし、更新が切れそうな地域を先に知る。</a:t>
            </a:r>
            <a:endParaRPr lang="en-US" sz="2400" dirty="0"/>
          </a:p>
        </p:txBody>
      </p:sp>
      <p:pic>
        <p:nvPicPr>
          <p:cNvPr id="3" name="Image 0" descr="/home/user/VORN/docs/deck/muni_list.jpg">    </p:cNvPr>
          <p:cNvPicPr>
            <a:picLocks noChangeAspect="1"/>
          </p:cNvPicPr>
          <p:nvPr/>
        </p:nvPicPr>
        <p:blipFill>
          <a:blip r:embed="rId1"/>
          <a:stretch>
            <a:fillRect/>
          </a:stretch>
        </p:blipFill>
        <p:spPr>
          <a:xfrm>
            <a:off x="685800" y="1325880"/>
            <a:ext cx="6400800" cy="914400"/>
          </a:xfrm>
          <a:prstGeom prst="rect">
            <a:avLst/>
          </a:prstGeom>
        </p:spPr>
      </p:pic>
      <p:sp>
        <p:nvSpPr>
          <p:cNvPr id="4" name="Shape 1"/>
          <p:cNvSpPr/>
          <p:nvPr/>
        </p:nvSpPr>
        <p:spPr>
          <a:xfrm>
            <a:off x="685800" y="1325880"/>
            <a:ext cx="6400800" cy="1770434"/>
          </a:xfrm>
          <a:prstGeom prst="rect">
            <a:avLst/>
          </a:prstGeom>
          <a:ln w="9525">
            <a:solidFill>
              <a:srgbClr val="D5DBE1"/>
            </a:solidFill>
            <a:prstDash val="solid"/>
          </a:ln>
        </p:spPr>
      </p:sp>
      <p:sp>
        <p:nvSpPr>
          <p:cNvPr id="5" name="Text 2"/>
          <p:cNvSpPr txBox="1"/>
          <p:nvPr/>
        </p:nvSpPr>
        <p:spPr>
          <a:xfrm>
            <a:off x="685800" y="3142034"/>
            <a:ext cx="6400800" cy="502920"/>
          </a:xfrm>
          <a:prstGeom prst="rect">
            <a:avLst/>
          </a:prstGeom>
          <a:noFill/>
          <a:ln/>
        </p:spPr>
        <p:txBody>
          <a:bodyPr wrap="square" lIns="0" tIns="0" rIns="0" bIns="0" rtlCol="0" anchor="t"/>
          <a:lstStyle/>
          <a:p>
            <a:pPr algn="l" indent="0" marL="0">
              <a:lnSpc>
                <a:spcPct val="120000"/>
              </a:lnSpc>
              <a:buNone/>
            </a:pPr>
            <a:r>
              <a:rPr lang="en-US" sz="950" dirty="0">
                <a:solidFill>
                  <a:srgbClr val="5B6570"/>
                </a:solidFill>
                <a:latin typeface="Meiryo" pitchFamily="34" charset="0"/>
                <a:ea typeface="Meiryo" pitchFamily="34" charset="-122"/>
                <a:cs typeface="Meiryo" pitchFamily="34" charset="-120"/>
              </a:rPr>
              <a:t>登録コロニー一覧：区／頭数／手術済み頭数／登録日／次回報告期限／更新満了日／状態。状態は要綱の期限ルール（報告は登録日と同月日から30日以内、更新は満了日の30日前から）と報告履歴から計算。</a:t>
            </a:r>
            <a:endParaRPr lang="en-US" sz="950" dirty="0"/>
          </a:p>
        </p:txBody>
      </p:sp>
      <p:pic>
        <p:nvPicPr>
          <p:cNvPr id="6" name="Image 1" descr="/home/user/VORN/docs/deck/muni_detail.jpg">    </p:cNvPr>
          <p:cNvPicPr>
            <a:picLocks noChangeAspect="1"/>
          </p:cNvPicPr>
          <p:nvPr/>
        </p:nvPicPr>
        <p:blipFill>
          <a:blip r:embed="rId2"/>
          <a:stretch>
            <a:fillRect/>
          </a:stretch>
        </p:blipFill>
        <p:spPr>
          <a:xfrm>
            <a:off x="685800" y="3690674"/>
            <a:ext cx="6400800" cy="914400"/>
          </a:xfrm>
          <a:prstGeom prst="rect">
            <a:avLst/>
          </a:prstGeom>
        </p:spPr>
      </p:pic>
      <p:sp>
        <p:nvSpPr>
          <p:cNvPr id="7" name="Shape 3"/>
          <p:cNvSpPr/>
          <p:nvPr/>
        </p:nvSpPr>
        <p:spPr>
          <a:xfrm>
            <a:off x="685800" y="3690674"/>
            <a:ext cx="6400800" cy="2451370"/>
          </a:xfrm>
          <a:prstGeom prst="rect">
            <a:avLst/>
          </a:prstGeom>
          <a:ln w="9525">
            <a:solidFill>
              <a:srgbClr val="D5DBE1"/>
            </a:solidFill>
            <a:prstDash val="solid"/>
          </a:ln>
        </p:spPr>
      </p:sp>
      <p:sp>
        <p:nvSpPr>
          <p:cNvPr id="8" name="Text 4"/>
          <p:cNvSpPr txBox="1"/>
          <p:nvPr/>
        </p:nvSpPr>
        <p:spPr>
          <a:xfrm>
            <a:off x="685800" y="6187764"/>
            <a:ext cx="6400800" cy="457200"/>
          </a:xfrm>
          <a:prstGeom prst="rect">
            <a:avLst/>
          </a:prstGeom>
          <a:noFill/>
          <a:ln/>
        </p:spPr>
        <p:txBody>
          <a:bodyPr wrap="square" lIns="0" tIns="0" rIns="0" bIns="0" rtlCol="0" anchor="t"/>
          <a:lstStyle/>
          <a:p>
            <a:pPr algn="l" indent="0" marL="0">
              <a:lnSpc>
                <a:spcPct val="120000"/>
              </a:lnSpc>
              <a:buNone/>
            </a:pPr>
            <a:r>
              <a:rPr lang="en-US" sz="950" dirty="0">
                <a:solidFill>
                  <a:srgbClr val="5B6570"/>
                </a:solidFill>
                <a:latin typeface="Meiryo" pitchFamily="34" charset="0"/>
                <a:ea typeface="Meiryo" pitchFamily="34" charset="-122"/>
                <a:cs typeface="Meiryo" pitchFamily="34" charset="-120"/>
              </a:rPr>
              <a:t>各コロニーを開くと、提出済みの様式と報告がそのまま見える。いま提出した申請（K-2026-010）がダミー4件と並び、年次報告を出すと「報告済」に変わる。</a:t>
            </a:r>
            <a:endParaRPr lang="en-US" sz="950" dirty="0"/>
          </a:p>
        </p:txBody>
      </p:sp>
      <p:sp>
        <p:nvSpPr>
          <p:cNvPr id="9" name="Shape 5"/>
          <p:cNvSpPr/>
          <p:nvPr/>
        </p:nvSpPr>
        <p:spPr>
          <a:xfrm>
            <a:off x="7406640" y="1325880"/>
            <a:ext cx="4114800" cy="2560320"/>
          </a:xfrm>
          <a:prstGeom prst="roundRect">
            <a:avLst>
              <a:gd name="adj" fmla="val 2857"/>
            </a:avLst>
          </a:prstGeom>
          <a:solidFill>
            <a:srgbClr val="F1F4F7"/>
          </a:solidFill>
          <a:ln w="12700">
            <a:solidFill>
              <a:srgbClr val="F1F4F7"/>
            </a:solidFill>
            <a:prstDash val="solid"/>
          </a:ln>
        </p:spPr>
      </p:sp>
      <p:sp>
        <p:nvSpPr>
          <p:cNvPr id="10" name="Text 6"/>
          <p:cNvSpPr txBox="1"/>
          <p:nvPr/>
        </p:nvSpPr>
        <p:spPr>
          <a:xfrm>
            <a:off x="7589520" y="1463040"/>
            <a:ext cx="3749040" cy="365760"/>
          </a:xfrm>
          <a:prstGeom prst="rect">
            <a:avLst/>
          </a:prstGeom>
          <a:noFill/>
          <a:ln/>
        </p:spPr>
        <p:txBody>
          <a:bodyPr wrap="square" lIns="0" tIns="0" rIns="0" bIns="0" rtlCol="0" anchor="t"/>
          <a:lstStyle/>
          <a:p>
            <a:pPr algn="l" indent="0" marL="0">
              <a:lnSpc>
                <a:spcPct val="125000"/>
              </a:lnSpc>
              <a:buNone/>
            </a:pPr>
            <a:r>
              <a:rPr lang="en-US" sz="1300" b="1" dirty="0">
                <a:solidFill>
                  <a:srgbClr val="1F2A37"/>
                </a:solidFill>
                <a:latin typeface="Meiryo" pitchFamily="34" charset="0"/>
                <a:ea typeface="Meiryo" pitchFamily="34" charset="-122"/>
                <a:cs typeface="Meiryo" pitchFamily="34" charset="-120"/>
              </a:rPr>
              <a:t>「更新待ち → 期限超過」が見える</a:t>
            </a:r>
            <a:endParaRPr lang="en-US" sz="1300" dirty="0"/>
          </a:p>
        </p:txBody>
      </p:sp>
      <p:sp>
        <p:nvSpPr>
          <p:cNvPr id="11" name="Text 7"/>
          <p:cNvSpPr txBox="1"/>
          <p:nvPr/>
        </p:nvSpPr>
        <p:spPr>
          <a:xfrm>
            <a:off x="7589520" y="1874520"/>
            <a:ext cx="3749040" cy="1920240"/>
          </a:xfrm>
          <a:prstGeom prst="rect">
            <a:avLst/>
          </a:prstGeom>
          <a:noFill/>
          <a:ln/>
        </p:spPr>
        <p:txBody>
          <a:bodyPr wrap="square" lIns="0" tIns="0" rIns="0" bIns="0" rtlCol="0" anchor="t"/>
          <a:lstStyle/>
          <a:p>
            <a:pPr algn="l" indent="0" marL="0">
              <a:lnSpc>
                <a:spcPct val="125000"/>
              </a:lnSpc>
              <a:buNone/>
            </a:pPr>
            <a:r>
              <a:rPr lang="en-US" sz="1100" dirty="0">
                <a:solidFill>
                  <a:srgbClr val="1F2A37"/>
                </a:solidFill>
                <a:latin typeface="Meiryo" pitchFamily="34" charset="0"/>
                <a:ea typeface="Meiryo" pitchFamily="34" charset="-122"/>
                <a:cs typeface="Meiryo" pitchFamily="34" charset="-120"/>
              </a:rPr>
              <a:t>京都市要綱では、期限までに更新されない登録は職権で抹消できる（第7条3項）。廃止届（第3号様式）には理由欄があるが、届出なしで切れた地域の理由は市に残らない。</a:t>
            </a:r>
            <a:endParaRPr lang="en-US" sz="1100" dirty="0"/>
          </a:p>
          <a:p>
            <a:pPr algn="l" indent="0" marL="0">
              <a:lnSpc>
                <a:spcPct val="125000"/>
              </a:lnSpc>
              <a:buNone/>
            </a:pPr>
            <a:endParaRPr lang="en-US" sz="1100" dirty="0"/>
          </a:p>
          <a:p>
            <a:pPr algn="l" indent="0" marL="0">
              <a:lnSpc>
                <a:spcPct val="125000"/>
              </a:lnSpc>
              <a:buNone/>
            </a:pPr>
            <a:r>
              <a:rPr lang="en-US" sz="1100" dirty="0">
                <a:solidFill>
                  <a:srgbClr val="1F2A37"/>
                </a:solidFill>
                <a:latin typeface="Meiryo" pitchFamily="34" charset="0"/>
                <a:ea typeface="Meiryo" pitchFamily="34" charset="-122"/>
                <a:cs typeface="Meiryo" pitchFamily="34" charset="-120"/>
              </a:rPr>
              <a:t>この一覧があると、切れる前に見える。活動中の地域数が「3年横ばい」の中身（終了か脱落か）が初めて分かる。</a:t>
            </a:r>
            <a:endParaRPr lang="en-US" sz="1100" dirty="0"/>
          </a:p>
        </p:txBody>
      </p:sp>
      <p:sp>
        <p:nvSpPr>
          <p:cNvPr id="12" name="Text 8"/>
          <p:cNvSpPr txBox="1"/>
          <p:nvPr/>
        </p:nvSpPr>
        <p:spPr>
          <a:xfrm>
            <a:off x="7406640" y="4023360"/>
            <a:ext cx="4114800" cy="640080"/>
          </a:xfrm>
          <a:prstGeom prst="rect">
            <a:avLst/>
          </a:prstGeom>
          <a:noFill/>
          <a:ln/>
        </p:spPr>
        <p:txBody>
          <a:bodyPr wrap="square" lIns="0" tIns="0" rIns="0" bIns="0" rtlCol="0" anchor="t"/>
          <a:lstStyle/>
          <a:p>
            <a:pPr algn="l" indent="0" marL="0">
              <a:lnSpc>
                <a:spcPct val="125000"/>
              </a:lnSpc>
              <a:buNone/>
            </a:pPr>
            <a:r>
              <a:rPr lang="en-US" sz="1100" dirty="0">
                <a:solidFill>
                  <a:srgbClr val="5B6570"/>
                </a:solidFill>
                <a:latin typeface="Meiryo" pitchFamily="34" charset="0"/>
                <a:ea typeface="Meiryo" pitchFamily="34" charset="-122"/>
                <a:cs typeface="Meiryo" pitchFamily="34" charset="-120"/>
              </a:rPr>
              <a:t>引継ぎのために別途入力させるものではない。申請と報告の副産物として市に残る。</a:t>
            </a:r>
            <a:endParaRPr lang="en-US" sz="1100" dirty="0"/>
          </a:p>
        </p:txBody>
      </p:sp>
      <p:sp>
        <p:nvSpPr>
          <p:cNvPr id="13" name="Text 9"/>
          <p:cNvSpPr txBox="1"/>
          <p:nvPr/>
        </p:nvSpPr>
        <p:spPr>
          <a:xfrm>
            <a:off x="685800" y="6446520"/>
            <a:ext cx="10268712" cy="274320"/>
          </a:xfrm>
          <a:prstGeom prst="rect">
            <a:avLst/>
          </a:prstGeom>
          <a:noFill/>
          <a:ln/>
        </p:spPr>
        <p:txBody>
          <a:bodyPr wrap="square" lIns="0" tIns="0" rIns="0" bIns="0" rtlCol="0" anchor="ctr"/>
          <a:lstStyle/>
          <a:p>
            <a:pPr indent="0" marL="0">
              <a:buNone/>
            </a:pPr>
            <a:r>
              <a:rPr lang="en-US" sz="800" dirty="0">
                <a:solidFill>
                  <a:srgbClr val="7A8590"/>
                </a:solidFill>
                <a:latin typeface="Meiryo" pitchFamily="34" charset="0"/>
                <a:ea typeface="Meiryo" pitchFamily="34" charset="-122"/>
                <a:cs typeface="Meiryo" pitchFamily="34" charset="-120"/>
              </a:rPr>
              <a:t>画面はプロトタイプ。台帳のダミーは架空。出典：京都市まちねこ活動支援要綱 第7条</a:t>
            </a:r>
            <a:endParaRPr lang="en-US" sz="800" dirty="0"/>
          </a:p>
        </p:txBody>
      </p:sp>
      <p:sp>
        <p:nvSpPr>
          <p:cNvPr id="14" name="Text 10"/>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640080"/>
          </a:xfrm>
          <a:prstGeom prst="rect">
            <a:avLst/>
          </a:prstGeom>
          <a:noFill/>
          <a:ln/>
        </p:spPr>
        <p:txBody>
          <a:bodyPr wrap="square" lIns="0" tIns="0" rIns="0" bIns="0" rtlCol="0" anchor="t"/>
          <a:lstStyle/>
          <a:p>
            <a:pPr indent="0" marL="0">
              <a:lnSpc>
                <a:spcPct val="115000"/>
              </a:lnSpc>
              <a:buNone/>
            </a:pPr>
            <a:r>
              <a:rPr lang="en-US" sz="2400" b="1" dirty="0">
                <a:solidFill>
                  <a:srgbClr val="1F2A37"/>
                </a:solidFill>
                <a:latin typeface="Meiryo" pitchFamily="34" charset="0"/>
                <a:ea typeface="Meiryo" pitchFamily="34" charset="-122"/>
                <a:cs typeface="Meiryo" pitchFamily="34" charset="-120"/>
              </a:rPr>
              <a:t>受付を逃さず、登録が失効せず、担い手が代わっても途切れない。</a:t>
            </a:r>
            <a:endParaRPr lang="en-US" sz="2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85800" y="1371600"/>
          <a:ext cx="10817352" cy="914400"/>
        </p:xfrm>
        <a:graphic>
          <a:graphicData uri="http://schemas.openxmlformats.org/drawingml/2006/table">
            <a:tbl>
              <a:tblPr/>
              <a:tblGrid>
                <a:gridCol w="5669280"/>
                <a:gridCol w="5148072"/>
              </a:tblGrid>
              <a:tr h="502920">
                <a:tc>
                  <a:txBody>
                    <a:bodyPr/>
                    <a:lstStyle/>
                    <a:p>
                      <a:pPr indent="0" marL="0">
                        <a:buNone/>
                      </a:pPr>
                      <a:r>
                        <a:rPr lang="en-US" sz="1300" b="1" dirty="0">
                          <a:solidFill>
                            <a:srgbClr val="1F2A37"/>
                          </a:solidFill>
                          <a:latin typeface="Meiryo" pitchFamily="34" charset="0"/>
                          <a:ea typeface="Meiryo" pitchFamily="34" charset="-122"/>
                          <a:cs typeface="Meiryo" pitchFamily="34" charset="-120"/>
                        </a:rPr>
                        <a:t>変わること</a:t>
                      </a:r>
                      <a:endParaRPr lang="en-US" sz="1300" dirty="0">
                        <a:latin typeface="Meiryo" charset="0"/>
                        <a:ea typeface="Meiryo" charset="0"/>
                        <a:cs typeface="Meiryo" charset="0"/>
                      </a:endParaRPr>
                    </a:p>
                  </a:txBody>
                  <a:tcPr marL="91440" marR="91440" marT="91440" marB="9144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F1F4F7"/>
                    </a:solidFill>
                  </a:tcPr>
                </a:tc>
                <a:tc>
                  <a:txBody>
                    <a:bodyPr/>
                    <a:lstStyle/>
                    <a:p>
                      <a:pPr indent="0" marL="0">
                        <a:buNone/>
                      </a:pPr>
                      <a:r>
                        <a:rPr lang="en-US" sz="1300" b="1" dirty="0">
                          <a:solidFill>
                            <a:srgbClr val="1F2A37"/>
                          </a:solidFill>
                          <a:latin typeface="Meiryo" pitchFamily="34" charset="0"/>
                          <a:ea typeface="Meiryo" pitchFamily="34" charset="-122"/>
                          <a:cs typeface="Meiryo" pitchFamily="34" charset="-120"/>
                        </a:rPr>
                        <a:t>指標</a:t>
                      </a:r>
                      <a:endParaRPr lang="en-US" sz="1300" dirty="0">
                        <a:latin typeface="Meiryo" charset="0"/>
                        <a:ea typeface="Meiryo" charset="0"/>
                        <a:cs typeface="Meiryo" charset="0"/>
                      </a:endParaRPr>
                    </a:p>
                  </a:txBody>
                  <a:tcPr marL="91440" marR="91440" marT="91440" marB="9144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F1F4F7"/>
                    </a:solidFill>
                  </a:tcPr>
                </a:tc>
              </a:tr>
              <a:tr h="502920">
                <a:tc>
                  <a:txBody>
                    <a:bodyPr/>
                    <a:lstStyle/>
                    <a:p>
                      <a:pPr indent="0" marL="0">
                        <a:buNone/>
                      </a:pPr>
                      <a:r>
                        <a:rPr lang="en-US" sz="1300" dirty="0">
                          <a:solidFill>
                            <a:srgbClr val="1F2A37"/>
                          </a:solidFill>
                          <a:latin typeface="Meiryo" pitchFamily="34" charset="0"/>
                          <a:ea typeface="Meiryo" pitchFamily="34" charset="-122"/>
                          <a:cs typeface="Meiryo" pitchFamily="34" charset="-120"/>
                        </a:rPr>
                        <a:t>受付を逃さないので、手術が繁殖期に間に合う</a:t>
                      </a:r>
                      <a:endParaRPr lang="en-US" sz="1300" dirty="0">
                        <a:latin typeface="Meiryo" charset="0"/>
                        <a:ea typeface="Meiryo" charset="0"/>
                        <a:cs typeface="Meiryo" charset="0"/>
                      </a:endParaRPr>
                    </a:p>
                  </a:txBody>
                  <a:tcPr marL="91440" marR="91440" marT="91440" marB="9144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indent="0" marL="0">
                        <a:buNone/>
                      </a:pPr>
                      <a:r>
                        <a:rPr lang="en-US" sz="1300" dirty="0">
                          <a:solidFill>
                            <a:srgbClr val="1F2A37"/>
                          </a:solidFill>
                          <a:latin typeface="Meiryo" pitchFamily="34" charset="0"/>
                          <a:ea typeface="Meiryo" pitchFamily="34" charset="-122"/>
                          <a:cs typeface="Meiryo" pitchFamily="34" charset="-120"/>
                        </a:rPr>
                        <a:t>申請から手術までの日数</a:t>
                      </a:r>
                      <a:endParaRPr lang="en-US" sz="1300" dirty="0">
                        <a:latin typeface="Meiryo" charset="0"/>
                        <a:ea typeface="Meiryo" charset="0"/>
                        <a:cs typeface="Meiryo" charset="0"/>
                      </a:endParaRPr>
                    </a:p>
                  </a:txBody>
                  <a:tcPr marL="91440" marR="91440" marT="91440" marB="9144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r>
              <a:tr h="502920">
                <a:tc>
                  <a:txBody>
                    <a:bodyPr/>
                    <a:lstStyle/>
                    <a:p>
                      <a:pPr indent="0" marL="0">
                        <a:buNone/>
                      </a:pPr>
                      <a:r>
                        <a:rPr lang="en-US" sz="1300" dirty="0">
                          <a:solidFill>
                            <a:srgbClr val="1F2A37"/>
                          </a:solidFill>
                          <a:latin typeface="Meiryo" pitchFamily="34" charset="0"/>
                          <a:ea typeface="Meiryo" pitchFamily="34" charset="-122"/>
                          <a:cs typeface="Meiryo" pitchFamily="34" charset="-120"/>
                        </a:rPr>
                        <a:t>報告・更新を落とさない</a:t>
                      </a:r>
                      <a:endParaRPr lang="en-US" sz="1300" dirty="0">
                        <a:latin typeface="Meiryo" charset="0"/>
                        <a:ea typeface="Meiryo" charset="0"/>
                        <a:cs typeface="Meiryo" charset="0"/>
                      </a:endParaRPr>
                    </a:p>
                  </a:txBody>
                  <a:tcPr marL="91440" marR="91440" marT="91440" marB="9144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indent="0" marL="0">
                        <a:buNone/>
                      </a:pPr>
                      <a:r>
                        <a:rPr lang="en-US" sz="1300" dirty="0">
                          <a:solidFill>
                            <a:srgbClr val="1F2A37"/>
                          </a:solidFill>
                          <a:latin typeface="Meiryo" pitchFamily="34" charset="0"/>
                          <a:ea typeface="Meiryo" pitchFamily="34" charset="-122"/>
                          <a:cs typeface="Meiryo" pitchFamily="34" charset="-120"/>
                        </a:rPr>
                        <a:t>登録の継続率（職権抹消の減少）</a:t>
                      </a:r>
                      <a:endParaRPr lang="en-US" sz="1300" dirty="0">
                        <a:latin typeface="Meiryo" charset="0"/>
                        <a:ea typeface="Meiryo" charset="0"/>
                        <a:cs typeface="Meiryo" charset="0"/>
                      </a:endParaRPr>
                    </a:p>
                  </a:txBody>
                  <a:tcPr marL="91440" marR="91440" marT="91440" marB="9144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r>
              <a:tr h="502920">
                <a:tc>
                  <a:txBody>
                    <a:bodyPr/>
                    <a:lstStyle/>
                    <a:p>
                      <a:pPr indent="0" marL="0">
                        <a:buNone/>
                      </a:pPr>
                      <a:r>
                        <a:rPr lang="en-US" sz="1300" dirty="0">
                          <a:solidFill>
                            <a:srgbClr val="1F2A37"/>
                          </a:solidFill>
                          <a:latin typeface="Meiryo" pitchFamily="34" charset="0"/>
                          <a:ea typeface="Meiryo" pitchFamily="34" charset="-122"/>
                          <a:cs typeface="Meiryo" pitchFamily="34" charset="-120"/>
                        </a:rPr>
                        <a:t>担い手が代わっても市に情報が残る</a:t>
                      </a:r>
                      <a:endParaRPr lang="en-US" sz="1300" dirty="0">
                        <a:latin typeface="Meiryo" charset="0"/>
                        <a:ea typeface="Meiryo" charset="0"/>
                        <a:cs typeface="Meiryo" charset="0"/>
                      </a:endParaRPr>
                    </a:p>
                  </a:txBody>
                  <a:tcPr marL="91440" marR="91440" marT="91440" marB="9144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indent="0" marL="0">
                        <a:buNone/>
                      </a:pPr>
                      <a:r>
                        <a:rPr lang="en-US" sz="1300" dirty="0">
                          <a:solidFill>
                            <a:srgbClr val="1F2A37"/>
                          </a:solidFill>
                          <a:latin typeface="Meiryo" pitchFamily="34" charset="0"/>
                          <a:ea typeface="Meiryo" pitchFamily="34" charset="-122"/>
                          <a:cs typeface="Meiryo" pitchFamily="34" charset="-120"/>
                        </a:rPr>
                        <a:t>引継ぎ後に活動が継続した地域数</a:t>
                      </a:r>
                      <a:endParaRPr lang="en-US" sz="1300" dirty="0">
                        <a:latin typeface="Meiryo" charset="0"/>
                        <a:ea typeface="Meiryo" charset="0"/>
                        <a:cs typeface="Meiryo" charset="0"/>
                      </a:endParaRPr>
                    </a:p>
                  </a:txBody>
                  <a:tcPr marL="91440" marR="91440" marT="91440" marB="9144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r>
              <a:tr h="502920">
                <a:tc>
                  <a:txBody>
                    <a:bodyPr/>
                    <a:lstStyle/>
                    <a:p>
                      <a:pPr indent="0" marL="0">
                        <a:buNone/>
                      </a:pPr>
                      <a:r>
                        <a:rPr lang="en-US" sz="1300" dirty="0">
                          <a:solidFill>
                            <a:srgbClr val="1F2A37"/>
                          </a:solidFill>
                          <a:latin typeface="Meiryo" pitchFamily="34" charset="0"/>
                          <a:ea typeface="Meiryo" pitchFamily="34" charset="-122"/>
                          <a:cs typeface="Meiryo" pitchFamily="34" charset="-120"/>
                        </a:rPr>
                        <a:t>市は不備のない申請だけ受ける</a:t>
                      </a:r>
                      <a:endParaRPr lang="en-US" sz="1300" dirty="0">
                        <a:latin typeface="Meiryo" charset="0"/>
                        <a:ea typeface="Meiryo" charset="0"/>
                        <a:cs typeface="Meiryo" charset="0"/>
                      </a:endParaRPr>
                    </a:p>
                  </a:txBody>
                  <a:tcPr marL="91440" marR="91440" marT="91440" marB="9144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indent="0" marL="0">
                        <a:buNone/>
                      </a:pPr>
                      <a:r>
                        <a:rPr lang="en-US" sz="1300" dirty="0">
                          <a:solidFill>
                            <a:srgbClr val="1F2A37"/>
                          </a:solidFill>
                          <a:latin typeface="Meiryo" pitchFamily="34" charset="0"/>
                          <a:ea typeface="Meiryo" pitchFamily="34" charset="-122"/>
                          <a:cs typeface="Meiryo" pitchFamily="34" charset="-120"/>
                        </a:rPr>
                        <a:t>センター収容の子猫数（京都市10年評価と同じ系列）</a:t>
                      </a:r>
                      <a:endParaRPr lang="en-US" sz="1300" dirty="0">
                        <a:latin typeface="Meiryo" charset="0"/>
                        <a:ea typeface="Meiryo" charset="0"/>
                        <a:cs typeface="Meiryo" charset="0"/>
                      </a:endParaRPr>
                    </a:p>
                  </a:txBody>
                  <a:tcPr marL="91440" marR="91440" marT="91440" marB="9144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r>
            </a:tbl>
          </a:graphicData>
        </a:graphic>
      </p:graphicFrame>
      <p:sp>
        <p:nvSpPr>
          <p:cNvPr id="4" name="Shape 1"/>
          <p:cNvSpPr/>
          <p:nvPr/>
        </p:nvSpPr>
        <p:spPr>
          <a:xfrm>
            <a:off x="685800" y="4114800"/>
            <a:ext cx="5257800" cy="1463040"/>
          </a:xfrm>
          <a:prstGeom prst="roundRect">
            <a:avLst>
              <a:gd name="adj" fmla="val 5000"/>
            </a:avLst>
          </a:prstGeom>
          <a:solidFill>
            <a:srgbClr val="F1F4F7"/>
          </a:solidFill>
          <a:ln w="12700">
            <a:solidFill>
              <a:srgbClr val="F1F4F7"/>
            </a:solidFill>
            <a:prstDash val="solid"/>
          </a:ln>
        </p:spPr>
      </p:sp>
      <p:sp>
        <p:nvSpPr>
          <p:cNvPr id="5" name="Text 2"/>
          <p:cNvSpPr txBox="1"/>
          <p:nvPr/>
        </p:nvSpPr>
        <p:spPr>
          <a:xfrm>
            <a:off x="868680" y="4206240"/>
            <a:ext cx="4892040" cy="1280160"/>
          </a:xfrm>
          <a:prstGeom prst="rect">
            <a:avLst/>
          </a:prstGeom>
          <a:noFill/>
          <a:ln/>
        </p:spPr>
        <p:txBody>
          <a:bodyPr wrap="square" lIns="0" tIns="0" rIns="0" bIns="0" rtlCol="0" anchor="t"/>
          <a:lstStyle/>
          <a:p>
            <a:pPr algn="l" indent="0" marL="0">
              <a:lnSpc>
                <a:spcPct val="125000"/>
              </a:lnSpc>
              <a:buNone/>
            </a:pPr>
            <a:r>
              <a:rPr lang="en-US" sz="1100" b="1" dirty="0">
                <a:solidFill>
                  <a:srgbClr val="1F2A37"/>
                </a:solidFill>
                <a:latin typeface="Meiryo" pitchFamily="34" charset="0"/>
                <a:ea typeface="Meiryo" pitchFamily="34" charset="-122"/>
                <a:cs typeface="Meiryo" pitchFamily="34" charset="-120"/>
              </a:rPr>
              <a:t>測れない指標は置かない。</a:t>
            </a:r>
            <a:pPr algn="l" indent="0" marL="0">
              <a:lnSpc>
                <a:spcPct val="125000"/>
              </a:lnSpc>
              <a:buNone/>
            </a:pPr>
            <a:r>
              <a:rPr lang="en-US" sz="1100" dirty="0">
                <a:solidFill>
                  <a:srgbClr val="1F2A37"/>
                </a:solidFill>
                <a:latin typeface="Meiryo" pitchFamily="34" charset="0"/>
                <a:ea typeface="Meiryo" pitchFamily="34" charset="-122"/>
                <a:cs typeface="Meiryo" pitchFamily="34" charset="-120"/>
              </a:rPr>
              <a:t>「生まれる子猫の数」は測れないので、市が公表しているセンター収容数を使う。事業の効果（収容減・苦情減）をツールの効果として語らない。ツールは事業を速く広く回せるようにするまで。</a:t>
            </a:r>
            <a:endParaRPr lang="en-US" sz="1100" dirty="0"/>
          </a:p>
        </p:txBody>
      </p:sp>
      <p:sp>
        <p:nvSpPr>
          <p:cNvPr id="6" name="Shape 3"/>
          <p:cNvSpPr/>
          <p:nvPr/>
        </p:nvSpPr>
        <p:spPr>
          <a:xfrm>
            <a:off x="6263640" y="4114800"/>
            <a:ext cx="5257800" cy="1463040"/>
          </a:xfrm>
          <a:prstGeom prst="roundRect">
            <a:avLst>
              <a:gd name="adj" fmla="val 5000"/>
            </a:avLst>
          </a:prstGeom>
          <a:solidFill>
            <a:srgbClr val="F1F4F7"/>
          </a:solidFill>
          <a:ln w="12700">
            <a:solidFill>
              <a:srgbClr val="F1F4F7"/>
            </a:solidFill>
            <a:prstDash val="solid"/>
          </a:ln>
        </p:spPr>
      </p:sp>
      <p:sp>
        <p:nvSpPr>
          <p:cNvPr id="7" name="Text 4"/>
          <p:cNvSpPr txBox="1"/>
          <p:nvPr/>
        </p:nvSpPr>
        <p:spPr>
          <a:xfrm>
            <a:off x="6446520" y="4206240"/>
            <a:ext cx="4892040" cy="1280160"/>
          </a:xfrm>
          <a:prstGeom prst="rect">
            <a:avLst/>
          </a:prstGeom>
          <a:noFill/>
          <a:ln/>
        </p:spPr>
        <p:txBody>
          <a:bodyPr wrap="square" lIns="0" tIns="0" rIns="0" bIns="0" rtlCol="0" anchor="t"/>
          <a:lstStyle/>
          <a:p>
            <a:pPr algn="l" indent="0" marL="0">
              <a:lnSpc>
                <a:spcPct val="125000"/>
              </a:lnSpc>
              <a:buNone/>
            </a:pPr>
            <a:r>
              <a:rPr lang="en-US" sz="1100" b="1" dirty="0">
                <a:solidFill>
                  <a:srgbClr val="1F2A37"/>
                </a:solidFill>
                <a:latin typeface="Meiryo" pitchFamily="34" charset="0"/>
                <a:ea typeface="Meiryo" pitchFamily="34" charset="-122"/>
                <a:cs typeface="Meiryo" pitchFamily="34" charset="-120"/>
              </a:rPr>
              <a:t>規則で決まる待ちはツールでは消せない。</a:t>
            </a:r>
            <a:pPr algn="l" indent="0" marL="0">
              <a:lnSpc>
                <a:spcPct val="125000"/>
              </a:lnSpc>
              <a:buNone/>
            </a:pPr>
            <a:r>
              <a:rPr lang="en-US" sz="1100" dirty="0">
                <a:solidFill>
                  <a:srgbClr val="1F2A37"/>
                </a:solidFill>
                <a:latin typeface="Meiryo" pitchFamily="34" charset="0"/>
                <a:ea typeface="Meiryo" pitchFamily="34" charset="-122"/>
                <a:cs typeface="Meiryo" pitchFamily="34" charset="-120"/>
              </a:rPr>
              <a:t>消せるのは、受付を逃す・報告を落とす・書類の不備で戻される、の3つ。高島市の規則では受付を1回逃すと有効月が1か月遅れる（12ページ）。</a:t>
            </a:r>
            <a:endParaRPr lang="en-US" sz="1100" dirty="0"/>
          </a:p>
        </p:txBody>
      </p:sp>
      <p:sp>
        <p:nvSpPr>
          <p:cNvPr id="8" name="Text 5"/>
          <p:cNvSpPr txBox="1"/>
          <p:nvPr/>
        </p:nvSpPr>
        <p:spPr>
          <a:xfrm>
            <a:off x="685800" y="6446520"/>
            <a:ext cx="10268712" cy="274320"/>
          </a:xfrm>
          <a:prstGeom prst="rect">
            <a:avLst/>
          </a:prstGeom>
          <a:noFill/>
          <a:ln/>
        </p:spPr>
        <p:txBody>
          <a:bodyPr wrap="square" lIns="0" tIns="0" rIns="0" bIns="0" rtlCol="0" anchor="ctr"/>
          <a:lstStyle/>
          <a:p>
            <a:pPr indent="0" marL="0">
              <a:buNone/>
            </a:pPr>
            <a:endParaRPr lang="en-US" sz="800" dirty="0"/>
          </a:p>
        </p:txBody>
      </p:sp>
      <p:sp>
        <p:nvSpPr>
          <p:cNvPr id="9" name="Text 6"/>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640080"/>
          </a:xfrm>
          <a:prstGeom prst="rect">
            <a:avLst/>
          </a:prstGeom>
          <a:noFill/>
          <a:ln/>
        </p:spPr>
        <p:txBody>
          <a:bodyPr wrap="square" lIns="0" tIns="0" rIns="0" bIns="0" rtlCol="0" anchor="t"/>
          <a:lstStyle/>
          <a:p>
            <a:pPr indent="0" marL="0">
              <a:lnSpc>
                <a:spcPct val="115000"/>
              </a:lnSpc>
              <a:buNone/>
            </a:pPr>
            <a:r>
              <a:rPr lang="en-US" sz="2400" b="1" dirty="0">
                <a:solidFill>
                  <a:srgbClr val="1F2A37"/>
                </a:solidFill>
                <a:latin typeface="Meiryo" pitchFamily="34" charset="0"/>
                <a:ea typeface="Meiryo" pitchFamily="34" charset="-122"/>
                <a:cs typeface="Meiryo" pitchFamily="34" charset="-120"/>
              </a:rPr>
              <a:t>京都市で立ち上げ、動物病院と苦情窓口から担い手に届ける。</a:t>
            </a:r>
            <a:endParaRPr lang="en-US" sz="2400" dirty="0"/>
          </a:p>
        </p:txBody>
      </p:sp>
      <p:sp>
        <p:nvSpPr>
          <p:cNvPr id="3" name="Text 1"/>
          <p:cNvSpPr txBox="1"/>
          <p:nvPr/>
        </p:nvSpPr>
        <p:spPr>
          <a:xfrm>
            <a:off x="685800" y="1371600"/>
            <a:ext cx="6035040" cy="3840480"/>
          </a:xfrm>
          <a:prstGeom prst="rect">
            <a:avLst/>
          </a:prstGeom>
          <a:noFill/>
          <a:ln/>
        </p:spPr>
        <p:txBody>
          <a:bodyPr wrap="square" lIns="0" tIns="0" rIns="0" bIns="0" rtlCol="0" anchor="t"/>
          <a:lstStyle/>
          <a:p>
            <a:pPr marL="342900" indent="-342900">
              <a:lnSpc>
                <a:spcPct val="120000"/>
              </a:lnSpc>
              <a:spcAft>
                <a:spcPts val="800"/>
              </a:spcAft>
              <a:buSzPct val="100000"/>
              <a:buChar char="•"/>
            </a:pPr>
            <a:r>
              <a:rPr lang="en-US" sz="1300" dirty="0">
                <a:solidFill>
                  <a:srgbClr val="1F2A37"/>
                </a:solidFill>
                <a:latin typeface="Meiryo" pitchFamily="34" charset="0"/>
                <a:ea typeface="Meiryo" pitchFamily="34" charset="-122"/>
                <a:cs typeface="Meiryo" pitchFamily="34" charset="-120"/>
              </a:rPr>
              <a:t>場所：京都市。要綱・様式・記載例が公開され、10年分の実績があり、市が活動地域数の横ばいを課題として書いている。</a:t>
            </a:r>
            <a:endParaRPr lang="en-US" sz="1300" dirty="0"/>
          </a:p>
          <a:p>
            <a:pPr marL="342900" indent="-342900">
              <a:lnSpc>
                <a:spcPct val="120000"/>
              </a:lnSpc>
              <a:spcAft>
                <a:spcPts val="800"/>
              </a:spcAft>
              <a:buSzPct val="100000"/>
              <a:buChar char="•"/>
            </a:pPr>
            <a:r>
              <a:rPr lang="en-US" sz="1300" dirty="0">
                <a:solidFill>
                  <a:srgbClr val="1F2A37"/>
                </a:solidFill>
                <a:latin typeface="Meiryo" pitchFamily="34" charset="0"/>
                <a:ea typeface="Meiryo" pitchFamily="34" charset="-122"/>
                <a:cs typeface="Meiryo" pitchFamily="34" charset="-120"/>
              </a:rPr>
              <a:t>払い手：市の既存予算（手術無償化・保護器貸出・助言）の事務コスト。新規予算ではない。</a:t>
            </a:r>
            <a:endParaRPr lang="en-US" sz="1300" dirty="0"/>
          </a:p>
          <a:p>
            <a:pPr marL="342900" indent="-342900">
              <a:lnSpc>
                <a:spcPct val="120000"/>
              </a:lnSpc>
              <a:spcAft>
                <a:spcPts val="800"/>
              </a:spcAft>
              <a:buSzPct val="100000"/>
              <a:buChar char="•"/>
            </a:pPr>
            <a:r>
              <a:rPr lang="en-US" sz="1300" dirty="0">
                <a:solidFill>
                  <a:srgbClr val="1F2A37"/>
                </a:solidFill>
                <a:latin typeface="Meiryo" pitchFamily="34" charset="0"/>
                <a:ea typeface="Meiryo" pitchFamily="34" charset="-122"/>
                <a:cs typeface="Meiryo" pitchFamily="34" charset="-120"/>
              </a:rPr>
              <a:t>届け方：制度を知らない担い手が既に現れている場所に置く。①動物病院（京都市獣医師会はまちねこ活動をサポートすると明言）②苦情窓口（苦情の裏には餌やりの人がいる）。</a:t>
            </a:r>
            <a:endParaRPr lang="en-US" sz="1300" dirty="0"/>
          </a:p>
          <a:p>
            <a:pPr marL="342900" indent="-342900">
              <a:lnSpc>
                <a:spcPct val="120000"/>
              </a:lnSpc>
              <a:spcAft>
                <a:spcPts val="800"/>
              </a:spcAft>
              <a:buSzPct val="100000"/>
              <a:buChar char="•"/>
            </a:pPr>
            <a:r>
              <a:rPr lang="en-US" sz="1300" dirty="0">
                <a:solidFill>
                  <a:srgbClr val="1F2A37"/>
                </a:solidFill>
                <a:latin typeface="Meiryo" pitchFamily="34" charset="0"/>
                <a:ea typeface="Meiryo" pitchFamily="34" charset="-122"/>
                <a:cs typeface="Meiryo" pitchFamily="34" charset="-120"/>
              </a:rPr>
              <a:t>段階：京都市1自治体で継続率と日数を測る → 基金型自治体（高島市）にプロファイルを追加 → 協働自治体へ。</a:t>
            </a:r>
            <a:endParaRPr lang="en-US" sz="1300" dirty="0"/>
          </a:p>
        </p:txBody>
      </p:sp>
      <p:sp>
        <p:nvSpPr>
          <p:cNvPr id="4" name="Text 2"/>
          <p:cNvSpPr txBox="1"/>
          <p:nvPr/>
        </p:nvSpPr>
        <p:spPr>
          <a:xfrm>
            <a:off x="7315200" y="1463040"/>
            <a:ext cx="4206240" cy="274320"/>
          </a:xfrm>
          <a:prstGeom prst="rect">
            <a:avLst/>
          </a:prstGeom>
          <a:noFill/>
          <a:ln/>
        </p:spPr>
        <p:txBody>
          <a:bodyPr wrap="square" lIns="0" tIns="0" rIns="0" bIns="0" rtlCol="0" anchor="t"/>
          <a:lstStyle/>
          <a:p>
            <a:pPr algn="l" indent="0" marL="0">
              <a:lnSpc>
                <a:spcPct val="125000"/>
              </a:lnSpc>
              <a:buNone/>
            </a:pPr>
            <a:r>
              <a:rPr lang="en-US" sz="1000" dirty="0">
                <a:solidFill>
                  <a:srgbClr val="5B6570"/>
                </a:solidFill>
                <a:latin typeface="Meiryo" pitchFamily="34" charset="0"/>
                <a:ea typeface="Meiryo" pitchFamily="34" charset="-122"/>
                <a:cs typeface="Meiryo" pitchFamily="34" charset="-120"/>
              </a:rPr>
              <a:t>プロファイル（要綱一式）を足すだけ。エンジンは共通。</a:t>
            </a:r>
            <a:endParaRPr lang="en-US" sz="1000" dirty="0"/>
          </a:p>
        </p:txBody>
      </p:sp>
      <p:sp>
        <p:nvSpPr>
          <p:cNvPr id="5" name="Shape 3"/>
          <p:cNvSpPr/>
          <p:nvPr/>
        </p:nvSpPr>
        <p:spPr>
          <a:xfrm>
            <a:off x="7315200" y="3840480"/>
            <a:ext cx="1325880" cy="777240"/>
          </a:xfrm>
          <a:prstGeom prst="roundRect">
            <a:avLst>
              <a:gd name="adj" fmla="val 7059"/>
            </a:avLst>
          </a:prstGeom>
          <a:solidFill>
            <a:srgbClr val="1F2A37"/>
          </a:solidFill>
          <a:ln w="12700">
            <a:solidFill>
              <a:srgbClr val="1F2A37"/>
            </a:solidFill>
            <a:prstDash val="solid"/>
          </a:ln>
        </p:spPr>
      </p:sp>
      <p:sp>
        <p:nvSpPr>
          <p:cNvPr id="6" name="Text 4"/>
          <p:cNvSpPr txBox="1"/>
          <p:nvPr/>
        </p:nvSpPr>
        <p:spPr>
          <a:xfrm>
            <a:off x="7315200" y="3840480"/>
            <a:ext cx="1325880" cy="77724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京都市</a:t>
            </a:r>
            <a:endParaRPr lang="en-US" sz="1200" dirty="0"/>
          </a:p>
          <a:p>
            <a:pPr algn="ctr" indent="0" marL="0">
              <a:buNone/>
            </a:pPr>
            <a:r>
              <a:rPr lang="en-US" sz="900" dirty="0">
                <a:solidFill>
                  <a:srgbClr val="AAB4BE"/>
                </a:solidFill>
                <a:latin typeface="Meiryo" pitchFamily="34" charset="0"/>
                <a:ea typeface="Meiryo" pitchFamily="34" charset="-122"/>
                <a:cs typeface="Meiryo" pitchFamily="34" charset="-120"/>
              </a:rPr>
              <a:t>登録型・実装済</a:t>
            </a:r>
            <a:endParaRPr lang="en-US" sz="1200" dirty="0"/>
          </a:p>
        </p:txBody>
      </p:sp>
      <p:sp>
        <p:nvSpPr>
          <p:cNvPr id="7" name="Shape 5"/>
          <p:cNvSpPr/>
          <p:nvPr/>
        </p:nvSpPr>
        <p:spPr>
          <a:xfrm>
            <a:off x="8778240" y="2926080"/>
            <a:ext cx="1325880" cy="777240"/>
          </a:xfrm>
          <a:prstGeom prst="roundRect">
            <a:avLst>
              <a:gd name="adj" fmla="val 7059"/>
            </a:avLst>
          </a:prstGeom>
          <a:solidFill>
            <a:srgbClr val="3B4A5A"/>
          </a:solidFill>
          <a:ln w="12700">
            <a:solidFill>
              <a:srgbClr val="3B4A5A"/>
            </a:solidFill>
            <a:prstDash val="solid"/>
          </a:ln>
        </p:spPr>
      </p:sp>
      <p:sp>
        <p:nvSpPr>
          <p:cNvPr id="8" name="Text 6"/>
          <p:cNvSpPr txBox="1"/>
          <p:nvPr/>
        </p:nvSpPr>
        <p:spPr>
          <a:xfrm>
            <a:off x="8778240" y="2926080"/>
            <a:ext cx="1325880" cy="77724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高島市</a:t>
            </a:r>
            <a:endParaRPr lang="en-US" sz="1200" dirty="0"/>
          </a:p>
          <a:p>
            <a:pPr algn="ctr" indent="0" marL="0">
              <a:buNone/>
            </a:pPr>
            <a:r>
              <a:rPr lang="en-US" sz="900" dirty="0">
                <a:solidFill>
                  <a:srgbClr val="AAB4BE"/>
                </a:solidFill>
                <a:latin typeface="Meiryo" pitchFamily="34" charset="0"/>
                <a:ea typeface="Meiryo" pitchFamily="34" charset="-122"/>
                <a:cs typeface="Meiryo" pitchFamily="34" charset="-120"/>
              </a:rPr>
              <a:t>基金チケット型・実装済</a:t>
            </a:r>
            <a:endParaRPr lang="en-US" sz="1200" dirty="0"/>
          </a:p>
        </p:txBody>
      </p:sp>
      <p:sp>
        <p:nvSpPr>
          <p:cNvPr id="9" name="Shape 7"/>
          <p:cNvSpPr/>
          <p:nvPr/>
        </p:nvSpPr>
        <p:spPr>
          <a:xfrm>
            <a:off x="10241280" y="2011680"/>
            <a:ext cx="1325880" cy="777240"/>
          </a:xfrm>
          <a:prstGeom prst="roundRect">
            <a:avLst>
              <a:gd name="adj" fmla="val 7059"/>
            </a:avLst>
          </a:prstGeom>
          <a:solidFill>
            <a:srgbClr val="F1F4F7"/>
          </a:solidFill>
          <a:ln w="12700">
            <a:solidFill>
              <a:srgbClr val="C9D1D9"/>
            </a:solidFill>
            <a:prstDash val="dash"/>
          </a:ln>
        </p:spPr>
      </p:sp>
      <p:sp>
        <p:nvSpPr>
          <p:cNvPr id="10" name="Text 8"/>
          <p:cNvSpPr txBox="1"/>
          <p:nvPr/>
        </p:nvSpPr>
        <p:spPr>
          <a:xfrm>
            <a:off x="10241280" y="2011680"/>
            <a:ext cx="1325880" cy="777240"/>
          </a:xfrm>
          <a:prstGeom prst="rect">
            <a:avLst/>
          </a:prstGeom>
          <a:noFill/>
          <a:ln/>
        </p:spPr>
        <p:txBody>
          <a:bodyPr wrap="square" lIns="635" tIns="635" rIns="635" bIns="635" rtlCol="0" anchor="ctr"/>
          <a:lstStyle/>
          <a:p>
            <a:pPr algn="ctr" indent="0" marL="0">
              <a:buNone/>
            </a:pPr>
            <a:r>
              <a:rPr lang="en-US" sz="1200" b="1" dirty="0">
                <a:solidFill>
                  <a:srgbClr val="1F2A37"/>
                </a:solidFill>
                <a:latin typeface="Meiryo" pitchFamily="34" charset="0"/>
                <a:ea typeface="Meiryo" pitchFamily="34" charset="-122"/>
                <a:cs typeface="Meiryo" pitchFamily="34" charset="-120"/>
              </a:rPr>
              <a:t>協働自治体</a:t>
            </a:r>
            <a:endParaRPr lang="en-US" sz="1200" dirty="0"/>
          </a:p>
          <a:p>
            <a:pPr algn="ctr" indent="0" marL="0">
              <a:buNone/>
            </a:pPr>
            <a:r>
              <a:rPr lang="en-US" sz="900" dirty="0">
                <a:solidFill>
                  <a:srgbClr val="5B6570"/>
                </a:solidFill>
                <a:latin typeface="Meiryo" pitchFamily="34" charset="0"/>
                <a:ea typeface="Meiryo" pitchFamily="34" charset="-122"/>
                <a:cs typeface="Meiryo" pitchFamily="34" charset="-120"/>
              </a:rPr>
              <a:t>298（2022年度）</a:t>
            </a:r>
            <a:endParaRPr lang="en-US" sz="1200" dirty="0"/>
          </a:p>
        </p:txBody>
      </p:sp>
      <p:sp>
        <p:nvSpPr>
          <p:cNvPr id="11" name="Shape 9"/>
          <p:cNvSpPr/>
          <p:nvPr/>
        </p:nvSpPr>
        <p:spPr>
          <a:xfrm>
            <a:off x="8641080" y="4206240"/>
            <a:ext cx="137160" cy="914"/>
          </a:xfrm>
          <a:prstGeom prst="line">
            <a:avLst/>
          </a:prstGeom>
          <a:noFill/>
          <a:ln w="19050">
            <a:solidFill>
              <a:srgbClr val="5B6570"/>
            </a:solidFill>
            <a:prstDash val="solid"/>
            <a:tailEnd type="triangle"/>
          </a:ln>
        </p:spPr>
      </p:sp>
      <p:sp>
        <p:nvSpPr>
          <p:cNvPr id="12" name="Shape 10"/>
          <p:cNvSpPr/>
          <p:nvPr/>
        </p:nvSpPr>
        <p:spPr>
          <a:xfrm>
            <a:off x="10104120" y="3291840"/>
            <a:ext cx="137160" cy="914"/>
          </a:xfrm>
          <a:prstGeom prst="line">
            <a:avLst/>
          </a:prstGeom>
          <a:noFill/>
          <a:ln w="19050">
            <a:solidFill>
              <a:srgbClr val="5B6570"/>
            </a:solidFill>
            <a:prstDash val="solid"/>
            <a:tailEnd type="triangle"/>
          </a:ln>
        </p:spPr>
      </p:sp>
      <p:sp>
        <p:nvSpPr>
          <p:cNvPr id="13" name="Text 11"/>
          <p:cNvSpPr txBox="1"/>
          <p:nvPr/>
        </p:nvSpPr>
        <p:spPr>
          <a:xfrm>
            <a:off x="685800" y="6446520"/>
            <a:ext cx="10268712" cy="274320"/>
          </a:xfrm>
          <a:prstGeom prst="rect">
            <a:avLst/>
          </a:prstGeom>
          <a:noFill/>
          <a:ln/>
        </p:spPr>
        <p:txBody>
          <a:bodyPr wrap="square" lIns="0" tIns="0" rIns="0" bIns="0" rtlCol="0" anchor="ctr"/>
          <a:lstStyle/>
          <a:p>
            <a:pPr indent="0" marL="0">
              <a:buNone/>
            </a:pPr>
            <a:r>
              <a:rPr lang="en-US" sz="800" dirty="0">
                <a:solidFill>
                  <a:srgbClr val="7A8590"/>
                </a:solidFill>
                <a:latin typeface="Meiryo" pitchFamily="34" charset="0"/>
                <a:ea typeface="Meiryo" pitchFamily="34" charset="-122"/>
                <a:cs typeface="Meiryo" pitchFamily="34" charset="-120"/>
              </a:rPr>
              <a:t>出典：京都市獣医師会 まちねこページ／京都市10年評価／どうぶつ基金 2022年度実績</a:t>
            </a:r>
            <a:endParaRPr lang="en-US" sz="800" dirty="0"/>
          </a:p>
        </p:txBody>
      </p:sp>
      <p:sp>
        <p:nvSpPr>
          <p:cNvPr id="14" name="Text 12"/>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640080"/>
          </a:xfrm>
          <a:prstGeom prst="rect">
            <a:avLst/>
          </a:prstGeom>
          <a:noFill/>
          <a:ln/>
        </p:spPr>
        <p:txBody>
          <a:bodyPr wrap="square" lIns="0" tIns="0" rIns="0" bIns="0" rtlCol="0" anchor="t"/>
          <a:lstStyle/>
          <a:p>
            <a:pPr indent="0" marL="0">
              <a:lnSpc>
                <a:spcPct val="115000"/>
              </a:lnSpc>
              <a:buNone/>
            </a:pPr>
            <a:r>
              <a:rPr lang="en-US" sz="2400" b="1" dirty="0">
                <a:solidFill>
                  <a:srgbClr val="1F2A37"/>
                </a:solidFill>
                <a:latin typeface="Meiryo" pitchFamily="34" charset="0"/>
                <a:ea typeface="Meiryo" pitchFamily="34" charset="-122"/>
                <a:cs typeface="Meiryo" pitchFamily="34" charset="-120"/>
              </a:rPr>
              <a:t>自治体プロファイルを差し替えるだけで、要綱で動く制度すべてに同じエンジンが使える。</a:t>
            </a:r>
            <a:endParaRPr lang="en-US" sz="2400" dirty="0"/>
          </a:p>
        </p:txBody>
      </p:sp>
      <p:sp>
        <p:nvSpPr>
          <p:cNvPr id="3" name="Text 1"/>
          <p:cNvSpPr txBox="1"/>
          <p:nvPr/>
        </p:nvSpPr>
        <p:spPr>
          <a:xfrm>
            <a:off x="685800" y="1371600"/>
            <a:ext cx="4937760" cy="4114800"/>
          </a:xfrm>
          <a:prstGeom prst="rect">
            <a:avLst/>
          </a:prstGeom>
          <a:noFill/>
          <a:ln/>
        </p:spPr>
        <p:txBody>
          <a:bodyPr wrap="square" lIns="0" tIns="0" rIns="0" bIns="0" rtlCol="0" anchor="t"/>
          <a:lstStyle/>
          <a:p>
            <a:pPr marL="342900" indent="-342900">
              <a:lnSpc>
                <a:spcPct val="120000"/>
              </a:lnSpc>
              <a:spcAft>
                <a:spcPts val="800"/>
              </a:spcAft>
              <a:buSzPct val="100000"/>
              <a:buChar char="•"/>
            </a:pPr>
            <a:r>
              <a:rPr lang="en-US" sz="1250" dirty="0">
                <a:solidFill>
                  <a:srgbClr val="1F2A37"/>
                </a:solidFill>
                <a:latin typeface="Meiryo" pitchFamily="34" charset="0"/>
                <a:ea typeface="Meiryo" pitchFamily="34" charset="-122"/>
                <a:cs typeface="Meiryo" pitchFamily="34" charset="-120"/>
              </a:rPr>
              <a:t>このエンジンが読んでいるのは「猫の要綱」ではなく「自治体が自然言語で公開している要綱と様式」。</a:t>
            </a:r>
            <a:endParaRPr lang="en-US" sz="1250" dirty="0"/>
          </a:p>
          <a:p>
            <a:pPr marL="342900" indent="-342900">
              <a:lnSpc>
                <a:spcPct val="120000"/>
              </a:lnSpc>
              <a:spcAft>
                <a:spcPts val="800"/>
              </a:spcAft>
              <a:buSzPct val="100000"/>
              <a:buChar char="•"/>
            </a:pPr>
            <a:r>
              <a:rPr lang="en-US" sz="1250" dirty="0">
                <a:solidFill>
                  <a:srgbClr val="1F2A37"/>
                </a:solidFill>
                <a:latin typeface="Meiryo" pitchFamily="34" charset="0"/>
                <a:ea typeface="Meiryo" pitchFamily="34" charset="-122"/>
                <a:cs typeface="Meiryo" pitchFamily="34" charset="-120"/>
              </a:rPr>
              <a:t>同じ形の制度は他にもある：住民が申請し、期限があり、報告と更新があり、担い手が無償で属人的なもの。</a:t>
            </a:r>
            <a:endParaRPr lang="en-US" sz="1250" dirty="0"/>
          </a:p>
          <a:p>
            <a:pPr marL="342900" indent="-342900">
              <a:lnSpc>
                <a:spcPct val="120000"/>
              </a:lnSpc>
              <a:spcAft>
                <a:spcPts val="800"/>
              </a:spcAft>
              <a:buSzPct val="100000"/>
              <a:buChar char="•"/>
            </a:pPr>
            <a:r>
              <a:rPr lang="en-US" sz="1250" dirty="0">
                <a:solidFill>
                  <a:srgbClr val="1F2A37"/>
                </a:solidFill>
                <a:latin typeface="Meiryo" pitchFamily="34" charset="0"/>
                <a:ea typeface="Meiryo" pitchFamily="34" charset="-122"/>
                <a:cs typeface="Meiryo" pitchFamily="34" charset="-120"/>
              </a:rPr>
              <a:t>猫はその中で、効果が実証済みで、担い手が最も薄く、市が障壁を認めた場所。だからここから。</a:t>
            </a:r>
            <a:endParaRPr lang="en-US" sz="1250" dirty="0"/>
          </a:p>
          <a:p>
            <a:pPr marL="342900" indent="-342900">
              <a:lnSpc>
                <a:spcPct val="120000"/>
              </a:lnSpc>
              <a:spcAft>
                <a:spcPts val="800"/>
              </a:spcAft>
              <a:buSzPct val="100000"/>
              <a:buChar char="•"/>
            </a:pPr>
            <a:r>
              <a:rPr lang="en-US" sz="1250" dirty="0">
                <a:solidFill>
                  <a:srgbClr val="1F2A37"/>
                </a:solidFill>
                <a:latin typeface="Meiryo" pitchFamily="34" charset="0"/>
                <a:ea typeface="Meiryo" pitchFamily="34" charset="-122"/>
                <a:cs typeface="Meiryo" pitchFamily="34" charset="-120"/>
              </a:rPr>
              <a:t>高島市プロファイルで確認済み：同じ入力から「毎月6日〜末日申請・翌々月チケット・写真付き報告・報告しないと次回申請不可」という別の規則と日程が出る。</a:t>
            </a:r>
            <a:endParaRPr lang="en-US" sz="1250" dirty="0"/>
          </a:p>
        </p:txBody>
      </p:sp>
      <p:pic>
        <p:nvPicPr>
          <p:cNvPr id="4" name="Image 0" descr="/home/user/VORN/docs/deck/tk_sim.jpg">    </p:cNvPr>
          <p:cNvPicPr>
            <a:picLocks noChangeAspect="1"/>
          </p:cNvPicPr>
          <p:nvPr/>
        </p:nvPicPr>
        <p:blipFill>
          <a:blip r:embed="rId1"/>
          <a:stretch>
            <a:fillRect/>
          </a:stretch>
        </p:blipFill>
        <p:spPr>
          <a:xfrm>
            <a:off x="5943600" y="1325880"/>
            <a:ext cx="5577840" cy="914400"/>
          </a:xfrm>
          <a:prstGeom prst="rect">
            <a:avLst/>
          </a:prstGeom>
        </p:spPr>
      </p:pic>
      <p:sp>
        <p:nvSpPr>
          <p:cNvPr id="5" name="Shape 2"/>
          <p:cNvSpPr/>
          <p:nvPr/>
        </p:nvSpPr>
        <p:spPr>
          <a:xfrm>
            <a:off x="5943600" y="1325880"/>
            <a:ext cx="5577840" cy="1780162"/>
          </a:xfrm>
          <a:prstGeom prst="rect">
            <a:avLst/>
          </a:prstGeom>
          <a:ln w="9525">
            <a:solidFill>
              <a:srgbClr val="D5DBE1"/>
            </a:solidFill>
            <a:prstDash val="solid"/>
          </a:ln>
        </p:spPr>
      </p:sp>
      <p:sp>
        <p:nvSpPr>
          <p:cNvPr id="6" name="Text 3"/>
          <p:cNvSpPr txBox="1"/>
          <p:nvPr/>
        </p:nvSpPr>
        <p:spPr>
          <a:xfrm>
            <a:off x="5943600" y="3151762"/>
            <a:ext cx="5577840" cy="457200"/>
          </a:xfrm>
          <a:prstGeom prst="rect">
            <a:avLst/>
          </a:prstGeom>
          <a:noFill/>
          <a:ln/>
        </p:spPr>
        <p:txBody>
          <a:bodyPr wrap="square" lIns="0" tIns="0" rIns="0" bIns="0" rtlCol="0" anchor="t"/>
          <a:lstStyle/>
          <a:p>
            <a:pPr algn="l" indent="0" marL="0">
              <a:lnSpc>
                <a:spcPct val="120000"/>
              </a:lnSpc>
              <a:buNone/>
            </a:pPr>
            <a:r>
              <a:rPr lang="en-US" sz="950" dirty="0">
                <a:solidFill>
                  <a:srgbClr val="5B6570"/>
                </a:solidFill>
                <a:latin typeface="Meiryo" pitchFamily="34" charset="0"/>
                <a:ea typeface="Meiryo" pitchFamily="34" charset="-122"/>
                <a:cs typeface="Meiryo" pitchFamily="34" charset="-120"/>
              </a:rPr>
              <a:t>高島市：準備完了日を入れると、受付期間から「最短の申請日 → チケット有効期間 → この受付を逃すと+30日」が出る。受付の値は市HPの記載から抽出し、日付の計算だけコード側。</a:t>
            </a:r>
            <a:endParaRPr lang="en-US" sz="950" dirty="0"/>
          </a:p>
        </p:txBody>
      </p:sp>
      <p:pic>
        <p:nvPicPr>
          <p:cNvPr id="7" name="Image 1" descr="/home/user/VORN/docs/deck/tk_rules_s.jpg">    </p:cNvPr>
          <p:cNvPicPr>
            <a:picLocks noChangeAspect="1"/>
          </p:cNvPicPr>
          <p:nvPr/>
        </p:nvPicPr>
        <p:blipFill>
          <a:blip r:embed="rId2"/>
          <a:stretch>
            <a:fillRect/>
          </a:stretch>
        </p:blipFill>
        <p:spPr>
          <a:xfrm>
            <a:off x="5943600" y="3654682"/>
            <a:ext cx="5577840" cy="914400"/>
          </a:xfrm>
          <a:prstGeom prst="rect">
            <a:avLst/>
          </a:prstGeom>
        </p:spPr>
      </p:pic>
      <p:sp>
        <p:nvSpPr>
          <p:cNvPr id="8" name="Shape 4"/>
          <p:cNvSpPr/>
          <p:nvPr/>
        </p:nvSpPr>
        <p:spPr>
          <a:xfrm>
            <a:off x="5943600" y="3654682"/>
            <a:ext cx="5577840" cy="1780162"/>
          </a:xfrm>
          <a:prstGeom prst="rect">
            <a:avLst/>
          </a:prstGeom>
          <a:ln w="9525">
            <a:solidFill>
              <a:srgbClr val="D5DBE1"/>
            </a:solidFill>
            <a:prstDash val="solid"/>
          </a:ln>
        </p:spPr>
      </p:sp>
      <p:sp>
        <p:nvSpPr>
          <p:cNvPr id="9" name="Text 5"/>
          <p:cNvSpPr txBox="1"/>
          <p:nvPr/>
        </p:nvSpPr>
        <p:spPr>
          <a:xfrm>
            <a:off x="5943600" y="5480563"/>
            <a:ext cx="5577840" cy="320040"/>
          </a:xfrm>
          <a:prstGeom prst="rect">
            <a:avLst/>
          </a:prstGeom>
          <a:noFill/>
          <a:ln/>
        </p:spPr>
        <p:txBody>
          <a:bodyPr wrap="square" lIns="0" tIns="0" rIns="0" bIns="0" rtlCol="0" anchor="t"/>
          <a:lstStyle/>
          <a:p>
            <a:pPr algn="l" indent="0" marL="0">
              <a:lnSpc>
                <a:spcPct val="120000"/>
              </a:lnSpc>
              <a:buNone/>
            </a:pPr>
            <a:r>
              <a:rPr lang="en-US" sz="950" dirty="0">
                <a:solidFill>
                  <a:srgbClr val="5B6570"/>
                </a:solidFill>
                <a:latin typeface="Meiryo" pitchFamily="34" charset="0"/>
                <a:ea typeface="Meiryo" pitchFamily="34" charset="-122"/>
                <a:cs typeface="Meiryo" pitchFamily="34" charset="-120"/>
              </a:rPr>
              <a:t>高島市の資料から抽出した規則に照らした判定。京都市と同じ画面、同じコード。</a:t>
            </a:r>
            <a:endParaRPr lang="en-US" sz="950" dirty="0"/>
          </a:p>
        </p:txBody>
      </p:sp>
      <p:sp>
        <p:nvSpPr>
          <p:cNvPr id="10" name="Text 6"/>
          <p:cNvSpPr txBox="1"/>
          <p:nvPr/>
        </p:nvSpPr>
        <p:spPr>
          <a:xfrm>
            <a:off x="685800" y="6446520"/>
            <a:ext cx="10268712" cy="274320"/>
          </a:xfrm>
          <a:prstGeom prst="rect">
            <a:avLst/>
          </a:prstGeom>
          <a:noFill/>
          <a:ln/>
        </p:spPr>
        <p:txBody>
          <a:bodyPr wrap="square" lIns="0" tIns="0" rIns="0" bIns="0" rtlCol="0" anchor="ctr"/>
          <a:lstStyle/>
          <a:p>
            <a:pPr indent="0" marL="0">
              <a:buNone/>
            </a:pPr>
            <a:r>
              <a:rPr lang="en-US" sz="800" dirty="0">
                <a:solidFill>
                  <a:srgbClr val="7A8590"/>
                </a:solidFill>
                <a:latin typeface="Meiryo" pitchFamily="34" charset="0"/>
                <a:ea typeface="Meiryo" pitchFamily="34" charset="-122"/>
                <a:cs typeface="Meiryo" pitchFamily="34" charset="-120"/>
              </a:rPr>
              <a:t>出典：高島市 環境政策課ページ／どうぶつ基金 チケットFAQ・登録規約</a:t>
            </a:r>
            <a:endParaRPr lang="en-US" sz="800" dirty="0"/>
          </a:p>
        </p:txBody>
      </p:sp>
      <p:sp>
        <p:nvSpPr>
          <p:cNvPr id="11" name="Text 7"/>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F2A37"/>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640080"/>
          </a:xfrm>
          <a:prstGeom prst="rect">
            <a:avLst/>
          </a:prstGeom>
          <a:noFill/>
          <a:ln/>
        </p:spPr>
        <p:txBody>
          <a:bodyPr wrap="square" lIns="0" tIns="0" rIns="0" bIns="0" rtlCol="0" anchor="t"/>
          <a:lstStyle/>
          <a:p>
            <a:pPr indent="0" marL="0">
              <a:lnSpc>
                <a:spcPct val="115000"/>
              </a:lnSpc>
              <a:buNone/>
            </a:pPr>
            <a:r>
              <a:rPr lang="en-US" sz="2400" b="1" dirty="0">
                <a:solidFill>
                  <a:srgbClr val="FFFFFF"/>
                </a:solidFill>
                <a:latin typeface="Meiryo" pitchFamily="34" charset="0"/>
                <a:ea typeface="Meiryo" pitchFamily="34" charset="-122"/>
                <a:cs typeface="Meiryo" pitchFamily="34" charset="-120"/>
              </a:rPr>
              <a:t>チーム【チーム名】</a:t>
            </a:r>
            <a:endParaRPr lang="en-US" sz="2400" dirty="0"/>
          </a:p>
        </p:txBody>
      </p:sp>
      <p:sp>
        <p:nvSpPr>
          <p:cNvPr id="3" name="Shape 1"/>
          <p:cNvSpPr/>
          <p:nvPr/>
        </p:nvSpPr>
        <p:spPr>
          <a:xfrm>
            <a:off x="685800" y="1371600"/>
            <a:ext cx="2560320" cy="1463040"/>
          </a:xfrm>
          <a:prstGeom prst="roundRect">
            <a:avLst>
              <a:gd name="adj" fmla="val 5000"/>
            </a:avLst>
          </a:prstGeom>
          <a:solidFill>
            <a:srgbClr val="2B3948"/>
          </a:solidFill>
          <a:ln w="12700">
            <a:solidFill>
              <a:srgbClr val="2B3948"/>
            </a:solidFill>
            <a:prstDash val="solid"/>
          </a:ln>
        </p:spPr>
      </p:sp>
      <p:sp>
        <p:nvSpPr>
          <p:cNvPr id="4" name="Text 2"/>
          <p:cNvSpPr txBox="1"/>
          <p:nvPr/>
        </p:nvSpPr>
        <p:spPr>
          <a:xfrm>
            <a:off x="868680" y="1508760"/>
            <a:ext cx="2194560" cy="365760"/>
          </a:xfrm>
          <a:prstGeom prst="rect">
            <a:avLst/>
          </a:prstGeom>
          <a:noFill/>
          <a:ln/>
        </p:spPr>
        <p:txBody>
          <a:bodyPr wrap="square" lIns="0" tIns="0" rIns="0" bIns="0" rtlCol="0" anchor="t"/>
          <a:lstStyle/>
          <a:p>
            <a:pPr algn="l" indent="0" marL="0">
              <a:lnSpc>
                <a:spcPct val="125000"/>
              </a:lnSpc>
              <a:buNone/>
            </a:pPr>
            <a:r>
              <a:rPr lang="en-US" sz="1500" b="1" dirty="0">
                <a:solidFill>
                  <a:srgbClr val="FFFFFF"/>
                </a:solidFill>
                <a:latin typeface="Meiryo" pitchFamily="34" charset="0"/>
                <a:ea typeface="Meiryo" pitchFamily="34" charset="-122"/>
                <a:cs typeface="Meiryo" pitchFamily="34" charset="-120"/>
              </a:rPr>
              <a:t>【武蔵】</a:t>
            </a:r>
            <a:endParaRPr lang="en-US" sz="1500" dirty="0"/>
          </a:p>
        </p:txBody>
      </p:sp>
      <p:sp>
        <p:nvSpPr>
          <p:cNvPr id="5" name="Text 3"/>
          <p:cNvSpPr txBox="1"/>
          <p:nvPr/>
        </p:nvSpPr>
        <p:spPr>
          <a:xfrm>
            <a:off x="868680" y="1920240"/>
            <a:ext cx="2194560" cy="731520"/>
          </a:xfrm>
          <a:prstGeom prst="rect">
            <a:avLst/>
          </a:prstGeom>
          <a:noFill/>
          <a:ln/>
        </p:spPr>
        <p:txBody>
          <a:bodyPr wrap="square" lIns="0" tIns="0" rIns="0" bIns="0" rtlCol="0" anchor="t"/>
          <a:lstStyle/>
          <a:p>
            <a:pPr algn="l" indent="0" marL="0">
              <a:lnSpc>
                <a:spcPct val="125000"/>
              </a:lnSpc>
              <a:buNone/>
            </a:pPr>
            <a:r>
              <a:rPr lang="en-US" sz="1100" dirty="0">
                <a:solidFill>
                  <a:srgbClr val="FFFFFF"/>
                </a:solidFill>
                <a:latin typeface="Meiryo" pitchFamily="34" charset="0"/>
                <a:ea typeface="Meiryo" pitchFamily="34" charset="-122"/>
                <a:cs typeface="Meiryo" pitchFamily="34" charset="-120"/>
              </a:rPr>
              <a:t>【役割】</a:t>
            </a:r>
            <a:endParaRPr lang="en-US" sz="1100" dirty="0"/>
          </a:p>
        </p:txBody>
      </p:sp>
      <p:sp>
        <p:nvSpPr>
          <p:cNvPr id="6" name="Shape 4"/>
          <p:cNvSpPr/>
          <p:nvPr/>
        </p:nvSpPr>
        <p:spPr>
          <a:xfrm>
            <a:off x="3429000" y="1371600"/>
            <a:ext cx="2560320" cy="1463040"/>
          </a:xfrm>
          <a:prstGeom prst="roundRect">
            <a:avLst>
              <a:gd name="adj" fmla="val 5000"/>
            </a:avLst>
          </a:prstGeom>
          <a:solidFill>
            <a:srgbClr val="2B3948"/>
          </a:solidFill>
          <a:ln w="12700">
            <a:solidFill>
              <a:srgbClr val="2B3948"/>
            </a:solidFill>
            <a:prstDash val="solid"/>
          </a:ln>
        </p:spPr>
      </p:sp>
      <p:sp>
        <p:nvSpPr>
          <p:cNvPr id="7" name="Text 5"/>
          <p:cNvSpPr txBox="1"/>
          <p:nvPr/>
        </p:nvSpPr>
        <p:spPr>
          <a:xfrm>
            <a:off x="3611880" y="1508760"/>
            <a:ext cx="2194560" cy="365760"/>
          </a:xfrm>
          <a:prstGeom prst="rect">
            <a:avLst/>
          </a:prstGeom>
          <a:noFill/>
          <a:ln/>
        </p:spPr>
        <p:txBody>
          <a:bodyPr wrap="square" lIns="0" tIns="0" rIns="0" bIns="0" rtlCol="0" anchor="t"/>
          <a:lstStyle/>
          <a:p>
            <a:pPr algn="l" indent="0" marL="0">
              <a:lnSpc>
                <a:spcPct val="125000"/>
              </a:lnSpc>
              <a:buNone/>
            </a:pPr>
            <a:r>
              <a:rPr lang="en-US" sz="1500" b="1" dirty="0">
                <a:solidFill>
                  <a:srgbClr val="FFFFFF"/>
                </a:solidFill>
                <a:latin typeface="Meiryo" pitchFamily="34" charset="0"/>
                <a:ea typeface="Meiryo" pitchFamily="34" charset="-122"/>
                <a:cs typeface="Meiryo" pitchFamily="34" charset="-120"/>
              </a:rPr>
              <a:t>【神園】</a:t>
            </a:r>
            <a:endParaRPr lang="en-US" sz="1500" dirty="0"/>
          </a:p>
        </p:txBody>
      </p:sp>
      <p:sp>
        <p:nvSpPr>
          <p:cNvPr id="8" name="Text 6"/>
          <p:cNvSpPr txBox="1"/>
          <p:nvPr/>
        </p:nvSpPr>
        <p:spPr>
          <a:xfrm>
            <a:off x="3611880" y="1920240"/>
            <a:ext cx="2194560" cy="731520"/>
          </a:xfrm>
          <a:prstGeom prst="rect">
            <a:avLst/>
          </a:prstGeom>
          <a:noFill/>
          <a:ln/>
        </p:spPr>
        <p:txBody>
          <a:bodyPr wrap="square" lIns="0" tIns="0" rIns="0" bIns="0" rtlCol="0" anchor="t"/>
          <a:lstStyle/>
          <a:p>
            <a:pPr algn="l" indent="0" marL="0">
              <a:lnSpc>
                <a:spcPct val="125000"/>
              </a:lnSpc>
              <a:buNone/>
            </a:pPr>
            <a:r>
              <a:rPr lang="en-US" sz="1100" dirty="0">
                <a:solidFill>
                  <a:srgbClr val="FFFFFF"/>
                </a:solidFill>
                <a:latin typeface="Meiryo" pitchFamily="34" charset="0"/>
                <a:ea typeface="Meiryo" pitchFamily="34" charset="-122"/>
                <a:cs typeface="Meiryo" pitchFamily="34" charset="-120"/>
              </a:rPr>
              <a:t>【役割】</a:t>
            </a:r>
            <a:endParaRPr lang="en-US" sz="1100" dirty="0"/>
          </a:p>
        </p:txBody>
      </p:sp>
      <p:sp>
        <p:nvSpPr>
          <p:cNvPr id="9" name="Shape 7"/>
          <p:cNvSpPr/>
          <p:nvPr/>
        </p:nvSpPr>
        <p:spPr>
          <a:xfrm>
            <a:off x="6172200" y="1371600"/>
            <a:ext cx="2560320" cy="1463040"/>
          </a:xfrm>
          <a:prstGeom prst="roundRect">
            <a:avLst>
              <a:gd name="adj" fmla="val 5000"/>
            </a:avLst>
          </a:prstGeom>
          <a:solidFill>
            <a:srgbClr val="2B3948"/>
          </a:solidFill>
          <a:ln w="12700">
            <a:solidFill>
              <a:srgbClr val="2B3948"/>
            </a:solidFill>
            <a:prstDash val="solid"/>
          </a:ln>
        </p:spPr>
      </p:sp>
      <p:sp>
        <p:nvSpPr>
          <p:cNvPr id="10" name="Text 8"/>
          <p:cNvSpPr txBox="1"/>
          <p:nvPr/>
        </p:nvSpPr>
        <p:spPr>
          <a:xfrm>
            <a:off x="6355080" y="1508760"/>
            <a:ext cx="2194560" cy="365760"/>
          </a:xfrm>
          <a:prstGeom prst="rect">
            <a:avLst/>
          </a:prstGeom>
          <a:noFill/>
          <a:ln/>
        </p:spPr>
        <p:txBody>
          <a:bodyPr wrap="square" lIns="0" tIns="0" rIns="0" bIns="0" rtlCol="0" anchor="t"/>
          <a:lstStyle/>
          <a:p>
            <a:pPr algn="l" indent="0" marL="0">
              <a:lnSpc>
                <a:spcPct val="125000"/>
              </a:lnSpc>
              <a:buNone/>
            </a:pPr>
            <a:r>
              <a:rPr lang="en-US" sz="1500" b="1" dirty="0">
                <a:solidFill>
                  <a:srgbClr val="FFFFFF"/>
                </a:solidFill>
                <a:latin typeface="Meiryo" pitchFamily="34" charset="0"/>
                <a:ea typeface="Meiryo" pitchFamily="34" charset="-122"/>
                <a:cs typeface="Meiryo" pitchFamily="34" charset="-120"/>
              </a:rPr>
              <a:t>【さくちゃん】</a:t>
            </a:r>
            <a:endParaRPr lang="en-US" sz="1500" dirty="0"/>
          </a:p>
        </p:txBody>
      </p:sp>
      <p:sp>
        <p:nvSpPr>
          <p:cNvPr id="11" name="Text 9"/>
          <p:cNvSpPr txBox="1"/>
          <p:nvPr/>
        </p:nvSpPr>
        <p:spPr>
          <a:xfrm>
            <a:off x="6355080" y="1920240"/>
            <a:ext cx="2194560" cy="731520"/>
          </a:xfrm>
          <a:prstGeom prst="rect">
            <a:avLst/>
          </a:prstGeom>
          <a:noFill/>
          <a:ln/>
        </p:spPr>
        <p:txBody>
          <a:bodyPr wrap="square" lIns="0" tIns="0" rIns="0" bIns="0" rtlCol="0" anchor="t"/>
          <a:lstStyle/>
          <a:p>
            <a:pPr algn="l" indent="0" marL="0">
              <a:lnSpc>
                <a:spcPct val="125000"/>
              </a:lnSpc>
              <a:buNone/>
            </a:pPr>
            <a:r>
              <a:rPr lang="en-US" sz="1100" dirty="0">
                <a:solidFill>
                  <a:srgbClr val="FFFFFF"/>
                </a:solidFill>
                <a:latin typeface="Meiryo" pitchFamily="34" charset="0"/>
                <a:ea typeface="Meiryo" pitchFamily="34" charset="-122"/>
                <a:cs typeface="Meiryo" pitchFamily="34" charset="-120"/>
              </a:rPr>
              <a:t>【役割】</a:t>
            </a:r>
            <a:endParaRPr lang="en-US" sz="1100" dirty="0"/>
          </a:p>
        </p:txBody>
      </p:sp>
      <p:sp>
        <p:nvSpPr>
          <p:cNvPr id="12" name="Shape 10"/>
          <p:cNvSpPr/>
          <p:nvPr/>
        </p:nvSpPr>
        <p:spPr>
          <a:xfrm>
            <a:off x="8915400" y="1371600"/>
            <a:ext cx="2560320" cy="1463040"/>
          </a:xfrm>
          <a:prstGeom prst="roundRect">
            <a:avLst>
              <a:gd name="adj" fmla="val 5000"/>
            </a:avLst>
          </a:prstGeom>
          <a:solidFill>
            <a:srgbClr val="2B3948"/>
          </a:solidFill>
          <a:ln w="12700">
            <a:solidFill>
              <a:srgbClr val="2B3948"/>
            </a:solidFill>
            <a:prstDash val="solid"/>
          </a:ln>
        </p:spPr>
      </p:sp>
      <p:sp>
        <p:nvSpPr>
          <p:cNvPr id="13" name="Text 11"/>
          <p:cNvSpPr txBox="1"/>
          <p:nvPr/>
        </p:nvSpPr>
        <p:spPr>
          <a:xfrm>
            <a:off x="9098280" y="1508760"/>
            <a:ext cx="2194560" cy="365760"/>
          </a:xfrm>
          <a:prstGeom prst="rect">
            <a:avLst/>
          </a:prstGeom>
          <a:noFill/>
          <a:ln/>
        </p:spPr>
        <p:txBody>
          <a:bodyPr wrap="square" lIns="0" tIns="0" rIns="0" bIns="0" rtlCol="0" anchor="t"/>
          <a:lstStyle/>
          <a:p>
            <a:pPr algn="l" indent="0" marL="0">
              <a:lnSpc>
                <a:spcPct val="125000"/>
              </a:lnSpc>
              <a:buNone/>
            </a:pPr>
            <a:r>
              <a:rPr lang="en-US" sz="1500" b="1" dirty="0">
                <a:solidFill>
                  <a:srgbClr val="FFFFFF"/>
                </a:solidFill>
                <a:latin typeface="Meiryo" pitchFamily="34" charset="0"/>
                <a:ea typeface="Meiryo" pitchFamily="34" charset="-122"/>
                <a:cs typeface="Meiryo" pitchFamily="34" charset="-120"/>
              </a:rPr>
              <a:t>【中田】</a:t>
            </a:r>
            <a:endParaRPr lang="en-US" sz="1500" dirty="0"/>
          </a:p>
        </p:txBody>
      </p:sp>
      <p:sp>
        <p:nvSpPr>
          <p:cNvPr id="14" name="Text 12"/>
          <p:cNvSpPr txBox="1"/>
          <p:nvPr/>
        </p:nvSpPr>
        <p:spPr>
          <a:xfrm>
            <a:off x="9098280" y="1920240"/>
            <a:ext cx="2194560" cy="731520"/>
          </a:xfrm>
          <a:prstGeom prst="rect">
            <a:avLst/>
          </a:prstGeom>
          <a:noFill/>
          <a:ln/>
        </p:spPr>
        <p:txBody>
          <a:bodyPr wrap="square" lIns="0" tIns="0" rIns="0" bIns="0" rtlCol="0" anchor="t"/>
          <a:lstStyle/>
          <a:p>
            <a:pPr algn="l" indent="0" marL="0">
              <a:lnSpc>
                <a:spcPct val="125000"/>
              </a:lnSpc>
              <a:buNone/>
            </a:pPr>
            <a:r>
              <a:rPr lang="en-US" sz="1100" dirty="0">
                <a:solidFill>
                  <a:srgbClr val="FFFFFF"/>
                </a:solidFill>
                <a:latin typeface="Meiryo" pitchFamily="34" charset="0"/>
                <a:ea typeface="Meiryo" pitchFamily="34" charset="-122"/>
                <a:cs typeface="Meiryo" pitchFamily="34" charset="-120"/>
              </a:rPr>
              <a:t>【役割】</a:t>
            </a:r>
            <a:endParaRPr lang="en-US" sz="1100" dirty="0"/>
          </a:p>
        </p:txBody>
      </p:sp>
      <p:sp>
        <p:nvSpPr>
          <p:cNvPr id="15" name="Text 13"/>
          <p:cNvSpPr txBox="1"/>
          <p:nvPr/>
        </p:nvSpPr>
        <p:spPr>
          <a:xfrm>
            <a:off x="685800" y="3200400"/>
            <a:ext cx="10817352" cy="1463040"/>
          </a:xfrm>
          <a:prstGeom prst="rect">
            <a:avLst/>
          </a:prstGeom>
          <a:noFill/>
          <a:ln/>
        </p:spPr>
        <p:txBody>
          <a:bodyPr wrap="square" lIns="0" tIns="0" rIns="0" bIns="0" rtlCol="0" anchor="t"/>
          <a:lstStyle/>
          <a:p>
            <a:pPr algn="l" indent="0" marL="0">
              <a:lnSpc>
                <a:spcPct val="125000"/>
              </a:lnSpc>
              <a:buNone/>
            </a:pPr>
            <a:r>
              <a:rPr lang="en-US" sz="1100" dirty="0">
                <a:solidFill>
                  <a:srgbClr val="AAB4BE"/>
                </a:solidFill>
                <a:latin typeface="Meiryo" pitchFamily="34" charset="0"/>
                <a:ea typeface="Meiryo" pitchFamily="34" charset="-122"/>
                <a:cs typeface="Meiryo" pitchFamily="34" charset="-120"/>
              </a:rPr>
              <a:t>プロトタイプ：Python／Streamlit／Anthropic API（Claude）／python-docx。京都市・高島市の2プロファイルで動作。要綱の規則はコードに書かず、資料フォルダから毎回抽出。</a:t>
            </a:r>
            <a:endParaRPr lang="en-US" sz="1100" dirty="0"/>
          </a:p>
          <a:p>
            <a:pPr algn="l" indent="0" marL="0">
              <a:lnSpc>
                <a:spcPct val="125000"/>
              </a:lnSpc>
              <a:buNone/>
            </a:pPr>
            <a:endParaRPr lang="en-US" sz="1100" dirty="0"/>
          </a:p>
          <a:p>
            <a:pPr algn="l" indent="0" marL="0">
              <a:lnSpc>
                <a:spcPct val="125000"/>
              </a:lnSpc>
              <a:buNone/>
            </a:pPr>
            <a:r>
              <a:rPr lang="en-US" sz="1100" dirty="0">
                <a:solidFill>
                  <a:srgbClr val="AAB4BE"/>
                </a:solidFill>
                <a:latin typeface="Meiryo" pitchFamily="34" charset="0"/>
                <a:ea typeface="Meiryo" pitchFamily="34" charset="-122"/>
                <a:cs typeface="Meiryo" pitchFamily="34" charset="-120"/>
              </a:rPr>
              <a:t>現状の限界：当事者ヒアリングは未実施（通過後に京都市医療衛生センター・どうぶつ基金へ）。高島市は市HP本文から抽出しており、交付要綱PDFは未取得。</a:t>
            </a:r>
            <a:endParaRPr lang="en-US" sz="1100" dirty="0"/>
          </a:p>
        </p:txBody>
      </p:sp>
      <p:sp>
        <p:nvSpPr>
          <p:cNvPr id="16" name="Text 14"/>
          <p:cNvSpPr txBox="1"/>
          <p:nvPr/>
        </p:nvSpPr>
        <p:spPr>
          <a:xfrm>
            <a:off x="685800" y="6446520"/>
            <a:ext cx="10268712" cy="274320"/>
          </a:xfrm>
          <a:prstGeom prst="rect">
            <a:avLst/>
          </a:prstGeom>
          <a:noFill/>
          <a:ln/>
        </p:spPr>
        <p:txBody>
          <a:bodyPr wrap="square" lIns="0" tIns="0" rIns="0" bIns="0" rtlCol="0" anchor="ctr"/>
          <a:lstStyle/>
          <a:p>
            <a:pPr indent="0" marL="0">
              <a:buNone/>
            </a:pPr>
            <a:endParaRPr lang="en-US" sz="800" dirty="0"/>
          </a:p>
        </p:txBody>
      </p:sp>
      <p:sp>
        <p:nvSpPr>
          <p:cNvPr id="17" name="Text 15"/>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AAB4BE"/>
                </a:solidFill>
                <a:latin typeface="Meiryo" pitchFamily="34" charset="0"/>
                <a:ea typeface="Meiryo" pitchFamily="34" charset="-122"/>
                <a:cs typeface="Meiryo"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548640"/>
          </a:xfrm>
          <a:prstGeom prst="rect">
            <a:avLst/>
          </a:prstGeom>
          <a:noFill/>
          <a:ln/>
        </p:spPr>
        <p:txBody>
          <a:bodyPr wrap="square" lIns="0" tIns="0" rIns="0" bIns="0" rtlCol="0" anchor="t"/>
          <a:lstStyle/>
          <a:p>
            <a:pPr indent="0" marL="0">
              <a:lnSpc>
                <a:spcPct val="115000"/>
              </a:lnSpc>
              <a:buNone/>
            </a:pPr>
            <a:r>
              <a:rPr lang="en-US" sz="2000" b="1" dirty="0">
                <a:solidFill>
                  <a:srgbClr val="1F2A37"/>
                </a:solidFill>
                <a:latin typeface="Meiryo" pitchFamily="34" charset="0"/>
                <a:ea typeface="Meiryo" pitchFamily="34" charset="-122"/>
                <a:cs typeface="Meiryo" pitchFamily="34" charset="-120"/>
              </a:rPr>
              <a:t>付録A　一次情報の出典</a:t>
            </a:r>
            <a:endParaRPr lang="en-US" sz="2000" dirty="0"/>
          </a:p>
        </p:txBody>
      </p:sp>
      <p:sp>
        <p:nvSpPr>
          <p:cNvPr id="3" name="Text 1"/>
          <p:cNvSpPr txBox="1"/>
          <p:nvPr/>
        </p:nvSpPr>
        <p:spPr>
          <a:xfrm>
            <a:off x="685800" y="1188720"/>
            <a:ext cx="3474720" cy="5120640"/>
          </a:xfrm>
          <a:prstGeom prst="rect">
            <a:avLst/>
          </a:prstGeom>
          <a:noFill/>
          <a:ln/>
        </p:spPr>
        <p:txBody>
          <a:bodyPr wrap="square" lIns="0" tIns="0" rIns="0" bIns="0" rtlCol="0" anchor="t"/>
          <a:lstStyle/>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京都市（デモ対象）</a:t>
            </a:r>
            <a:endParaRPr lang="en-US" sz="850" dirty="0"/>
          </a:p>
          <a:p>
            <a:pPr algn="l" indent="0" marL="0">
              <a:lnSpc>
                <a:spcPct val="130000"/>
              </a:lnSpc>
              <a:buNone/>
            </a:pP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まちねこ活動支援事業</a:t>
            </a: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https://www.city.kyoto.lg.jp/hokenfukushi/page/0000189400.html</a:t>
            </a:r>
            <a:endParaRPr lang="en-US" sz="850" dirty="0"/>
          </a:p>
          <a:p>
            <a:pPr algn="l" indent="0" marL="0">
              <a:lnSpc>
                <a:spcPct val="130000"/>
              </a:lnSpc>
              <a:buNone/>
            </a:pP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要綱（令和6年4月1日改正）</a:t>
            </a: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https://www.city.kyoto.lg.jp/hokenfukushi/cmsfiles/contents/0000189/189400/yoko060401.pdf</a:t>
            </a:r>
            <a:endParaRPr lang="en-US" sz="850" dirty="0"/>
          </a:p>
          <a:p>
            <a:pPr algn="l" indent="0" marL="0">
              <a:lnSpc>
                <a:spcPct val="130000"/>
              </a:lnSpc>
              <a:buNone/>
            </a:pP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第1号様式 …/touroku.docx／第6号様式 …/jissikeikaku.docx／記載例 …/rei_touroku.pdf, …/rei_jissikeikaku.pdf／参考様式 …/osirase.pdf（同ディレクトリ）</a:t>
            </a:r>
            <a:endParaRPr lang="en-US" sz="850" dirty="0"/>
          </a:p>
          <a:p>
            <a:pPr algn="l" indent="0" marL="0">
              <a:lnSpc>
                <a:spcPct val="130000"/>
              </a:lnSpc>
              <a:buNone/>
            </a:pP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10年間の事業評価</a:t>
            </a: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https://www.city.kyoto.lg.jp/hokenfukushi/page/0000277536.html</a:t>
            </a:r>
            <a:endParaRPr lang="en-US" sz="850" dirty="0"/>
          </a:p>
          <a:p>
            <a:pPr algn="l" indent="0" marL="0">
              <a:lnSpc>
                <a:spcPct val="130000"/>
              </a:lnSpc>
              <a:buNone/>
            </a:pP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京都市獣医師会</a:t>
            </a: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https://www.kyoto-shiju.or.jp/machineko.html</a:t>
            </a:r>
            <a:endParaRPr lang="en-US" sz="850" dirty="0"/>
          </a:p>
        </p:txBody>
      </p:sp>
      <p:sp>
        <p:nvSpPr>
          <p:cNvPr id="4" name="Text 2"/>
          <p:cNvSpPr txBox="1"/>
          <p:nvPr/>
        </p:nvSpPr>
        <p:spPr>
          <a:xfrm>
            <a:off x="4325112" y="1188720"/>
            <a:ext cx="3474720" cy="5120640"/>
          </a:xfrm>
          <a:prstGeom prst="rect">
            <a:avLst/>
          </a:prstGeom>
          <a:noFill/>
          <a:ln/>
        </p:spPr>
        <p:txBody>
          <a:bodyPr wrap="square" lIns="0" tIns="0" rIns="0" bIns="0" rtlCol="0" anchor="t"/>
          <a:lstStyle/>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どうぶつ基金・基金型自治体</a:t>
            </a:r>
            <a:endParaRPr lang="en-US" sz="850" dirty="0"/>
          </a:p>
          <a:p>
            <a:pPr algn="l" indent="0" marL="0">
              <a:lnSpc>
                <a:spcPct val="130000"/>
              </a:lnSpc>
              <a:buNone/>
            </a:pP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チケットFAQ</a:t>
            </a: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https://sakuraneko-tnr.doubutukikin.or.jp/faq</a:t>
            </a:r>
            <a:endParaRPr lang="en-US" sz="850" dirty="0"/>
          </a:p>
          <a:p>
            <a:pPr algn="l" indent="0" marL="0">
              <a:lnSpc>
                <a:spcPct val="130000"/>
              </a:lnSpc>
              <a:buNone/>
            </a:pP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登録・チケット規約</a:t>
            </a: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https://sakuraneko-tnr.doubutukikin.or.jp/about/register</a:t>
            </a:r>
            <a:endParaRPr lang="en-US" sz="850" dirty="0"/>
          </a:p>
          <a:p>
            <a:pPr algn="l" indent="0" marL="0">
              <a:lnSpc>
                <a:spcPct val="130000"/>
              </a:lnSpc>
              <a:buNone/>
            </a:pP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事業概要</a:t>
            </a: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https://www.doubutukikin.or.jp/activity/sakuraneko-surgery/</a:t>
            </a:r>
            <a:endParaRPr lang="en-US" sz="850" dirty="0"/>
          </a:p>
          <a:p>
            <a:pPr algn="l" indent="0" marL="0">
              <a:lnSpc>
                <a:spcPct val="130000"/>
              </a:lnSpc>
              <a:buNone/>
            </a:pP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2022年度実績</a:t>
            </a: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https://www.doubutukikin.or.jp/activitynews/20230727/37090/</a:t>
            </a:r>
            <a:endParaRPr lang="en-US" sz="850" dirty="0"/>
          </a:p>
          <a:p>
            <a:pPr algn="l" indent="0" marL="0">
              <a:lnSpc>
                <a:spcPct val="130000"/>
              </a:lnSpc>
              <a:buNone/>
            </a:pP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高島市 環境政策課</a:t>
            </a: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https://www.city.takashima.lg.jp/soshiki/kankyobu/kankyoseisakuka/2924.html</a:t>
            </a:r>
            <a:endParaRPr lang="en-US" sz="850" dirty="0"/>
          </a:p>
          <a:p>
            <a:pPr algn="l" indent="0" marL="0">
              <a:lnSpc>
                <a:spcPct val="130000"/>
              </a:lnSpc>
              <a:buNone/>
            </a:pP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大網白里市</a:t>
            </a: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https://www.city.oamishirasato.lg.jp/0000014129.html</a:t>
            </a:r>
            <a:endParaRPr lang="en-US" sz="850" dirty="0"/>
          </a:p>
        </p:txBody>
      </p:sp>
      <p:sp>
        <p:nvSpPr>
          <p:cNvPr id="5" name="Text 3"/>
          <p:cNvSpPr txBox="1"/>
          <p:nvPr/>
        </p:nvSpPr>
        <p:spPr>
          <a:xfrm>
            <a:off x="7964424" y="1188720"/>
            <a:ext cx="3474720" cy="5120640"/>
          </a:xfrm>
          <a:prstGeom prst="rect">
            <a:avLst/>
          </a:prstGeom>
          <a:noFill/>
          <a:ln/>
        </p:spPr>
        <p:txBody>
          <a:bodyPr wrap="square" lIns="0" tIns="0" rIns="0" bIns="0" rtlCol="0" anchor="t"/>
          <a:lstStyle/>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当事者の声・背景</a:t>
            </a:r>
            <a:endParaRPr lang="en-US" sz="850" dirty="0"/>
          </a:p>
          <a:p>
            <a:pPr algn="l" indent="0" marL="0">
              <a:lnSpc>
                <a:spcPct val="130000"/>
              </a:lnSpc>
              <a:buNone/>
            </a:pP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福岡県 県民モニター調査（N=349。実施年は資料に明記なし、自由記述から2022年実施と推定）</a:t>
            </a: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https://www.pref.fukuoka.lg.jp/uploaded/attachment/186043.pdf</a:t>
            </a:r>
            <a:endParaRPr lang="en-US" sz="850" dirty="0"/>
          </a:p>
          <a:p>
            <a:pPr algn="l" indent="0" marL="0">
              <a:lnSpc>
                <a:spcPct val="130000"/>
              </a:lnSpc>
              <a:buNone/>
            </a:pP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堺市（猫は法令上捕獲根拠がなく行政は収容しない）</a:t>
            </a: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https://www.city.sakai.lg.jp/kurashi/dobutsu/dogcat/komarigoto/inunekokomaru.html</a:t>
            </a:r>
            <a:endParaRPr lang="en-US" sz="850" dirty="0"/>
          </a:p>
          <a:p>
            <a:pPr algn="l" indent="0" marL="0">
              <a:lnSpc>
                <a:spcPct val="130000"/>
              </a:lnSpc>
              <a:buNone/>
            </a:pP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環境省 犬・猫の引取り及び負傷動物の収容状況</a:t>
            </a: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https://www.env.go.jp/nature/dobutsu/aigo/2_data/statistics/dog-cat.html</a:t>
            </a:r>
            <a:endParaRPr lang="en-US" sz="850" dirty="0"/>
          </a:p>
          <a:p>
            <a:pPr algn="l" indent="0" marL="0">
              <a:lnSpc>
                <a:spcPct val="130000"/>
              </a:lnSpc>
              <a:buNone/>
            </a:pP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数字の扱い</a:t>
            </a:r>
            <a:endParaRPr lang="en-US" sz="850" dirty="0"/>
          </a:p>
          <a:p>
            <a:pPr algn="l" indent="0" marL="0">
              <a:lnSpc>
                <a:spcPct val="130000"/>
              </a:lnSpc>
              <a:buNone/>
            </a:pPr>
            <a:r>
              <a:rPr lang="en-US" sz="850" dirty="0">
                <a:solidFill>
                  <a:srgbClr val="1F2A37"/>
                </a:solidFill>
                <a:latin typeface="Meiryo" pitchFamily="34" charset="0"/>
                <a:ea typeface="Meiryo" pitchFamily="34" charset="-122"/>
                <a:cs typeface="Meiryo" pitchFamily="34" charset="-120"/>
              </a:rPr>
              <a:t>本資料の数字はすべて上記の一次情報から引用。事業の効果（収容減・苦情減）は京都市の事業の効果であり、本プロダクトの効果ではない。本プロダクトが変えるのは「申請から手術までの日数」「登録の継続率」「担い手交代後の継続」。</a:t>
            </a:r>
            <a:endParaRPr lang="en-US" sz="850" dirty="0"/>
          </a:p>
        </p:txBody>
      </p:sp>
      <p:sp>
        <p:nvSpPr>
          <p:cNvPr id="6" name="Text 4"/>
          <p:cNvSpPr txBox="1"/>
          <p:nvPr/>
        </p:nvSpPr>
        <p:spPr>
          <a:xfrm>
            <a:off x="685800" y="6446520"/>
            <a:ext cx="10268712" cy="274320"/>
          </a:xfrm>
          <a:prstGeom prst="rect">
            <a:avLst/>
          </a:prstGeom>
          <a:noFill/>
          <a:ln/>
        </p:spPr>
        <p:txBody>
          <a:bodyPr wrap="square" lIns="0" tIns="0" rIns="0" bIns="0" rtlCol="0" anchor="ctr"/>
          <a:lstStyle/>
          <a:p>
            <a:pPr indent="0" marL="0">
              <a:buNone/>
            </a:pPr>
            <a:endParaRPr lang="en-US" sz="800" dirty="0"/>
          </a:p>
        </p:txBody>
      </p:sp>
      <p:sp>
        <p:nvSpPr>
          <p:cNvPr id="7" name="Text 5"/>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A</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548640"/>
          </a:xfrm>
          <a:prstGeom prst="rect">
            <a:avLst/>
          </a:prstGeom>
          <a:noFill/>
          <a:ln/>
        </p:spPr>
        <p:txBody>
          <a:bodyPr wrap="square" lIns="0" tIns="0" rIns="0" bIns="0" rtlCol="0" anchor="t"/>
          <a:lstStyle/>
          <a:p>
            <a:pPr indent="0" marL="0">
              <a:lnSpc>
                <a:spcPct val="115000"/>
              </a:lnSpc>
              <a:buNone/>
            </a:pPr>
            <a:r>
              <a:rPr lang="en-US" sz="2000" b="1" dirty="0">
                <a:solidFill>
                  <a:srgbClr val="1F2A37"/>
                </a:solidFill>
                <a:latin typeface="Meiryo" pitchFamily="34" charset="0"/>
                <a:ea typeface="Meiryo" pitchFamily="34" charset="-122"/>
                <a:cs typeface="Meiryo" pitchFamily="34" charset="-120"/>
              </a:rPr>
              <a:t>付録B　京都市まちねこ活動支援要綱 抜粋（令和6年4月1日改正）</a:t>
            </a:r>
            <a:endParaRPr lang="en-US" sz="2000" dirty="0"/>
          </a:p>
        </p:txBody>
      </p:sp>
      <p:sp>
        <p:nvSpPr>
          <p:cNvPr id="3" name="Text 1"/>
          <p:cNvSpPr txBox="1"/>
          <p:nvPr/>
        </p:nvSpPr>
        <p:spPr>
          <a:xfrm>
            <a:off x="685800" y="1188720"/>
            <a:ext cx="5303520" cy="5120640"/>
          </a:xfrm>
          <a:prstGeom prst="rect">
            <a:avLst/>
          </a:prstGeom>
          <a:noFill/>
          <a:ln/>
        </p:spPr>
        <p:txBody>
          <a:bodyPr wrap="square" lIns="0" tIns="0" rIns="0" bIns="0" rtlCol="0" anchor="t"/>
          <a:lstStyle/>
          <a:p>
            <a:pPr algn="l" indent="0" marL="0">
              <a:lnSpc>
                <a:spcPct val="135000"/>
              </a:lnSpc>
              <a:buNone/>
            </a:pPr>
            <a:r>
              <a:rPr lang="en-US" sz="950" dirty="0">
                <a:solidFill>
                  <a:srgbClr val="1F2A37"/>
                </a:solidFill>
                <a:latin typeface="Meiryo" pitchFamily="34" charset="0"/>
                <a:ea typeface="Meiryo" pitchFamily="34" charset="-122"/>
                <a:cs typeface="Meiryo" pitchFamily="34" charset="-120"/>
              </a:rPr>
              <a:t>第2条⑵　活動は、同一世帯員ではない地域住民２人以上（ただし、その管理する野良猫が１０頭以上の場合にあっては同一世帯員ではない地域住民２人を含む京都市民３人以上）による団体を構成して行うものであること。</a:t>
            </a:r>
            <a:endParaRPr lang="en-US" sz="950" dirty="0"/>
          </a:p>
          <a:p>
            <a:pPr algn="l" indent="0" marL="0">
              <a:lnSpc>
                <a:spcPct val="135000"/>
              </a:lnSpc>
              <a:buNone/>
            </a:pPr>
            <a:endParaRPr lang="en-US" sz="950" dirty="0"/>
          </a:p>
          <a:p>
            <a:pPr algn="l" indent="0" marL="0">
              <a:lnSpc>
                <a:spcPct val="135000"/>
              </a:lnSpc>
              <a:buNone/>
            </a:pPr>
            <a:r>
              <a:rPr lang="en-US" sz="950" dirty="0">
                <a:solidFill>
                  <a:srgbClr val="1F2A37"/>
                </a:solidFill>
                <a:latin typeface="Meiryo" pitchFamily="34" charset="0"/>
                <a:ea typeface="Meiryo" pitchFamily="34" charset="-122"/>
                <a:cs typeface="Meiryo" pitchFamily="34" charset="-120"/>
              </a:rPr>
              <a:t>第5条　「まちねこ活動登録申請書」（第１号様式）に、「まちねこ活動実施計画書」（第６号様式）及び次に掲げる事項を示した周辺地図を添えて、医療衛生センター長に提出するものとする。⑴活動地域の範囲 ⑵給餌の場所 ⑶野良猫用のトイレの場所</a:t>
            </a:r>
            <a:endParaRPr lang="en-US" sz="950" dirty="0"/>
          </a:p>
          <a:p>
            <a:pPr algn="l" indent="0" marL="0">
              <a:lnSpc>
                <a:spcPct val="135000"/>
              </a:lnSpc>
              <a:buNone/>
            </a:pPr>
            <a:r>
              <a:rPr lang="en-US" sz="950" dirty="0">
                <a:solidFill>
                  <a:srgbClr val="1F2A37"/>
                </a:solidFill>
                <a:latin typeface="Meiryo" pitchFamily="34" charset="0"/>
                <a:ea typeface="Meiryo" pitchFamily="34" charset="-122"/>
                <a:cs typeface="Meiryo" pitchFamily="34" charset="-120"/>
              </a:rPr>
              <a:t>第5条3　登録の有効期間は、登録の日から３年間とする。</a:t>
            </a:r>
            <a:endParaRPr lang="en-US" sz="950" dirty="0"/>
          </a:p>
          <a:p>
            <a:pPr algn="l" indent="0" marL="0">
              <a:lnSpc>
                <a:spcPct val="135000"/>
              </a:lnSpc>
              <a:buNone/>
            </a:pPr>
            <a:endParaRPr lang="en-US" sz="950" dirty="0"/>
          </a:p>
          <a:p>
            <a:pPr algn="l" indent="0" marL="0">
              <a:lnSpc>
                <a:spcPct val="135000"/>
              </a:lnSpc>
              <a:buNone/>
            </a:pPr>
            <a:r>
              <a:rPr lang="en-US" sz="950" dirty="0">
                <a:solidFill>
                  <a:srgbClr val="1F2A37"/>
                </a:solidFill>
                <a:latin typeface="Meiryo" pitchFamily="34" charset="0"/>
                <a:ea typeface="Meiryo" pitchFamily="34" charset="-122"/>
                <a:cs typeface="Meiryo" pitchFamily="34" charset="-120"/>
              </a:rPr>
              <a:t>第6条2　登録を更新しようとする団体は、「まちねこ活動登録更新申請書」（第２号様式）及び「実施計画書」を、従前の登録の有効期間の満了の日の３０日前から満了日までに医療衛生センター長に提出するものとする。</a:t>
            </a:r>
            <a:endParaRPr lang="en-US" sz="950" dirty="0"/>
          </a:p>
          <a:p>
            <a:pPr algn="l" indent="0" marL="0">
              <a:lnSpc>
                <a:spcPct val="135000"/>
              </a:lnSpc>
              <a:buNone/>
            </a:pPr>
            <a:endParaRPr lang="en-US" sz="950" dirty="0"/>
          </a:p>
          <a:p>
            <a:pPr algn="l" indent="0" marL="0">
              <a:lnSpc>
                <a:spcPct val="135000"/>
              </a:lnSpc>
              <a:buNone/>
            </a:pPr>
            <a:r>
              <a:rPr lang="en-US" sz="950" dirty="0">
                <a:solidFill>
                  <a:srgbClr val="1F2A37"/>
                </a:solidFill>
                <a:latin typeface="Meiryo" pitchFamily="34" charset="0"/>
                <a:ea typeface="Meiryo" pitchFamily="34" charset="-122"/>
                <a:cs typeface="Meiryo" pitchFamily="34" charset="-120"/>
              </a:rPr>
              <a:t>第7条3　医療衛生センター長は、期限までに第６条の更新が行われなかったもの又は活動の実態が認められない若しくは効果がないと思料するものについて、まちねこ活動団体に、第１項に規定する届出を行うよう求め、又は必要な調査を行ったうえ職権で登録を抹消することができる。</a:t>
            </a:r>
            <a:endParaRPr lang="en-US" sz="950" dirty="0"/>
          </a:p>
        </p:txBody>
      </p:sp>
      <p:sp>
        <p:nvSpPr>
          <p:cNvPr id="4" name="Text 2"/>
          <p:cNvSpPr txBox="1"/>
          <p:nvPr/>
        </p:nvSpPr>
        <p:spPr>
          <a:xfrm>
            <a:off x="6263640" y="1188720"/>
            <a:ext cx="5257800" cy="5120640"/>
          </a:xfrm>
          <a:prstGeom prst="rect">
            <a:avLst/>
          </a:prstGeom>
          <a:noFill/>
          <a:ln/>
        </p:spPr>
        <p:txBody>
          <a:bodyPr wrap="square" lIns="0" tIns="0" rIns="0" bIns="0" rtlCol="0" anchor="t"/>
          <a:lstStyle/>
          <a:p>
            <a:pPr algn="l" indent="0" marL="0">
              <a:lnSpc>
                <a:spcPct val="135000"/>
              </a:lnSpc>
              <a:buNone/>
            </a:pPr>
            <a:r>
              <a:rPr lang="en-US" sz="950" dirty="0">
                <a:solidFill>
                  <a:srgbClr val="1F2A37"/>
                </a:solidFill>
                <a:latin typeface="Meiryo" pitchFamily="34" charset="0"/>
                <a:ea typeface="Meiryo" pitchFamily="34" charset="-122"/>
                <a:cs typeface="Meiryo" pitchFamily="34" charset="-120"/>
              </a:rPr>
              <a:t>第9条　まちねこの避妊去勢手術を依頼しようとするときは、まちねこ避妊去勢手術実施申請書（第４号様式）を医療衛生センター長に提出するものとする。</a:t>
            </a:r>
            <a:endParaRPr lang="en-US" sz="950" dirty="0"/>
          </a:p>
          <a:p>
            <a:pPr algn="l" indent="0" marL="0">
              <a:lnSpc>
                <a:spcPct val="135000"/>
              </a:lnSpc>
              <a:buNone/>
            </a:pPr>
            <a:r>
              <a:rPr lang="en-US" sz="950" dirty="0">
                <a:solidFill>
                  <a:srgbClr val="1F2A37"/>
                </a:solidFill>
                <a:latin typeface="Meiryo" pitchFamily="34" charset="0"/>
                <a:ea typeface="Meiryo" pitchFamily="34" charset="-122"/>
                <a:cs typeface="Meiryo" pitchFamily="34" charset="-120"/>
              </a:rPr>
              <a:t>第10条　避妊去勢手術の実施の日時は、動物愛護センターが医療衛生センター長を通じ、まちねこ活動団体に通知する。</a:t>
            </a:r>
            <a:endParaRPr lang="en-US" sz="950" dirty="0"/>
          </a:p>
          <a:p>
            <a:pPr algn="l" indent="0" marL="0">
              <a:lnSpc>
                <a:spcPct val="135000"/>
              </a:lnSpc>
              <a:buNone/>
            </a:pPr>
            <a:endParaRPr lang="en-US" sz="950" dirty="0"/>
          </a:p>
          <a:p>
            <a:pPr algn="l" indent="0" marL="0">
              <a:lnSpc>
                <a:spcPct val="135000"/>
              </a:lnSpc>
              <a:buNone/>
            </a:pPr>
            <a:r>
              <a:rPr lang="en-US" sz="950" dirty="0">
                <a:solidFill>
                  <a:srgbClr val="1F2A37"/>
                </a:solidFill>
                <a:latin typeface="Meiryo" pitchFamily="34" charset="0"/>
                <a:ea typeface="Meiryo" pitchFamily="34" charset="-122"/>
                <a:cs typeface="Meiryo" pitchFamily="34" charset="-120"/>
              </a:rPr>
              <a:t>第12条　まちねこ活動団体は、１年ごとに、医療衛生センター長に対して、「まちねこ活動状況報告書」（第５号様式）を提出し、まちねこの管理の状況について、報告しなければならない。</a:t>
            </a:r>
            <a:endParaRPr lang="en-US" sz="950" dirty="0"/>
          </a:p>
          <a:p>
            <a:pPr algn="l" indent="0" marL="0">
              <a:lnSpc>
                <a:spcPct val="135000"/>
              </a:lnSpc>
              <a:buNone/>
            </a:pPr>
            <a:r>
              <a:rPr lang="en-US" sz="950" dirty="0">
                <a:solidFill>
                  <a:srgbClr val="1F2A37"/>
                </a:solidFill>
                <a:latin typeface="Meiryo" pitchFamily="34" charset="0"/>
                <a:ea typeface="Meiryo" pitchFamily="34" charset="-122"/>
                <a:cs typeface="Meiryo" pitchFamily="34" charset="-120"/>
              </a:rPr>
              <a:t>第12条2　前項に規定する報告は、登録をした日の属する年の翌年以降、毎年、登録した日と同月日から３０日以内に行うものとする。</a:t>
            </a:r>
            <a:endParaRPr lang="en-US" sz="950" dirty="0"/>
          </a:p>
          <a:p>
            <a:pPr algn="l" indent="0" marL="0">
              <a:lnSpc>
                <a:spcPct val="135000"/>
              </a:lnSpc>
              <a:buNone/>
            </a:pPr>
            <a:endParaRPr lang="en-US" sz="950" dirty="0"/>
          </a:p>
          <a:p>
            <a:pPr algn="l" indent="0" marL="0">
              <a:lnSpc>
                <a:spcPct val="135000"/>
              </a:lnSpc>
              <a:buNone/>
            </a:pPr>
            <a:r>
              <a:rPr lang="en-US" sz="950" dirty="0">
                <a:solidFill>
                  <a:srgbClr val="1F2A37"/>
                </a:solidFill>
                <a:latin typeface="Meiryo" pitchFamily="34" charset="0"/>
                <a:ea typeface="Meiryo" pitchFamily="34" charset="-122"/>
                <a:cs typeface="Meiryo" pitchFamily="34" charset="-120"/>
              </a:rPr>
              <a:t>様式一覧　第1号 登録申請書／第2号 登録更新申請書／第3号 廃止届出書／第4号 避妊去勢手術実施申請書／第5号 活動状況報告書／第6号 活動実施計画書／参考様式 近隣の皆さまへ（お知らせ）</a:t>
            </a:r>
            <a:endParaRPr lang="en-US" sz="950" dirty="0"/>
          </a:p>
          <a:p>
            <a:pPr algn="l" indent="0" marL="0">
              <a:lnSpc>
                <a:spcPct val="135000"/>
              </a:lnSpc>
              <a:buNone/>
            </a:pPr>
            <a:endParaRPr lang="en-US" sz="950" dirty="0"/>
          </a:p>
          <a:p>
            <a:pPr algn="l" indent="0" marL="0">
              <a:lnSpc>
                <a:spcPct val="135000"/>
              </a:lnSpc>
              <a:buNone/>
            </a:pPr>
            <a:r>
              <a:rPr lang="en-US" sz="950" dirty="0">
                <a:solidFill>
                  <a:srgbClr val="1F2A37"/>
                </a:solidFill>
                <a:latin typeface="Meiryo" pitchFamily="34" charset="0"/>
                <a:ea typeface="Meiryo" pitchFamily="34" charset="-122"/>
                <a:cs typeface="Meiryo" pitchFamily="34" charset="-120"/>
              </a:rPr>
              <a:t>記載例の注記（R6.4.1〜）　代表者の署名・押印不要。管理する猫が10頭以上の場合、地域住民2名以上のほかに京都市民1名以上の登録が必要。3人目の活動者は同一町内でなくとも可。</a:t>
            </a:r>
            <a:endParaRPr lang="en-US" sz="950" dirty="0"/>
          </a:p>
        </p:txBody>
      </p:sp>
      <p:sp>
        <p:nvSpPr>
          <p:cNvPr id="5" name="Text 3"/>
          <p:cNvSpPr txBox="1"/>
          <p:nvPr/>
        </p:nvSpPr>
        <p:spPr>
          <a:xfrm>
            <a:off x="685800" y="6446520"/>
            <a:ext cx="10268712" cy="274320"/>
          </a:xfrm>
          <a:prstGeom prst="rect">
            <a:avLst/>
          </a:prstGeom>
          <a:noFill/>
          <a:ln/>
        </p:spPr>
        <p:txBody>
          <a:bodyPr wrap="square" lIns="0" tIns="0" rIns="0" bIns="0" rtlCol="0" anchor="ctr"/>
          <a:lstStyle/>
          <a:p>
            <a:pPr indent="0" marL="0">
              <a:buNone/>
            </a:pPr>
            <a:r>
              <a:rPr lang="en-US" sz="800" dirty="0">
                <a:solidFill>
                  <a:srgbClr val="7A8590"/>
                </a:solidFill>
                <a:latin typeface="Meiryo" pitchFamily="34" charset="0"/>
                <a:ea typeface="Meiryo" pitchFamily="34" charset="-122"/>
                <a:cs typeface="Meiryo" pitchFamily="34" charset="-120"/>
              </a:rPr>
              <a:t>出典：京都市まちねこ活動支援要綱（yoko060401.pdf）／記載例 rei_touroku.pdf</a:t>
            </a:r>
            <a:endParaRPr lang="en-US" sz="800" dirty="0"/>
          </a:p>
        </p:txBody>
      </p:sp>
      <p:sp>
        <p:nvSpPr>
          <p:cNvPr id="6" name="Text 4"/>
          <p:cNvSpPr txBox="1"/>
          <p:nvPr/>
        </p:nvSpPr>
        <p:spPr>
          <a:xfrm>
            <a:off x="11045952" y="6446520"/>
            <a:ext cx="457200" cy="274320"/>
          </a:xfrm>
          <a:prstGeom prst="rect">
            <a:avLst/>
          </a:prstGeom>
          <a:noFill/>
          <a:ln/>
        </p:spPr>
        <p:txBody>
          <a:bodyPr wrap="square" lIns="0" tIns="0" rIns="0" bIns="0" rtlCol="0" anchor="ctr"/>
          <a:lstStyle/>
          <a:p>
            <a:pPr algn="r" indent="0" marL="0">
              <a:buNone/>
            </a:pPr>
            <a:r>
              <a:rPr lang="en-US" sz="800" dirty="0">
                <a:solidFill>
                  <a:srgbClr val="7A8590"/>
                </a:solidFill>
                <a:latin typeface="Meiryo" pitchFamily="34" charset="0"/>
                <a:ea typeface="Meiryo" pitchFamily="34" charset="-122"/>
                <a:cs typeface="Meiryo" pitchFamily="34" charset="-120"/>
              </a:rPr>
              <a:t>B</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2026-09-10T15:16:08Z</dcterms:created>
  <dcterms:modified xsi:type="dcterms:W3CDTF">2026-09-10T15:16:08Z</dcterms:modified>
</cp:coreProperties>
</file>