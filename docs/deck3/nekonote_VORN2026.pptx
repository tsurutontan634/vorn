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7"/>
        </a:solidFill>
      </p:bgPr>
    </p:bg>
    <p:spTree>
      <p:nvGrpSpPr>
        <p:cNvPr id="1" name=""/>
        <p:cNvGrpSpPr/>
        <p:nvPr/>
      </p:nvGrpSpPr>
      <p:grpSpPr>
        <a:xfrm>
          <a:off x="0" y="0"/>
          <a:ext cx="0" cy="0"/>
          <a:chOff x="0" y="0"/>
          <a:chExt cx="0" cy="0"/>
        </a:xfrm>
      </p:grpSpPr>
      <p:sp>
        <p:nvSpPr>
          <p:cNvPr id="2" name="Text 0"/>
          <p:cNvSpPr txBox="1"/>
          <p:nvPr/>
        </p:nvSpPr>
        <p:spPr>
          <a:xfrm>
            <a:off x="685800" y="1371600"/>
            <a:ext cx="6400800" cy="365760"/>
          </a:xfrm>
          <a:prstGeom prst="rect">
            <a:avLst/>
          </a:prstGeom>
          <a:noFill/>
          <a:ln/>
        </p:spPr>
        <p:txBody>
          <a:bodyPr wrap="square" lIns="0" tIns="0" rIns="0" bIns="0" rtlCol="0" anchor="t"/>
          <a:lstStyle/>
          <a:p>
            <a:pPr algn="l" indent="0" marL="0">
              <a:lnSpc>
                <a:spcPct val="125000"/>
              </a:lnSpc>
              <a:buNone/>
            </a:pPr>
            <a:r>
              <a:rPr lang="en-US" sz="1300" dirty="0">
                <a:solidFill>
                  <a:srgbClr val="AAB4BE"/>
                </a:solidFill>
                <a:latin typeface="Meiryo" pitchFamily="34" charset="0"/>
                <a:ea typeface="Meiryo" pitchFamily="34" charset="-122"/>
                <a:cs typeface="Meiryo" pitchFamily="34" charset="-120"/>
              </a:rPr>
              <a:t>VORN Challenge 2026 応募作品</a:t>
            </a:r>
            <a:endParaRPr lang="en-US" sz="1300" dirty="0"/>
          </a:p>
        </p:txBody>
      </p:sp>
      <p:sp>
        <p:nvSpPr>
          <p:cNvPr id="3" name="Text 1"/>
          <p:cNvSpPr txBox="1"/>
          <p:nvPr/>
        </p:nvSpPr>
        <p:spPr>
          <a:xfrm>
            <a:off x="685800" y="1828800"/>
            <a:ext cx="6949440" cy="1554480"/>
          </a:xfrm>
          <a:prstGeom prst="rect">
            <a:avLst/>
          </a:prstGeom>
          <a:noFill/>
          <a:ln/>
        </p:spPr>
        <p:txBody>
          <a:bodyPr wrap="square" lIns="0" tIns="0" rIns="0" bIns="0" rtlCol="0" anchor="t"/>
          <a:lstStyle/>
          <a:p>
            <a:pPr algn="l" indent="0" marL="0">
              <a:lnSpc>
                <a:spcPct val="120000"/>
              </a:lnSpc>
              <a:buNone/>
            </a:pPr>
            <a:r>
              <a:rPr lang="en-US" sz="3200" b="1" dirty="0">
                <a:solidFill>
                  <a:srgbClr val="FFFFFF"/>
                </a:solidFill>
                <a:latin typeface="Meiryo" pitchFamily="34" charset="0"/>
                <a:ea typeface="Meiryo" pitchFamily="34" charset="-122"/>
                <a:cs typeface="Meiryo" pitchFamily="34" charset="-120"/>
              </a:rPr>
              <a:t>猫を世話する人の書類と期限を、</a:t>
            </a:r>
            <a:endParaRPr lang="en-US" sz="3200" dirty="0"/>
          </a:p>
          <a:p>
            <a:pPr algn="l" indent="0" marL="0">
              <a:lnSpc>
                <a:spcPct val="120000"/>
              </a:lnSpc>
              <a:buNone/>
            </a:pPr>
            <a:r>
              <a:rPr lang="en-US" sz="3200" b="1" dirty="0">
                <a:solidFill>
                  <a:srgbClr val="FFFFFF"/>
                </a:solidFill>
                <a:latin typeface="Meiryo" pitchFamily="34" charset="0"/>
                <a:ea typeface="Meiryo" pitchFamily="34" charset="-122"/>
                <a:cs typeface="Meiryo" pitchFamily="34" charset="-120"/>
              </a:rPr>
              <a:t>AIが引き受ける。</a:t>
            </a:r>
            <a:endParaRPr lang="en-US" sz="3200" dirty="0"/>
          </a:p>
        </p:txBody>
      </p:sp>
      <p:sp>
        <p:nvSpPr>
          <p:cNvPr id="4" name="Text 2"/>
          <p:cNvSpPr txBox="1"/>
          <p:nvPr/>
        </p:nvSpPr>
        <p:spPr>
          <a:xfrm>
            <a:off x="685800" y="3566160"/>
            <a:ext cx="6949440" cy="640080"/>
          </a:xfrm>
          <a:prstGeom prst="rect">
            <a:avLst/>
          </a:prstGeom>
          <a:noFill/>
          <a:ln/>
        </p:spPr>
        <p:txBody>
          <a:bodyPr wrap="square" lIns="0" tIns="0" rIns="0" bIns="0" rtlCol="0" anchor="t"/>
          <a:lstStyle/>
          <a:p>
            <a:pPr algn="l" indent="0" marL="0">
              <a:lnSpc>
                <a:spcPct val="125000"/>
              </a:lnSpc>
              <a:buNone/>
            </a:pPr>
            <a:r>
              <a:rPr lang="en-US" sz="2800" b="1" dirty="0">
                <a:solidFill>
                  <a:srgbClr val="FFFFFF"/>
                </a:solidFill>
                <a:latin typeface="Meiryo" pitchFamily="34" charset="0"/>
                <a:ea typeface="Meiryo" pitchFamily="34" charset="-122"/>
                <a:cs typeface="Meiryo" pitchFamily="34" charset="-120"/>
              </a:rPr>
              <a:t>ネコノテ</a:t>
            </a:r>
            <a:endParaRPr lang="en-US" sz="2800" dirty="0"/>
          </a:p>
        </p:txBody>
      </p:sp>
      <p:sp>
        <p:nvSpPr>
          <p:cNvPr id="5" name="Text 3"/>
          <p:cNvSpPr txBox="1"/>
          <p:nvPr/>
        </p:nvSpPr>
        <p:spPr>
          <a:xfrm>
            <a:off x="685800" y="4297680"/>
            <a:ext cx="6400800" cy="365760"/>
          </a:xfrm>
          <a:prstGeom prst="rect">
            <a:avLst/>
          </a:prstGeom>
          <a:noFill/>
          <a:ln/>
        </p:spPr>
        <p:txBody>
          <a:bodyPr wrap="square" lIns="0" tIns="0" rIns="0" bIns="0" rtlCol="0" anchor="t"/>
          <a:lstStyle/>
          <a:p>
            <a:pPr algn="l" indent="0" marL="0">
              <a:lnSpc>
                <a:spcPct val="125000"/>
              </a:lnSpc>
              <a:buNone/>
            </a:pPr>
            <a:r>
              <a:rPr lang="en-US" sz="1200" dirty="0">
                <a:solidFill>
                  <a:srgbClr val="AAB4BE"/>
                </a:solidFill>
                <a:latin typeface="Meiryo" pitchFamily="34" charset="0"/>
                <a:ea typeface="Meiryo" pitchFamily="34" charset="-122"/>
                <a:cs typeface="Meiryo" pitchFamily="34" charset="-120"/>
              </a:rPr>
              <a:t>チーム シーサーズ</a:t>
            </a:r>
            <a:endParaRPr lang="en-US" sz="1200" dirty="0"/>
          </a:p>
        </p:txBody>
      </p:sp>
      <p:pic>
        <p:nvPicPr>
          <p:cNvPr id="6" name="Image 0" descr="/home/user/VORN/docs/deck3/next.jpg">    </p:cNvPr>
          <p:cNvPicPr>
            <a:picLocks noChangeAspect="1"/>
          </p:cNvPicPr>
          <p:nvPr/>
        </p:nvPicPr>
        <p:blipFill>
          <a:blip r:embed="rId1"/>
          <a:stretch>
            <a:fillRect/>
          </a:stretch>
        </p:blipFill>
        <p:spPr>
          <a:xfrm>
            <a:off x="7863840" y="1463040"/>
            <a:ext cx="3749040" cy="914400"/>
          </a:xfrm>
          <a:prstGeom prst="rect">
            <a:avLst/>
          </a:prstGeom>
        </p:spPr>
      </p:pic>
      <p:sp>
        <p:nvSpPr>
          <p:cNvPr id="7" name="Shape 4"/>
          <p:cNvSpPr/>
          <p:nvPr/>
        </p:nvSpPr>
        <p:spPr>
          <a:xfrm>
            <a:off x="7863840" y="1463040"/>
            <a:ext cx="3749040" cy="1574597"/>
          </a:xfrm>
          <a:prstGeom prst="rect">
            <a:avLst/>
          </a:prstGeom>
          <a:ln w="9525">
            <a:solidFill>
              <a:srgbClr val="D5DBE1"/>
            </a:solidFill>
            <a:prstDash val="solid"/>
          </a:ln>
        </p:spPr>
      </p:sp>
      <p:sp>
        <p:nvSpPr>
          <p:cNvPr id="8" name="Text 5"/>
          <p:cNvSpPr txBox="1"/>
          <p:nvPr/>
        </p:nvSpPr>
        <p:spPr>
          <a:xfrm>
            <a:off x="7863840" y="3083357"/>
            <a:ext cx="3749040" cy="27432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市民面：開くと「次にやること」が出る</a:t>
            </a:r>
            <a:endParaRPr lang="en-US" sz="950" dirty="0"/>
          </a:p>
        </p:txBody>
      </p:sp>
      <p:sp>
        <p:nvSpPr>
          <p:cNvPr id="9" name="Text 6"/>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0" name="Text 7"/>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AAB4BE"/>
                </a:solidFill>
                <a:latin typeface="Meiryo" pitchFamily="34" charset="0"/>
                <a:ea typeface="Meiryo" pitchFamily="34" charset="-122"/>
                <a:cs typeface="Meiryo"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同じ「野良猫の不妊手術」でも、自治体ごとに要綱も様式も受付日も違う。</a:t>
            </a:r>
            <a:endParaRPr lang="en-US" sz="2400" dirty="0"/>
          </a:p>
        </p:txBody>
      </p:sp>
      <p:sp>
        <p:nvSpPr>
          <p:cNvPr id="3" name="Text 1"/>
          <p:cNvSpPr txBox="1"/>
          <p:nvPr/>
        </p:nvSpPr>
        <p:spPr>
          <a:xfrm>
            <a:off x="685800" y="1280160"/>
            <a:ext cx="10817352" cy="73152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京都市は要綱16条＋6様式、登録3年、報告は毎年30日以内。高島市は毎月6日〜末日に申請して翌々月分のチケット、写真付き報告。函館市は個人不可で団体登録が要る。広島市は年度末まで、途中で増えた猫は別扱い。</a:t>
            </a:r>
            <a:endParaRPr lang="en-US" sz="1150" dirty="0"/>
          </a:p>
        </p:txBody>
      </p:sp>
      <p:pic>
        <p:nvPicPr>
          <p:cNvPr id="4" name="Image 0" descr="/home/user/VORN/docs/deck3/yoko_p1.jpg">    </p:cNvPr>
          <p:cNvPicPr>
            <a:picLocks noChangeAspect="1"/>
          </p:cNvPicPr>
          <p:nvPr/>
        </p:nvPicPr>
        <p:blipFill>
          <a:blip r:embed="rId1"/>
          <a:srcRect l="0" r="99973" t="0" b="99973"/>
          <a:stretch/>
        </p:blipFill>
        <p:spPr>
          <a:xfrm>
            <a:off x="685800" y="2148840"/>
            <a:ext cx="910" cy="874"/>
          </a:xfrm>
          <a:prstGeom prst="rect">
            <a:avLst/>
          </a:prstGeom>
        </p:spPr>
      </p:pic>
      <p:sp>
        <p:nvSpPr>
          <p:cNvPr id="5" name="Shape 2"/>
          <p:cNvSpPr/>
          <p:nvPr/>
        </p:nvSpPr>
        <p:spPr>
          <a:xfrm>
            <a:off x="685800" y="2148840"/>
            <a:ext cx="3429000" cy="3291840"/>
          </a:xfrm>
          <a:prstGeom prst="rect">
            <a:avLst/>
          </a:prstGeom>
          <a:ln w="9525">
            <a:solidFill>
              <a:srgbClr val="D5DBE1"/>
            </a:solidFill>
            <a:prstDash val="solid"/>
          </a:ln>
        </p:spPr>
      </p:sp>
      <p:sp>
        <p:nvSpPr>
          <p:cNvPr id="6" name="Text 3"/>
          <p:cNvSpPr txBox="1"/>
          <p:nvPr/>
        </p:nvSpPr>
        <p:spPr>
          <a:xfrm>
            <a:off x="685800"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京都市まちねこ活動支援要綱（PDF、16条）</a:t>
            </a:r>
            <a:endParaRPr lang="en-US" sz="950" dirty="0"/>
          </a:p>
        </p:txBody>
      </p:sp>
      <p:pic>
        <p:nvPicPr>
          <p:cNvPr id="7" name="Image 1" descr="/home/user/VORN/docs/deck3/yoko_form1.jpg">    </p:cNvPr>
          <p:cNvPicPr>
            <a:picLocks noChangeAspect="1"/>
          </p:cNvPicPr>
          <p:nvPr/>
        </p:nvPicPr>
        <p:blipFill>
          <a:blip r:embed="rId2"/>
          <a:srcRect l="0" r="99973" t="0" b="99973"/>
          <a:stretch/>
        </p:blipFill>
        <p:spPr>
          <a:xfrm>
            <a:off x="4398264" y="2148840"/>
            <a:ext cx="910" cy="874"/>
          </a:xfrm>
          <a:prstGeom prst="rect">
            <a:avLst/>
          </a:prstGeom>
        </p:spPr>
      </p:pic>
      <p:sp>
        <p:nvSpPr>
          <p:cNvPr id="8" name="Shape 4"/>
          <p:cNvSpPr/>
          <p:nvPr/>
        </p:nvSpPr>
        <p:spPr>
          <a:xfrm>
            <a:off x="4398264" y="2148840"/>
            <a:ext cx="3429000" cy="3291840"/>
          </a:xfrm>
          <a:prstGeom prst="rect">
            <a:avLst/>
          </a:prstGeom>
          <a:ln w="9525">
            <a:solidFill>
              <a:srgbClr val="D5DBE1"/>
            </a:solidFill>
            <a:prstDash val="solid"/>
          </a:ln>
        </p:spPr>
      </p:sp>
      <p:sp>
        <p:nvSpPr>
          <p:cNvPr id="9" name="Text 5"/>
          <p:cNvSpPr txBox="1"/>
          <p:nvPr/>
        </p:nvSpPr>
        <p:spPr>
          <a:xfrm>
            <a:off x="4398264"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京都市 第1号様式 登録申請書（DOCX配布。要綱PDF内の様式）</a:t>
            </a:r>
            <a:endParaRPr lang="en-US" sz="950" dirty="0"/>
          </a:p>
        </p:txBody>
      </p:sp>
      <p:pic>
        <p:nvPicPr>
          <p:cNvPr id="10" name="Image 2" descr="/home/user/VORN/docs/deck3/tk_page.jpg">    </p:cNvPr>
          <p:cNvPicPr>
            <a:picLocks noChangeAspect="1"/>
          </p:cNvPicPr>
          <p:nvPr/>
        </p:nvPicPr>
        <p:blipFill>
          <a:blip r:embed="rId3"/>
          <a:srcRect l="0" r="99964" t="0" b="99964"/>
          <a:stretch/>
        </p:blipFill>
        <p:spPr>
          <a:xfrm>
            <a:off x="8110728" y="2148840"/>
            <a:ext cx="1224" cy="1175"/>
          </a:xfrm>
          <a:prstGeom prst="rect">
            <a:avLst/>
          </a:prstGeom>
        </p:spPr>
      </p:pic>
      <p:sp>
        <p:nvSpPr>
          <p:cNvPr id="11" name="Shape 6"/>
          <p:cNvSpPr/>
          <p:nvPr/>
        </p:nvSpPr>
        <p:spPr>
          <a:xfrm>
            <a:off x="8110728" y="2148840"/>
            <a:ext cx="3429000" cy="3291840"/>
          </a:xfrm>
          <a:prstGeom prst="rect">
            <a:avLst/>
          </a:prstGeom>
          <a:ln w="9525">
            <a:solidFill>
              <a:srgbClr val="D5DBE1"/>
            </a:solidFill>
            <a:prstDash val="solid"/>
          </a:ln>
        </p:spPr>
      </p:sp>
      <p:sp>
        <p:nvSpPr>
          <p:cNvPr id="12" name="Text 7"/>
          <p:cNvSpPr txBox="1"/>
          <p:nvPr/>
        </p:nvSpPr>
        <p:spPr>
          <a:xfrm>
            <a:off x="8110728"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高島市 環境政策課ページ本文（受付は毎月6日〜末日、翌々月分）</a:t>
            </a:r>
            <a:endParaRPr lang="en-US" sz="950" dirty="0"/>
          </a:p>
        </p:txBody>
      </p:sp>
      <p:sp>
        <p:nvSpPr>
          <p:cNvPr id="13" name="Text 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出典：京都市まちねこ活動支援事業ページ・要綱／高島市 環境政策課ページ／函館市・広島市は各自治体ページ</a:t>
            </a:r>
            <a:endParaRPr lang="en-US" sz="800" dirty="0"/>
          </a:p>
        </p:txBody>
      </p:sp>
      <p:sp>
        <p:nvSpPr>
          <p:cNvPr id="14" name="Text 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市が出すのは手術・保護器・助言まで。あとは住民が無償でやる。</a:t>
            </a:r>
            <a:endParaRPr lang="en-US" sz="2400" dirty="0"/>
          </a:p>
        </p:txBody>
      </p:sp>
      <p:sp>
        <p:nvSpPr>
          <p:cNvPr id="3" name="Text 1"/>
          <p:cNvSpPr txBox="1"/>
          <p:nvPr/>
        </p:nvSpPr>
        <p:spPr>
          <a:xfrm>
            <a:off x="685800" y="1463040"/>
            <a:ext cx="5852160" cy="457200"/>
          </a:xfrm>
          <a:prstGeom prst="rect">
            <a:avLst/>
          </a:prstGeom>
          <a:noFill/>
          <a:ln/>
        </p:spPr>
        <p:txBody>
          <a:bodyPr wrap="square" lIns="0" tIns="0" rIns="0" bIns="0" rtlCol="0" anchor="t"/>
          <a:lstStyle/>
          <a:p>
            <a:pPr algn="l" indent="0" marL="0">
              <a:lnSpc>
                <a:spcPct val="125000"/>
              </a:lnSpc>
              <a:buNone/>
            </a:pPr>
            <a:r>
              <a:rPr lang="en-US" sz="1800" b="1" dirty="0">
                <a:solidFill>
                  <a:srgbClr val="1F2A37"/>
                </a:solidFill>
                <a:latin typeface="Meiryo" pitchFamily="34" charset="0"/>
                <a:ea typeface="Meiryo" pitchFamily="34" charset="-122"/>
                <a:cs typeface="Meiryo" pitchFamily="34" charset="-120"/>
              </a:rPr>
              <a:t>担い手は少なく、高齢で、後継がいない。</a:t>
            </a:r>
            <a:endParaRPr lang="en-US" sz="1800" dirty="0"/>
          </a:p>
        </p:txBody>
      </p:sp>
      <p:sp>
        <p:nvSpPr>
          <p:cNvPr id="4" name="Shape 2"/>
          <p:cNvSpPr/>
          <p:nvPr/>
        </p:nvSpPr>
        <p:spPr>
          <a:xfrm>
            <a:off x="685800" y="2103120"/>
            <a:ext cx="5852160" cy="1188720"/>
          </a:xfrm>
          <a:prstGeom prst="roundRect">
            <a:avLst>
              <a:gd name="adj" fmla="val 6154"/>
            </a:avLst>
          </a:prstGeom>
          <a:solidFill>
            <a:srgbClr val="F1F4F7"/>
          </a:solidFill>
          <a:ln w="12700">
            <a:solidFill>
              <a:srgbClr val="F1F4F7"/>
            </a:solidFill>
            <a:prstDash val="solid"/>
          </a:ln>
        </p:spPr>
      </p:sp>
      <p:sp>
        <p:nvSpPr>
          <p:cNvPr id="5" name="Text 3"/>
          <p:cNvSpPr txBox="1"/>
          <p:nvPr/>
        </p:nvSpPr>
        <p:spPr>
          <a:xfrm>
            <a:off x="868680" y="2194560"/>
            <a:ext cx="5486400" cy="100584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「本来市役所の環境課や愛護センターがやるべきことを、ボランティアが無償でやっている」</a:t>
            </a: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30代女性</a:t>
            </a:r>
            <a:endParaRPr lang="en-US" sz="1250" dirty="0"/>
          </a:p>
        </p:txBody>
      </p:sp>
      <p:sp>
        <p:nvSpPr>
          <p:cNvPr id="6" name="Shape 4"/>
          <p:cNvSpPr/>
          <p:nvPr/>
        </p:nvSpPr>
        <p:spPr>
          <a:xfrm>
            <a:off x="685800" y="3474720"/>
            <a:ext cx="5852160" cy="1005840"/>
          </a:xfrm>
          <a:prstGeom prst="roundRect">
            <a:avLst>
              <a:gd name="adj" fmla="val 7273"/>
            </a:avLst>
          </a:prstGeom>
          <a:solidFill>
            <a:srgbClr val="F1F4F7"/>
          </a:solidFill>
          <a:ln w="12700">
            <a:solidFill>
              <a:srgbClr val="F1F4F7"/>
            </a:solidFill>
            <a:prstDash val="solid"/>
          </a:ln>
        </p:spPr>
      </p:sp>
      <p:sp>
        <p:nvSpPr>
          <p:cNvPr id="7" name="Text 5"/>
          <p:cNvSpPr txBox="1"/>
          <p:nvPr/>
        </p:nvSpPr>
        <p:spPr>
          <a:xfrm>
            <a:off x="868680" y="3566160"/>
            <a:ext cx="5486400" cy="82296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「高齢者が多く、その方がいなくなったら引き継ぐ人がいない」</a:t>
            </a: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50代女性</a:t>
            </a:r>
            <a:endParaRPr lang="en-US" sz="1250" dirty="0"/>
          </a:p>
        </p:txBody>
      </p:sp>
      <p:sp>
        <p:nvSpPr>
          <p:cNvPr id="8" name="Shape 6"/>
          <p:cNvSpPr/>
          <p:nvPr/>
        </p:nvSpPr>
        <p:spPr>
          <a:xfrm>
            <a:off x="7223760" y="1554480"/>
            <a:ext cx="1371600" cy="777240"/>
          </a:xfrm>
          <a:prstGeom prst="roundRect">
            <a:avLst>
              <a:gd name="adj" fmla="val 7059"/>
            </a:avLst>
          </a:prstGeom>
          <a:solidFill>
            <a:srgbClr val="F1F4F7"/>
          </a:solidFill>
          <a:ln w="12700">
            <a:solidFill>
              <a:srgbClr val="C9D1D9"/>
            </a:solidFill>
            <a:prstDash val="solid"/>
          </a:ln>
        </p:spPr>
      </p:sp>
      <p:sp>
        <p:nvSpPr>
          <p:cNvPr id="9" name="Text 7"/>
          <p:cNvSpPr txBox="1"/>
          <p:nvPr/>
        </p:nvSpPr>
        <p:spPr>
          <a:xfrm>
            <a:off x="722376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自治体</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手術・保護器・助言</a:t>
            </a:r>
            <a:endParaRPr lang="en-US" sz="1200" dirty="0"/>
          </a:p>
        </p:txBody>
      </p:sp>
      <p:sp>
        <p:nvSpPr>
          <p:cNvPr id="10" name="Shape 8"/>
          <p:cNvSpPr/>
          <p:nvPr/>
        </p:nvSpPr>
        <p:spPr>
          <a:xfrm>
            <a:off x="8778240" y="1554480"/>
            <a:ext cx="1371600" cy="777240"/>
          </a:xfrm>
          <a:prstGeom prst="roundRect">
            <a:avLst>
              <a:gd name="adj" fmla="val 7059"/>
            </a:avLst>
          </a:prstGeom>
          <a:solidFill>
            <a:srgbClr val="F1F4F7"/>
          </a:solidFill>
          <a:ln w="12700">
            <a:solidFill>
              <a:srgbClr val="C9D1D9"/>
            </a:solidFill>
            <a:prstDash val="solid"/>
          </a:ln>
        </p:spPr>
      </p:sp>
      <p:sp>
        <p:nvSpPr>
          <p:cNvPr id="11" name="Text 9"/>
          <p:cNvSpPr txBox="1"/>
          <p:nvPr/>
        </p:nvSpPr>
        <p:spPr>
          <a:xfrm>
            <a:off x="877824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基金</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チケット・規約</a:t>
            </a:r>
            <a:endParaRPr lang="en-US" sz="1200" dirty="0"/>
          </a:p>
        </p:txBody>
      </p:sp>
      <p:sp>
        <p:nvSpPr>
          <p:cNvPr id="12" name="Shape 10"/>
          <p:cNvSpPr/>
          <p:nvPr/>
        </p:nvSpPr>
        <p:spPr>
          <a:xfrm>
            <a:off x="10332720" y="1554480"/>
            <a:ext cx="1371600" cy="777240"/>
          </a:xfrm>
          <a:prstGeom prst="roundRect">
            <a:avLst>
              <a:gd name="adj" fmla="val 7059"/>
            </a:avLst>
          </a:prstGeom>
          <a:solidFill>
            <a:srgbClr val="F1F4F7"/>
          </a:solidFill>
          <a:ln w="12700">
            <a:solidFill>
              <a:srgbClr val="C9D1D9"/>
            </a:solidFill>
            <a:prstDash val="solid"/>
          </a:ln>
        </p:spPr>
      </p:sp>
      <p:sp>
        <p:nvSpPr>
          <p:cNvPr id="13" name="Text 11"/>
          <p:cNvSpPr txBox="1"/>
          <p:nvPr/>
        </p:nvSpPr>
        <p:spPr>
          <a:xfrm>
            <a:off x="1033272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病院</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予約枠・持込日</a:t>
            </a:r>
            <a:endParaRPr lang="en-US" sz="1200" dirty="0"/>
          </a:p>
        </p:txBody>
      </p:sp>
      <p:sp>
        <p:nvSpPr>
          <p:cNvPr id="14" name="Shape 12"/>
          <p:cNvSpPr/>
          <p:nvPr/>
        </p:nvSpPr>
        <p:spPr>
          <a:xfrm>
            <a:off x="7909560" y="2377440"/>
            <a:ext cx="1325880" cy="1920240"/>
          </a:xfrm>
          <a:prstGeom prst="line">
            <a:avLst/>
          </a:prstGeom>
          <a:noFill/>
          <a:ln w="19050">
            <a:solidFill>
              <a:srgbClr val="1F2A37"/>
            </a:solidFill>
            <a:prstDash val="solid"/>
            <a:tailEnd type="triangle"/>
          </a:ln>
        </p:spPr>
      </p:sp>
      <p:sp>
        <p:nvSpPr>
          <p:cNvPr id="15" name="Shape 13"/>
          <p:cNvSpPr/>
          <p:nvPr/>
        </p:nvSpPr>
        <p:spPr>
          <a:xfrm>
            <a:off x="9464040" y="2377440"/>
            <a:ext cx="914" cy="1920240"/>
          </a:xfrm>
          <a:prstGeom prst="line">
            <a:avLst/>
          </a:prstGeom>
          <a:noFill/>
          <a:ln w="19050">
            <a:solidFill>
              <a:srgbClr val="1F2A37"/>
            </a:solidFill>
            <a:prstDash val="solid"/>
            <a:tailEnd type="triangle"/>
          </a:ln>
        </p:spPr>
      </p:sp>
      <p:sp>
        <p:nvSpPr>
          <p:cNvPr id="16" name="Shape 14"/>
          <p:cNvSpPr/>
          <p:nvPr/>
        </p:nvSpPr>
        <p:spPr>
          <a:xfrm flipH="1">
            <a:off x="9692640" y="2377440"/>
            <a:ext cx="1325880" cy="1920240"/>
          </a:xfrm>
          <a:prstGeom prst="line">
            <a:avLst/>
          </a:prstGeom>
          <a:noFill/>
          <a:ln w="19050">
            <a:solidFill>
              <a:srgbClr val="1F2A37"/>
            </a:solidFill>
            <a:prstDash val="solid"/>
            <a:tailEnd type="triangle"/>
          </a:ln>
        </p:spPr>
      </p:sp>
      <p:sp>
        <p:nvSpPr>
          <p:cNvPr id="17" name="Shape 15"/>
          <p:cNvSpPr/>
          <p:nvPr/>
        </p:nvSpPr>
        <p:spPr>
          <a:xfrm>
            <a:off x="8823960" y="4297680"/>
            <a:ext cx="1280160" cy="1280160"/>
          </a:xfrm>
          <a:prstGeom prst="ellipse">
            <a:avLst/>
          </a:prstGeom>
          <a:solidFill>
            <a:srgbClr val="B5442D"/>
          </a:solidFill>
          <a:ln w="12700">
            <a:solidFill>
              <a:srgbClr val="B5442D"/>
            </a:solidFill>
            <a:prstDash val="solid"/>
          </a:ln>
        </p:spPr>
      </p:sp>
      <p:sp>
        <p:nvSpPr>
          <p:cNvPr id="18" name="Text 16"/>
          <p:cNvSpPr txBox="1"/>
          <p:nvPr/>
        </p:nvSpPr>
        <p:spPr>
          <a:xfrm>
            <a:off x="8823960" y="4297680"/>
            <a:ext cx="1280160" cy="1280160"/>
          </a:xfrm>
          <a:prstGeom prst="rect">
            <a:avLst/>
          </a:prstGeom>
          <a:noFill/>
          <a:ln/>
        </p:spPr>
        <p:txBody>
          <a:bodyPr wrap="square" lIns="0" tIns="0" rIns="0" bIns="0" rtlCol="0" anchor="ctr"/>
          <a:lstStyle/>
          <a:p>
            <a:pPr algn="ctr" indent="0" marL="0">
              <a:lnSpc>
                <a:spcPct val="125000"/>
              </a:lnSpc>
              <a:buNone/>
            </a:pPr>
            <a:r>
              <a:rPr lang="en-US" sz="1600" dirty="0">
                <a:solidFill>
                  <a:srgbClr val="FFFFFF"/>
                </a:solidFill>
                <a:latin typeface="Meiryo" pitchFamily="34" charset="0"/>
                <a:ea typeface="Meiryo" pitchFamily="34" charset="-122"/>
                <a:cs typeface="Meiryo" pitchFamily="34" charset="-120"/>
              </a:rPr>
              <a:t>住民</a:t>
            </a:r>
            <a:endParaRPr lang="en-US" sz="1600" dirty="0"/>
          </a:p>
        </p:txBody>
      </p:sp>
      <p:sp>
        <p:nvSpPr>
          <p:cNvPr id="19" name="Text 17"/>
          <p:cNvSpPr txBox="1"/>
          <p:nvPr/>
        </p:nvSpPr>
        <p:spPr>
          <a:xfrm>
            <a:off x="7772400" y="5669280"/>
            <a:ext cx="3383280" cy="320040"/>
          </a:xfrm>
          <a:prstGeom prst="rect">
            <a:avLst/>
          </a:prstGeom>
          <a:noFill/>
          <a:ln/>
        </p:spPr>
        <p:txBody>
          <a:bodyPr wrap="square" lIns="0" tIns="0" rIns="0" bIns="0" rtlCol="0" anchor="t"/>
          <a:lstStyle/>
          <a:p>
            <a:pPr algn="ctr" indent="0" marL="0">
              <a:lnSpc>
                <a:spcPct val="125000"/>
              </a:lnSpc>
              <a:buNone/>
            </a:pPr>
            <a:r>
              <a:rPr lang="en-US" sz="1100" dirty="0">
                <a:solidFill>
                  <a:srgbClr val="5B6570"/>
                </a:solidFill>
                <a:latin typeface="Meiryo" pitchFamily="34" charset="0"/>
                <a:ea typeface="Meiryo" pitchFamily="34" charset="-122"/>
                <a:cs typeface="Meiryo" pitchFamily="34" charset="-120"/>
              </a:rPr>
              <a:t>無償・少数・高齢・後継なし</a:t>
            </a:r>
            <a:endParaRPr lang="en-US" sz="1100" dirty="0"/>
          </a:p>
        </p:txBody>
      </p:sp>
      <p:sp>
        <p:nvSpPr>
          <p:cNvPr id="20" name="Text 1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出典：福岡県「ペットや飼い主のいない猫の過剰繁殖等の対策について」県民モニター調査（N=349、2022年実施と推定）</a:t>
            </a:r>
            <a:endParaRPr lang="en-US" sz="800" dirty="0"/>
          </a:p>
        </p:txBody>
      </p:sp>
      <p:sp>
        <p:nvSpPr>
          <p:cNvPr id="21" name="Text 1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一つのコロニーを終わらせるために、一人がやっていること。</a:t>
            </a:r>
            <a:endParaRPr lang="en-US" sz="2400" dirty="0"/>
          </a:p>
        </p:txBody>
      </p:sp>
      <p:sp>
        <p:nvSpPr>
          <p:cNvPr id="3" name="Text 1"/>
          <p:cNvSpPr txBox="1"/>
          <p:nvPr/>
        </p:nvSpPr>
        <p:spPr>
          <a:xfrm>
            <a:off x="685800" y="1051560"/>
            <a:ext cx="10817352" cy="274320"/>
          </a:xfrm>
          <a:prstGeom prst="rect">
            <a:avLst/>
          </a:prstGeom>
          <a:noFill/>
          <a:ln/>
        </p:spPr>
        <p:txBody>
          <a:bodyPr wrap="square" lIns="0" tIns="0" rIns="0" bIns="0" rtlCol="0" anchor="t"/>
          <a:lstStyle/>
          <a:p>
            <a:pPr algn="l" indent="0" marL="0">
              <a:lnSpc>
                <a:spcPct val="125000"/>
              </a:lnSpc>
              <a:buNone/>
            </a:pPr>
            <a:r>
              <a:rPr lang="en-US" sz="1100" dirty="0">
                <a:solidFill>
                  <a:srgbClr val="5B6570"/>
                </a:solidFill>
                <a:latin typeface="Meiryo" pitchFamily="34" charset="0"/>
                <a:ea typeface="Meiryo" pitchFamily="34" charset="-122"/>
                <a:cs typeface="Meiryo" pitchFamily="34" charset="-120"/>
              </a:rPr>
              <a:t>京都市の場合。同意が取れた後から3年更新まで、11段。</a:t>
            </a:r>
            <a:endParaRPr lang="en-US" sz="1100" dirty="0"/>
          </a:p>
        </p:txBody>
      </p:sp>
      <p:sp>
        <p:nvSpPr>
          <p:cNvPr id="4" name="Shape 2"/>
          <p:cNvSpPr/>
          <p:nvPr/>
        </p:nvSpPr>
        <p:spPr>
          <a:xfrm>
            <a:off x="685800" y="1371600"/>
            <a:ext cx="1691640" cy="1463040"/>
          </a:xfrm>
          <a:prstGeom prst="roundRect">
            <a:avLst>
              <a:gd name="adj" fmla="val 5000"/>
            </a:avLst>
          </a:prstGeom>
          <a:solidFill>
            <a:srgbClr val="E4EEF9"/>
          </a:solidFill>
          <a:ln w="12700">
            <a:solidFill>
              <a:srgbClr val="E4EEF9"/>
            </a:solidFill>
            <a:prstDash val="solid"/>
          </a:ln>
        </p:spPr>
      </p:sp>
      <p:sp>
        <p:nvSpPr>
          <p:cNvPr id="5" name="Text 3"/>
          <p:cNvSpPr txBox="1"/>
          <p:nvPr/>
        </p:nvSpPr>
        <p:spPr>
          <a:xfrm>
            <a:off x="795528"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①</a:t>
            </a:r>
            <a:endParaRPr lang="en-US" sz="1600" dirty="0"/>
          </a:p>
        </p:txBody>
      </p:sp>
      <p:sp>
        <p:nvSpPr>
          <p:cNvPr id="6" name="Text 4"/>
          <p:cNvSpPr txBox="1"/>
          <p:nvPr/>
        </p:nvSpPr>
        <p:spPr>
          <a:xfrm>
            <a:off x="795528"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要綱を読んで自分の場合を探す</a:t>
            </a:r>
            <a:endParaRPr lang="en-US" sz="1050" dirty="0"/>
          </a:p>
        </p:txBody>
      </p:sp>
      <p:sp>
        <p:nvSpPr>
          <p:cNvPr id="7" name="Shape 5"/>
          <p:cNvSpPr/>
          <p:nvPr/>
        </p:nvSpPr>
        <p:spPr>
          <a:xfrm>
            <a:off x="2496312" y="1371600"/>
            <a:ext cx="1691640" cy="1463040"/>
          </a:xfrm>
          <a:prstGeom prst="roundRect">
            <a:avLst>
              <a:gd name="adj" fmla="val 5000"/>
            </a:avLst>
          </a:prstGeom>
          <a:solidFill>
            <a:srgbClr val="FBE9E5"/>
          </a:solidFill>
          <a:ln w="12700">
            <a:solidFill>
              <a:srgbClr val="FBE9E5"/>
            </a:solidFill>
            <a:prstDash val="solid"/>
          </a:ln>
        </p:spPr>
      </p:sp>
      <p:sp>
        <p:nvSpPr>
          <p:cNvPr id="8" name="Text 6"/>
          <p:cNvSpPr txBox="1"/>
          <p:nvPr/>
        </p:nvSpPr>
        <p:spPr>
          <a:xfrm>
            <a:off x="2606040"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②</a:t>
            </a:r>
            <a:endParaRPr lang="en-US" sz="1600" dirty="0"/>
          </a:p>
        </p:txBody>
      </p:sp>
      <p:sp>
        <p:nvSpPr>
          <p:cNvPr id="9" name="Text 7"/>
          <p:cNvSpPr txBox="1"/>
          <p:nvPr/>
        </p:nvSpPr>
        <p:spPr>
          <a:xfrm>
            <a:off x="2606040"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同一世帯でない住民2人＋京都市民1人を集める</a:t>
            </a:r>
            <a:endParaRPr lang="en-US" sz="1050" dirty="0"/>
          </a:p>
        </p:txBody>
      </p:sp>
      <p:sp>
        <p:nvSpPr>
          <p:cNvPr id="10" name="Shape 8"/>
          <p:cNvSpPr/>
          <p:nvPr/>
        </p:nvSpPr>
        <p:spPr>
          <a:xfrm>
            <a:off x="4306824" y="1371600"/>
            <a:ext cx="1691640" cy="1463040"/>
          </a:xfrm>
          <a:prstGeom prst="roundRect">
            <a:avLst>
              <a:gd name="adj" fmla="val 5000"/>
            </a:avLst>
          </a:prstGeom>
          <a:solidFill>
            <a:srgbClr val="FBE9E5"/>
          </a:solidFill>
          <a:ln w="12700">
            <a:solidFill>
              <a:srgbClr val="FBE9E5"/>
            </a:solidFill>
            <a:prstDash val="solid"/>
          </a:ln>
        </p:spPr>
      </p:sp>
      <p:sp>
        <p:nvSpPr>
          <p:cNvPr id="11" name="Text 9"/>
          <p:cNvSpPr txBox="1"/>
          <p:nvPr/>
        </p:nvSpPr>
        <p:spPr>
          <a:xfrm>
            <a:off x="4416552"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③</a:t>
            </a:r>
            <a:endParaRPr lang="en-US" sz="1600" dirty="0"/>
          </a:p>
        </p:txBody>
      </p:sp>
      <p:sp>
        <p:nvSpPr>
          <p:cNvPr id="12" name="Text 10"/>
          <p:cNvSpPr txBox="1"/>
          <p:nvPr/>
        </p:nvSpPr>
        <p:spPr>
          <a:xfrm>
            <a:off x="4416552"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町内会に説明し日付を控える</a:t>
            </a:r>
            <a:endParaRPr lang="en-US" sz="1050" dirty="0"/>
          </a:p>
        </p:txBody>
      </p:sp>
      <p:sp>
        <p:nvSpPr>
          <p:cNvPr id="13" name="Shape 11"/>
          <p:cNvSpPr/>
          <p:nvPr/>
        </p:nvSpPr>
        <p:spPr>
          <a:xfrm>
            <a:off x="6117336" y="1371600"/>
            <a:ext cx="1691640" cy="1463040"/>
          </a:xfrm>
          <a:prstGeom prst="roundRect">
            <a:avLst>
              <a:gd name="adj" fmla="val 5000"/>
            </a:avLst>
          </a:prstGeom>
          <a:solidFill>
            <a:srgbClr val="E4EEF9"/>
          </a:solidFill>
          <a:ln w="12700">
            <a:solidFill>
              <a:srgbClr val="E4EEF9"/>
            </a:solidFill>
            <a:prstDash val="solid"/>
          </a:ln>
        </p:spPr>
      </p:sp>
      <p:sp>
        <p:nvSpPr>
          <p:cNvPr id="14" name="Text 12"/>
          <p:cNvSpPr txBox="1"/>
          <p:nvPr/>
        </p:nvSpPr>
        <p:spPr>
          <a:xfrm>
            <a:off x="6227064"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④</a:t>
            </a:r>
            <a:endParaRPr lang="en-US" sz="1600" dirty="0"/>
          </a:p>
        </p:txBody>
      </p:sp>
      <p:sp>
        <p:nvSpPr>
          <p:cNvPr id="15" name="Text 13"/>
          <p:cNvSpPr txBox="1"/>
          <p:nvPr/>
        </p:nvSpPr>
        <p:spPr>
          <a:xfrm>
            <a:off x="6227064"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第1号様式・第6号様式を手書き</a:t>
            </a:r>
            <a:endParaRPr lang="en-US" sz="1050" dirty="0"/>
          </a:p>
        </p:txBody>
      </p:sp>
      <p:sp>
        <p:nvSpPr>
          <p:cNvPr id="16" name="Shape 14"/>
          <p:cNvSpPr/>
          <p:nvPr/>
        </p:nvSpPr>
        <p:spPr>
          <a:xfrm>
            <a:off x="7927848" y="1371600"/>
            <a:ext cx="1691640" cy="1463040"/>
          </a:xfrm>
          <a:prstGeom prst="roundRect">
            <a:avLst>
              <a:gd name="adj" fmla="val 5000"/>
            </a:avLst>
          </a:prstGeom>
          <a:solidFill>
            <a:srgbClr val="F1F4F7"/>
          </a:solidFill>
          <a:ln w="12700">
            <a:solidFill>
              <a:srgbClr val="F1F4F7"/>
            </a:solidFill>
            <a:prstDash val="solid"/>
          </a:ln>
        </p:spPr>
      </p:sp>
      <p:sp>
        <p:nvSpPr>
          <p:cNvPr id="17" name="Text 15"/>
          <p:cNvSpPr txBox="1"/>
          <p:nvPr/>
        </p:nvSpPr>
        <p:spPr>
          <a:xfrm>
            <a:off x="8037576"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⑤</a:t>
            </a:r>
            <a:endParaRPr lang="en-US" sz="1600" dirty="0"/>
          </a:p>
        </p:txBody>
      </p:sp>
      <p:sp>
        <p:nvSpPr>
          <p:cNvPr id="18" name="Text 16"/>
          <p:cNvSpPr txBox="1"/>
          <p:nvPr/>
        </p:nvSpPr>
        <p:spPr>
          <a:xfrm>
            <a:off x="8037576"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周辺地図を描く</a:t>
            </a:r>
            <a:endParaRPr lang="en-US" sz="1050" dirty="0"/>
          </a:p>
        </p:txBody>
      </p:sp>
      <p:sp>
        <p:nvSpPr>
          <p:cNvPr id="19" name="Shape 17"/>
          <p:cNvSpPr/>
          <p:nvPr/>
        </p:nvSpPr>
        <p:spPr>
          <a:xfrm>
            <a:off x="9738360" y="1371600"/>
            <a:ext cx="1691640" cy="1463040"/>
          </a:xfrm>
          <a:prstGeom prst="roundRect">
            <a:avLst>
              <a:gd name="adj" fmla="val 5000"/>
            </a:avLst>
          </a:prstGeom>
          <a:solidFill>
            <a:srgbClr val="E4EEF9"/>
          </a:solidFill>
          <a:ln w="12700">
            <a:solidFill>
              <a:srgbClr val="E4EEF9"/>
            </a:solidFill>
            <a:prstDash val="solid"/>
          </a:ln>
        </p:spPr>
      </p:sp>
      <p:sp>
        <p:nvSpPr>
          <p:cNvPr id="20" name="Text 18"/>
          <p:cNvSpPr txBox="1"/>
          <p:nvPr/>
        </p:nvSpPr>
        <p:spPr>
          <a:xfrm>
            <a:off x="9848088"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⑥</a:t>
            </a:r>
            <a:endParaRPr lang="en-US" sz="1600" dirty="0"/>
          </a:p>
        </p:txBody>
      </p:sp>
      <p:sp>
        <p:nvSpPr>
          <p:cNvPr id="21" name="Text 19"/>
          <p:cNvSpPr txBox="1"/>
          <p:nvPr/>
        </p:nvSpPr>
        <p:spPr>
          <a:xfrm>
            <a:off x="9848088"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分からないことは平日にセンターへ電話</a:t>
            </a:r>
            <a:endParaRPr lang="en-US" sz="1050" dirty="0"/>
          </a:p>
        </p:txBody>
      </p:sp>
      <p:sp>
        <p:nvSpPr>
          <p:cNvPr id="22" name="Shape 20"/>
          <p:cNvSpPr/>
          <p:nvPr/>
        </p:nvSpPr>
        <p:spPr>
          <a:xfrm>
            <a:off x="685800" y="2971800"/>
            <a:ext cx="1691640" cy="1463040"/>
          </a:xfrm>
          <a:prstGeom prst="roundRect">
            <a:avLst>
              <a:gd name="adj" fmla="val 5000"/>
            </a:avLst>
          </a:prstGeom>
          <a:solidFill>
            <a:srgbClr val="E4EEF9"/>
          </a:solidFill>
          <a:ln w="12700">
            <a:solidFill>
              <a:srgbClr val="E4EEF9"/>
            </a:solidFill>
            <a:prstDash val="solid"/>
          </a:ln>
        </p:spPr>
      </p:sp>
      <p:sp>
        <p:nvSpPr>
          <p:cNvPr id="23" name="Text 21"/>
          <p:cNvSpPr txBox="1"/>
          <p:nvPr/>
        </p:nvSpPr>
        <p:spPr>
          <a:xfrm>
            <a:off x="795528"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⑦</a:t>
            </a:r>
            <a:endParaRPr lang="en-US" sz="1600" dirty="0"/>
          </a:p>
        </p:txBody>
      </p:sp>
      <p:sp>
        <p:nvSpPr>
          <p:cNvPr id="24" name="Text 22"/>
          <p:cNvSpPr txBox="1"/>
          <p:nvPr/>
        </p:nvSpPr>
        <p:spPr>
          <a:xfrm>
            <a:off x="795528"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受付日と有効期限を自分で管理</a:t>
            </a:r>
            <a:endParaRPr lang="en-US" sz="1050" dirty="0"/>
          </a:p>
        </p:txBody>
      </p:sp>
      <p:sp>
        <p:nvSpPr>
          <p:cNvPr id="25" name="Shape 23"/>
          <p:cNvSpPr/>
          <p:nvPr/>
        </p:nvSpPr>
        <p:spPr>
          <a:xfrm>
            <a:off x="2496312" y="2971800"/>
            <a:ext cx="1691640" cy="1463040"/>
          </a:xfrm>
          <a:prstGeom prst="roundRect">
            <a:avLst>
              <a:gd name="adj" fmla="val 5000"/>
            </a:avLst>
          </a:prstGeom>
          <a:solidFill>
            <a:srgbClr val="FBE9E5"/>
          </a:solidFill>
          <a:ln w="12700">
            <a:solidFill>
              <a:srgbClr val="FBE9E5"/>
            </a:solidFill>
            <a:prstDash val="solid"/>
          </a:ln>
        </p:spPr>
      </p:sp>
      <p:sp>
        <p:nvSpPr>
          <p:cNvPr id="26" name="Text 24"/>
          <p:cNvSpPr txBox="1"/>
          <p:nvPr/>
        </p:nvSpPr>
        <p:spPr>
          <a:xfrm>
            <a:off x="2606040"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⑧</a:t>
            </a:r>
            <a:endParaRPr lang="en-US" sz="1600" dirty="0"/>
          </a:p>
        </p:txBody>
      </p:sp>
      <p:sp>
        <p:nvSpPr>
          <p:cNvPr id="27" name="Text 25"/>
          <p:cNvSpPr txBox="1"/>
          <p:nvPr/>
        </p:nvSpPr>
        <p:spPr>
          <a:xfrm>
            <a:off x="2606040"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第4号様式、保護器を借りて捕獲、持込</a:t>
            </a:r>
            <a:endParaRPr lang="en-US" sz="1050" dirty="0"/>
          </a:p>
        </p:txBody>
      </p:sp>
      <p:sp>
        <p:nvSpPr>
          <p:cNvPr id="28" name="Shape 26"/>
          <p:cNvSpPr/>
          <p:nvPr/>
        </p:nvSpPr>
        <p:spPr>
          <a:xfrm>
            <a:off x="4306824" y="2971800"/>
            <a:ext cx="1691640" cy="1463040"/>
          </a:xfrm>
          <a:prstGeom prst="roundRect">
            <a:avLst>
              <a:gd name="adj" fmla="val 5000"/>
            </a:avLst>
          </a:prstGeom>
          <a:solidFill>
            <a:srgbClr val="E4EEF9"/>
          </a:solidFill>
          <a:ln w="12700">
            <a:solidFill>
              <a:srgbClr val="E4EEF9"/>
            </a:solidFill>
            <a:prstDash val="solid"/>
          </a:ln>
        </p:spPr>
      </p:sp>
      <p:sp>
        <p:nvSpPr>
          <p:cNvPr id="29" name="Text 27"/>
          <p:cNvSpPr txBox="1"/>
          <p:nvPr/>
        </p:nvSpPr>
        <p:spPr>
          <a:xfrm>
            <a:off x="4416552"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⑨</a:t>
            </a:r>
            <a:endParaRPr lang="en-US" sz="1600" dirty="0"/>
          </a:p>
        </p:txBody>
      </p:sp>
      <p:sp>
        <p:nvSpPr>
          <p:cNvPr id="30" name="Text 28"/>
          <p:cNvSpPr txBox="1"/>
          <p:nvPr/>
        </p:nvSpPr>
        <p:spPr>
          <a:xfrm>
            <a:off x="4416552"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1年後に第5号様式を登録日と同月日から30日以内</a:t>
            </a:r>
            <a:endParaRPr lang="en-US" sz="1050" dirty="0"/>
          </a:p>
        </p:txBody>
      </p:sp>
      <p:sp>
        <p:nvSpPr>
          <p:cNvPr id="31" name="Shape 29"/>
          <p:cNvSpPr/>
          <p:nvPr/>
        </p:nvSpPr>
        <p:spPr>
          <a:xfrm>
            <a:off x="6117336" y="2971800"/>
            <a:ext cx="1691640" cy="1463040"/>
          </a:xfrm>
          <a:prstGeom prst="roundRect">
            <a:avLst>
              <a:gd name="adj" fmla="val 5000"/>
            </a:avLst>
          </a:prstGeom>
          <a:solidFill>
            <a:srgbClr val="E4EEF9"/>
          </a:solidFill>
          <a:ln w="12700">
            <a:solidFill>
              <a:srgbClr val="E4EEF9"/>
            </a:solidFill>
            <a:prstDash val="solid"/>
          </a:ln>
        </p:spPr>
      </p:sp>
      <p:sp>
        <p:nvSpPr>
          <p:cNvPr id="32" name="Text 30"/>
          <p:cNvSpPr txBox="1"/>
          <p:nvPr/>
        </p:nvSpPr>
        <p:spPr>
          <a:xfrm>
            <a:off x="6227064"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⑩</a:t>
            </a:r>
            <a:endParaRPr lang="en-US" sz="1600" dirty="0"/>
          </a:p>
        </p:txBody>
      </p:sp>
      <p:sp>
        <p:nvSpPr>
          <p:cNvPr id="33" name="Text 31"/>
          <p:cNvSpPr txBox="1"/>
          <p:nvPr/>
        </p:nvSpPr>
        <p:spPr>
          <a:xfrm>
            <a:off x="6227064"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3年後に第2号様式を満了30日前から</a:t>
            </a:r>
            <a:endParaRPr lang="en-US" sz="1050" dirty="0"/>
          </a:p>
        </p:txBody>
      </p:sp>
      <p:sp>
        <p:nvSpPr>
          <p:cNvPr id="34" name="Shape 32"/>
          <p:cNvSpPr/>
          <p:nvPr/>
        </p:nvSpPr>
        <p:spPr>
          <a:xfrm>
            <a:off x="7927848" y="2971800"/>
            <a:ext cx="1691640" cy="1463040"/>
          </a:xfrm>
          <a:prstGeom prst="roundRect">
            <a:avLst>
              <a:gd name="adj" fmla="val 5000"/>
            </a:avLst>
          </a:prstGeom>
          <a:solidFill>
            <a:srgbClr val="E4EEF9"/>
          </a:solidFill>
          <a:ln w="12700">
            <a:solidFill>
              <a:srgbClr val="E4EEF9"/>
            </a:solidFill>
            <a:prstDash val="solid"/>
          </a:ln>
        </p:spPr>
      </p:sp>
      <p:sp>
        <p:nvSpPr>
          <p:cNvPr id="35" name="Text 33"/>
          <p:cNvSpPr txBox="1"/>
          <p:nvPr/>
        </p:nvSpPr>
        <p:spPr>
          <a:xfrm>
            <a:off x="8037576"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⑪</a:t>
            </a:r>
            <a:endParaRPr lang="en-US" sz="1600" dirty="0"/>
          </a:p>
        </p:txBody>
      </p:sp>
      <p:sp>
        <p:nvSpPr>
          <p:cNvPr id="36" name="Text 34"/>
          <p:cNvSpPr txBox="1"/>
          <p:nvPr/>
        </p:nvSpPr>
        <p:spPr>
          <a:xfrm>
            <a:off x="8037576"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自分が倒れた時の引継ぎ</a:t>
            </a:r>
            <a:endParaRPr lang="en-US" sz="1050" dirty="0"/>
          </a:p>
        </p:txBody>
      </p:sp>
      <p:sp>
        <p:nvSpPr>
          <p:cNvPr id="37" name="Text 35"/>
          <p:cNvSpPr txBox="1"/>
          <p:nvPr/>
        </p:nvSpPr>
        <p:spPr>
          <a:xfrm>
            <a:off x="685800" y="4754880"/>
            <a:ext cx="10817352" cy="365760"/>
          </a:xfrm>
          <a:prstGeom prst="rect">
            <a:avLst/>
          </a:prstGeom>
          <a:noFill/>
          <a:ln/>
        </p:spPr>
        <p:txBody>
          <a:bodyPr wrap="square" lIns="0" tIns="0" rIns="0" bIns="0" rtlCol="0" anchor="ctr"/>
          <a:lstStyle/>
          <a:p>
            <a:pPr indent="0" marL="0">
              <a:buNone/>
            </a:pPr>
            <a:r>
              <a:rPr lang="en-US" sz="900" b="1" dirty="0">
                <a:solidFill>
                  <a:srgbClr val="FFFFFF"/>
                </a:solidFill>
                <a:latin typeface="Meiryo" pitchFamily="34" charset="0"/>
                <a:ea typeface="Meiryo" pitchFamily="34" charset="-122"/>
                <a:cs typeface="Meiryo" pitchFamily="34" charset="-120"/>
              </a:rPr>
              <a:t> 青 </a:t>
            </a:r>
            <a:pPr indent="0" marL="0">
              <a:buNone/>
            </a:pPr>
            <a:r>
              <a:rPr lang="en-US" sz="1100" dirty="0">
                <a:solidFill>
                  <a:srgbClr val="5B6570"/>
                </a:solidFill>
                <a:latin typeface="Meiryo" pitchFamily="34" charset="0"/>
                <a:ea typeface="Meiryo" pitchFamily="34" charset="-122"/>
                <a:cs typeface="Meiryo" pitchFamily="34" charset="-120"/>
              </a:rPr>
              <a:t>  要綱と期限に関わる事務。8枚目で置き換え対象になる    </a:t>
            </a:r>
            <a:pPr indent="0" marL="0">
              <a:buNone/>
            </a:pPr>
            <a:r>
              <a:rPr lang="en-US" sz="900" b="1" dirty="0">
                <a:solidFill>
                  <a:srgbClr val="FFFFFF"/>
                </a:solidFill>
                <a:latin typeface="Meiryo" pitchFamily="34" charset="0"/>
                <a:ea typeface="Meiryo" pitchFamily="34" charset="-122"/>
                <a:cs typeface="Meiryo" pitchFamily="34" charset="-120"/>
              </a:rPr>
              <a:t> 赤 </a:t>
            </a:r>
            <a:pPr indent="0" marL="0">
              <a:buNone/>
            </a:pPr>
            <a:r>
              <a:rPr lang="en-US" sz="1100" dirty="0">
                <a:solidFill>
                  <a:srgbClr val="5B6570"/>
                </a:solidFill>
                <a:latin typeface="Meiryo" pitchFamily="34" charset="0"/>
                <a:ea typeface="Meiryo" pitchFamily="34" charset="-122"/>
                <a:cs typeface="Meiryo" pitchFamily="34" charset="-120"/>
              </a:rPr>
              <a:t>  人がやること（人集め・説明・捕獲）    </a:t>
            </a:r>
            <a:pPr indent="0" marL="0">
              <a:buNone/>
            </a:pPr>
            <a:r>
              <a:rPr lang="en-US" sz="900" b="1" dirty="0">
                <a:solidFill>
                  <a:srgbClr val="FFFFFF"/>
                </a:solidFill>
                <a:latin typeface="Meiryo" pitchFamily="34" charset="0"/>
                <a:ea typeface="Meiryo" pitchFamily="34" charset="-122"/>
                <a:cs typeface="Meiryo" pitchFamily="34" charset="-120"/>
              </a:rPr>
              <a:t> 灰 </a:t>
            </a:r>
            <a:pPr indent="0" marL="0">
              <a:buNone/>
            </a:pPr>
            <a:r>
              <a:rPr lang="en-US" sz="1100" dirty="0">
                <a:solidFill>
                  <a:srgbClr val="5B6570"/>
                </a:solidFill>
                <a:latin typeface="Meiryo" pitchFamily="34" charset="0"/>
                <a:ea typeface="Meiryo" pitchFamily="34" charset="-122"/>
                <a:cs typeface="Meiryo" pitchFamily="34" charset="-120"/>
              </a:rPr>
              <a:t>  その他</a:t>
            </a:r>
            <a:endParaRPr lang="en-US" sz="900" dirty="0"/>
          </a:p>
        </p:txBody>
      </p:sp>
      <p:sp>
        <p:nvSpPr>
          <p:cNvPr id="38" name="Text 36"/>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出典：京都市まちねこ活動支援要綱（第2条・第5条・第6条・第9条・第12条）</a:t>
            </a:r>
            <a:endParaRPr lang="en-US" sz="800" dirty="0"/>
          </a:p>
        </p:txBody>
      </p:sp>
      <p:sp>
        <p:nvSpPr>
          <p:cNvPr id="39" name="Text 37"/>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手間のどこで止まっても、猫は待ってくれない。</a:t>
            </a:r>
            <a:endParaRPr lang="en-US" sz="2400" dirty="0"/>
          </a:p>
        </p:txBody>
      </p:sp>
      <p:sp>
        <p:nvSpPr>
          <p:cNvPr id="3" name="Text 1"/>
          <p:cNvSpPr txBox="1"/>
          <p:nvPr/>
        </p:nvSpPr>
        <p:spPr>
          <a:xfrm>
            <a:off x="685800" y="1371600"/>
            <a:ext cx="5303520" cy="3291840"/>
          </a:xfrm>
          <a:prstGeom prst="rect">
            <a:avLst/>
          </a:prstGeom>
          <a:noFill/>
          <a:ln/>
        </p:spPr>
        <p:txBody>
          <a:bodyPr wrap="square" lIns="0" tIns="0" rIns="0" bIns="0" rtlCol="0" anchor="t"/>
          <a:lstStyle/>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受付を1回逃す → 手術は1か月遅れ → 次の出産（年2〜3回、一度に4〜6匹）が先に来る</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制度を知らず自腹で手術：活動しているのに支援制度を知らない 10.0% ＞ 知っている 8.6%</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報告を落とす → 京都市要綱第7条3項、職権で抹消</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担い手が倒れる → どの猫が手術済みか、餌場がどこか、情報ごと消える</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効くと分かっている（京都市：収容44%減、路上死亡28%減、手術94→1,612頭）のに、活動中の地域数は3年横ばい</a:t>
            </a:r>
            <a:endParaRPr lang="en-US" sz="1150" dirty="0"/>
          </a:p>
        </p:txBody>
      </p:sp>
      <p:sp>
        <p:nvSpPr>
          <p:cNvPr id="4" name="Shape 2"/>
          <p:cNvSpPr/>
          <p:nvPr/>
        </p:nvSpPr>
        <p:spPr>
          <a:xfrm>
            <a:off x="685800" y="4800600"/>
            <a:ext cx="5303520" cy="914400"/>
          </a:xfrm>
          <a:prstGeom prst="roundRect">
            <a:avLst>
              <a:gd name="adj" fmla="val 8000"/>
            </a:avLst>
          </a:prstGeom>
          <a:solidFill>
            <a:srgbClr val="F1F4F7"/>
          </a:solidFill>
          <a:ln w="12700">
            <a:solidFill>
              <a:srgbClr val="F1F4F7"/>
            </a:solidFill>
            <a:prstDash val="solid"/>
          </a:ln>
        </p:spPr>
      </p:sp>
      <p:sp>
        <p:nvSpPr>
          <p:cNvPr id="5" name="Text 3"/>
          <p:cNvSpPr txBox="1"/>
          <p:nvPr/>
        </p:nvSpPr>
        <p:spPr>
          <a:xfrm>
            <a:off x="868680" y="4873752"/>
            <a:ext cx="4937760" cy="77724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「いつ妊娠するか分からないので受付期間を限定しないでほしい」（40代女性）</a:t>
            </a:r>
            <a:endParaRPr lang="en-US" sz="1150" dirty="0"/>
          </a:p>
        </p:txBody>
      </p:sp>
      <p:sp>
        <p:nvSpPr>
          <p:cNvPr id="6" name="Text 4"/>
          <p:cNvSpPr txBox="1"/>
          <p:nvPr/>
        </p:nvSpPr>
        <p:spPr>
          <a:xfrm>
            <a:off x="6400800" y="1783080"/>
            <a:ext cx="5120640" cy="274320"/>
          </a:xfrm>
          <a:prstGeom prst="rect">
            <a:avLst/>
          </a:prstGeom>
          <a:noFill/>
          <a:ln/>
        </p:spPr>
        <p:txBody>
          <a:bodyPr wrap="square" lIns="0" tIns="0" rIns="0" bIns="0" rtlCol="0" anchor="t"/>
          <a:lstStyle/>
          <a:p>
            <a:pPr algn="l" indent="0" marL="0">
              <a:lnSpc>
                <a:spcPct val="125000"/>
              </a:lnSpc>
              <a:buNone/>
            </a:pPr>
            <a:r>
              <a:rPr lang="en-US" sz="1100" dirty="0">
                <a:solidFill>
                  <a:srgbClr val="1F2A37"/>
                </a:solidFill>
                <a:latin typeface="Meiryo" pitchFamily="34" charset="0"/>
                <a:ea typeface="Meiryo" pitchFamily="34" charset="-122"/>
                <a:cs typeface="Meiryo" pitchFamily="34" charset="-120"/>
              </a:rPr>
              <a:t>▮ 制度の受付窓（月1回・数日）→ 使えるのは翌月</a:t>
            </a:r>
            <a:endParaRPr lang="en-US" sz="1100" dirty="0"/>
          </a:p>
        </p:txBody>
      </p:sp>
      <p:sp>
        <p:nvSpPr>
          <p:cNvPr id="7" name="Shape 5"/>
          <p:cNvSpPr/>
          <p:nvPr/>
        </p:nvSpPr>
        <p:spPr>
          <a:xfrm>
            <a:off x="6400800" y="2468880"/>
            <a:ext cx="5120640" cy="0"/>
          </a:xfrm>
          <a:prstGeom prst="line">
            <a:avLst/>
          </a:prstGeom>
          <a:noFill/>
          <a:ln w="25400">
            <a:solidFill>
              <a:srgbClr val="C9D1D9"/>
            </a:solidFill>
            <a:prstDash val="solid"/>
          </a:ln>
        </p:spPr>
      </p:sp>
      <p:sp>
        <p:nvSpPr>
          <p:cNvPr id="8" name="Shape 6"/>
          <p:cNvSpPr/>
          <p:nvPr/>
        </p:nvSpPr>
        <p:spPr>
          <a:xfrm>
            <a:off x="6400800" y="2331720"/>
            <a:ext cx="64008" cy="274320"/>
          </a:xfrm>
          <a:prstGeom prst="rect">
            <a:avLst/>
          </a:prstGeom>
          <a:solidFill>
            <a:srgbClr val="1F2A37"/>
          </a:solidFill>
          <a:ln w="12700">
            <a:solidFill>
              <a:srgbClr val="1F2A37"/>
            </a:solidFill>
            <a:prstDash val="solid"/>
          </a:ln>
        </p:spPr>
      </p:sp>
      <p:sp>
        <p:nvSpPr>
          <p:cNvPr id="9" name="Shape 7"/>
          <p:cNvSpPr/>
          <p:nvPr/>
        </p:nvSpPr>
        <p:spPr>
          <a:xfrm>
            <a:off x="6827520" y="2331720"/>
            <a:ext cx="64008" cy="274320"/>
          </a:xfrm>
          <a:prstGeom prst="rect">
            <a:avLst/>
          </a:prstGeom>
          <a:solidFill>
            <a:srgbClr val="1F2A37"/>
          </a:solidFill>
          <a:ln w="12700">
            <a:solidFill>
              <a:srgbClr val="1F2A37"/>
            </a:solidFill>
            <a:prstDash val="solid"/>
          </a:ln>
        </p:spPr>
      </p:sp>
      <p:sp>
        <p:nvSpPr>
          <p:cNvPr id="10" name="Shape 8"/>
          <p:cNvSpPr/>
          <p:nvPr/>
        </p:nvSpPr>
        <p:spPr>
          <a:xfrm>
            <a:off x="7254240" y="2331720"/>
            <a:ext cx="64008" cy="274320"/>
          </a:xfrm>
          <a:prstGeom prst="rect">
            <a:avLst/>
          </a:prstGeom>
          <a:solidFill>
            <a:srgbClr val="1F2A37"/>
          </a:solidFill>
          <a:ln w="12700">
            <a:solidFill>
              <a:srgbClr val="1F2A37"/>
            </a:solidFill>
            <a:prstDash val="solid"/>
          </a:ln>
        </p:spPr>
      </p:sp>
      <p:sp>
        <p:nvSpPr>
          <p:cNvPr id="11" name="Shape 9"/>
          <p:cNvSpPr/>
          <p:nvPr/>
        </p:nvSpPr>
        <p:spPr>
          <a:xfrm>
            <a:off x="7680960" y="2331720"/>
            <a:ext cx="64008" cy="274320"/>
          </a:xfrm>
          <a:prstGeom prst="rect">
            <a:avLst/>
          </a:prstGeom>
          <a:solidFill>
            <a:srgbClr val="1F2A37"/>
          </a:solidFill>
          <a:ln w="12700">
            <a:solidFill>
              <a:srgbClr val="1F2A37"/>
            </a:solidFill>
            <a:prstDash val="solid"/>
          </a:ln>
        </p:spPr>
      </p:sp>
      <p:sp>
        <p:nvSpPr>
          <p:cNvPr id="12" name="Shape 10"/>
          <p:cNvSpPr/>
          <p:nvPr/>
        </p:nvSpPr>
        <p:spPr>
          <a:xfrm>
            <a:off x="8107680" y="2331720"/>
            <a:ext cx="64008" cy="274320"/>
          </a:xfrm>
          <a:prstGeom prst="rect">
            <a:avLst/>
          </a:prstGeom>
          <a:solidFill>
            <a:srgbClr val="1F2A37"/>
          </a:solidFill>
          <a:ln w="12700">
            <a:solidFill>
              <a:srgbClr val="1F2A37"/>
            </a:solidFill>
            <a:prstDash val="solid"/>
          </a:ln>
        </p:spPr>
      </p:sp>
      <p:sp>
        <p:nvSpPr>
          <p:cNvPr id="13" name="Shape 11"/>
          <p:cNvSpPr/>
          <p:nvPr/>
        </p:nvSpPr>
        <p:spPr>
          <a:xfrm>
            <a:off x="8534400" y="2331720"/>
            <a:ext cx="64008" cy="274320"/>
          </a:xfrm>
          <a:prstGeom prst="rect">
            <a:avLst/>
          </a:prstGeom>
          <a:solidFill>
            <a:srgbClr val="1F2A37"/>
          </a:solidFill>
          <a:ln w="12700">
            <a:solidFill>
              <a:srgbClr val="1F2A37"/>
            </a:solidFill>
            <a:prstDash val="solid"/>
          </a:ln>
        </p:spPr>
      </p:sp>
      <p:sp>
        <p:nvSpPr>
          <p:cNvPr id="14" name="Shape 12"/>
          <p:cNvSpPr/>
          <p:nvPr/>
        </p:nvSpPr>
        <p:spPr>
          <a:xfrm>
            <a:off x="8961120" y="2331720"/>
            <a:ext cx="64008" cy="274320"/>
          </a:xfrm>
          <a:prstGeom prst="rect">
            <a:avLst/>
          </a:prstGeom>
          <a:solidFill>
            <a:srgbClr val="1F2A37"/>
          </a:solidFill>
          <a:ln w="12700">
            <a:solidFill>
              <a:srgbClr val="1F2A37"/>
            </a:solidFill>
            <a:prstDash val="solid"/>
          </a:ln>
        </p:spPr>
      </p:sp>
      <p:sp>
        <p:nvSpPr>
          <p:cNvPr id="15" name="Shape 13"/>
          <p:cNvSpPr/>
          <p:nvPr/>
        </p:nvSpPr>
        <p:spPr>
          <a:xfrm>
            <a:off x="9387840" y="2331720"/>
            <a:ext cx="64008" cy="274320"/>
          </a:xfrm>
          <a:prstGeom prst="rect">
            <a:avLst/>
          </a:prstGeom>
          <a:solidFill>
            <a:srgbClr val="1F2A37"/>
          </a:solidFill>
          <a:ln w="12700">
            <a:solidFill>
              <a:srgbClr val="1F2A37"/>
            </a:solidFill>
            <a:prstDash val="solid"/>
          </a:ln>
        </p:spPr>
      </p:sp>
      <p:sp>
        <p:nvSpPr>
          <p:cNvPr id="16" name="Shape 14"/>
          <p:cNvSpPr/>
          <p:nvPr/>
        </p:nvSpPr>
        <p:spPr>
          <a:xfrm>
            <a:off x="9814560" y="2331720"/>
            <a:ext cx="64008" cy="274320"/>
          </a:xfrm>
          <a:prstGeom prst="rect">
            <a:avLst/>
          </a:prstGeom>
          <a:solidFill>
            <a:srgbClr val="1F2A37"/>
          </a:solidFill>
          <a:ln w="12700">
            <a:solidFill>
              <a:srgbClr val="1F2A37"/>
            </a:solidFill>
            <a:prstDash val="solid"/>
          </a:ln>
        </p:spPr>
      </p:sp>
      <p:sp>
        <p:nvSpPr>
          <p:cNvPr id="17" name="Shape 15"/>
          <p:cNvSpPr/>
          <p:nvPr/>
        </p:nvSpPr>
        <p:spPr>
          <a:xfrm>
            <a:off x="10241280" y="2331720"/>
            <a:ext cx="64008" cy="274320"/>
          </a:xfrm>
          <a:prstGeom prst="rect">
            <a:avLst/>
          </a:prstGeom>
          <a:solidFill>
            <a:srgbClr val="1F2A37"/>
          </a:solidFill>
          <a:ln w="12700">
            <a:solidFill>
              <a:srgbClr val="1F2A37"/>
            </a:solidFill>
            <a:prstDash val="solid"/>
          </a:ln>
        </p:spPr>
      </p:sp>
      <p:sp>
        <p:nvSpPr>
          <p:cNvPr id="18" name="Shape 16"/>
          <p:cNvSpPr/>
          <p:nvPr/>
        </p:nvSpPr>
        <p:spPr>
          <a:xfrm>
            <a:off x="10668000" y="2331720"/>
            <a:ext cx="64008" cy="274320"/>
          </a:xfrm>
          <a:prstGeom prst="rect">
            <a:avLst/>
          </a:prstGeom>
          <a:solidFill>
            <a:srgbClr val="1F2A37"/>
          </a:solidFill>
          <a:ln w="12700">
            <a:solidFill>
              <a:srgbClr val="1F2A37"/>
            </a:solidFill>
            <a:prstDash val="solid"/>
          </a:ln>
        </p:spPr>
      </p:sp>
      <p:sp>
        <p:nvSpPr>
          <p:cNvPr id="19" name="Shape 17"/>
          <p:cNvSpPr/>
          <p:nvPr/>
        </p:nvSpPr>
        <p:spPr>
          <a:xfrm>
            <a:off x="11094720" y="2331720"/>
            <a:ext cx="64008" cy="274320"/>
          </a:xfrm>
          <a:prstGeom prst="rect">
            <a:avLst/>
          </a:prstGeom>
          <a:solidFill>
            <a:srgbClr val="1F2A37"/>
          </a:solidFill>
          <a:ln w="12700">
            <a:solidFill>
              <a:srgbClr val="1F2A37"/>
            </a:solidFill>
            <a:prstDash val="solid"/>
          </a:ln>
        </p:spPr>
      </p:sp>
      <p:sp>
        <p:nvSpPr>
          <p:cNvPr id="20" name="Text 18"/>
          <p:cNvSpPr txBox="1"/>
          <p:nvPr/>
        </p:nvSpPr>
        <p:spPr>
          <a:xfrm>
            <a:off x="617220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4月</a:t>
            </a:r>
            <a:endParaRPr lang="en-US" sz="1000" dirty="0"/>
          </a:p>
        </p:txBody>
      </p:sp>
      <p:sp>
        <p:nvSpPr>
          <p:cNvPr id="21" name="Text 19"/>
          <p:cNvSpPr txBox="1"/>
          <p:nvPr/>
        </p:nvSpPr>
        <p:spPr>
          <a:xfrm>
            <a:off x="745236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7月</a:t>
            </a:r>
            <a:endParaRPr lang="en-US" sz="1000" dirty="0"/>
          </a:p>
        </p:txBody>
      </p:sp>
      <p:sp>
        <p:nvSpPr>
          <p:cNvPr id="22" name="Text 20"/>
          <p:cNvSpPr txBox="1"/>
          <p:nvPr/>
        </p:nvSpPr>
        <p:spPr>
          <a:xfrm>
            <a:off x="873252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10月</a:t>
            </a:r>
            <a:endParaRPr lang="en-US" sz="1000" dirty="0"/>
          </a:p>
        </p:txBody>
      </p:sp>
      <p:sp>
        <p:nvSpPr>
          <p:cNvPr id="23" name="Text 21"/>
          <p:cNvSpPr txBox="1"/>
          <p:nvPr/>
        </p:nvSpPr>
        <p:spPr>
          <a:xfrm>
            <a:off x="1001268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1月</a:t>
            </a:r>
            <a:endParaRPr lang="en-US" sz="1000" dirty="0"/>
          </a:p>
        </p:txBody>
      </p:sp>
      <p:sp>
        <p:nvSpPr>
          <p:cNvPr id="24" name="Text 22"/>
          <p:cNvSpPr txBox="1"/>
          <p:nvPr/>
        </p:nvSpPr>
        <p:spPr>
          <a:xfrm>
            <a:off x="1129284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4月</a:t>
            </a:r>
            <a:endParaRPr lang="en-US" sz="1000" dirty="0"/>
          </a:p>
        </p:txBody>
      </p:sp>
      <p:sp>
        <p:nvSpPr>
          <p:cNvPr id="25" name="Shape 23"/>
          <p:cNvSpPr/>
          <p:nvPr/>
        </p:nvSpPr>
        <p:spPr>
          <a:xfrm>
            <a:off x="6965899" y="3200400"/>
            <a:ext cx="201168" cy="201168"/>
          </a:xfrm>
          <a:prstGeom prst="ellipse">
            <a:avLst/>
          </a:prstGeom>
          <a:solidFill>
            <a:srgbClr val="B5442D"/>
          </a:solidFill>
          <a:ln w="12700">
            <a:solidFill>
              <a:srgbClr val="B5442D"/>
            </a:solidFill>
            <a:prstDash val="solid"/>
          </a:ln>
        </p:spPr>
      </p:sp>
      <p:sp>
        <p:nvSpPr>
          <p:cNvPr id="26" name="Shape 24"/>
          <p:cNvSpPr/>
          <p:nvPr/>
        </p:nvSpPr>
        <p:spPr>
          <a:xfrm>
            <a:off x="8860536" y="3200400"/>
            <a:ext cx="201168" cy="201168"/>
          </a:xfrm>
          <a:prstGeom prst="ellipse">
            <a:avLst/>
          </a:prstGeom>
          <a:solidFill>
            <a:srgbClr val="B5442D"/>
          </a:solidFill>
          <a:ln w="12700">
            <a:solidFill>
              <a:srgbClr val="B5442D"/>
            </a:solidFill>
            <a:prstDash val="solid"/>
          </a:ln>
        </p:spPr>
      </p:sp>
      <p:sp>
        <p:nvSpPr>
          <p:cNvPr id="27" name="Shape 25"/>
          <p:cNvSpPr/>
          <p:nvPr/>
        </p:nvSpPr>
        <p:spPr>
          <a:xfrm>
            <a:off x="10755173" y="3200400"/>
            <a:ext cx="201168" cy="201168"/>
          </a:xfrm>
          <a:prstGeom prst="ellipse">
            <a:avLst/>
          </a:prstGeom>
          <a:solidFill>
            <a:srgbClr val="B5442D"/>
          </a:solidFill>
          <a:ln w="12700">
            <a:solidFill>
              <a:srgbClr val="B5442D"/>
            </a:solidFill>
            <a:prstDash val="solid"/>
          </a:ln>
        </p:spPr>
      </p:sp>
      <p:sp>
        <p:nvSpPr>
          <p:cNvPr id="28" name="Text 26"/>
          <p:cNvSpPr txBox="1"/>
          <p:nvPr/>
        </p:nvSpPr>
        <p:spPr>
          <a:xfrm>
            <a:off x="6400800" y="3566160"/>
            <a:ext cx="5120640" cy="274320"/>
          </a:xfrm>
          <a:prstGeom prst="rect">
            <a:avLst/>
          </a:prstGeom>
          <a:noFill/>
          <a:ln/>
        </p:spPr>
        <p:txBody>
          <a:bodyPr wrap="square" lIns="0" tIns="0" rIns="0" bIns="0" rtlCol="0" anchor="t"/>
          <a:lstStyle/>
          <a:p>
            <a:pPr algn="l" indent="0" marL="0">
              <a:lnSpc>
                <a:spcPct val="125000"/>
              </a:lnSpc>
              <a:buNone/>
            </a:pPr>
            <a:r>
              <a:rPr lang="en-US" sz="1100" dirty="0">
                <a:solidFill>
                  <a:srgbClr val="B5442D"/>
                </a:solidFill>
                <a:latin typeface="Meiryo" pitchFamily="34" charset="0"/>
                <a:ea typeface="Meiryo" pitchFamily="34" charset="-122"/>
                <a:cs typeface="Meiryo" pitchFamily="34" charset="-120"/>
              </a:rPr>
              <a:t>● 出産（年2〜3回、一度に4〜6匹）</a:t>
            </a:r>
            <a:endParaRPr lang="en-US" sz="1100" dirty="0"/>
          </a:p>
        </p:txBody>
      </p:sp>
      <p:sp>
        <p:nvSpPr>
          <p:cNvPr id="29" name="Text 27"/>
          <p:cNvSpPr txBox="1"/>
          <p:nvPr/>
        </p:nvSpPr>
        <p:spPr>
          <a:xfrm>
            <a:off x="6400800" y="3931920"/>
            <a:ext cx="5120640" cy="32004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窓を1回逃すと手術は1か月遅れ、次の出産が先に来る。</a:t>
            </a:r>
            <a:endParaRPr lang="en-US" sz="1150" dirty="0"/>
          </a:p>
        </p:txBody>
      </p:sp>
      <p:sp>
        <p:nvSpPr>
          <p:cNvPr id="30" name="Text 2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出典：どうぶつ基金 チケットFAQ・規約／福岡県調査／京都市10年評価／京都市要綱 第7条</a:t>
            </a:r>
            <a:endParaRPr lang="en-US" sz="800" dirty="0"/>
          </a:p>
        </p:txBody>
      </p:sp>
      <p:sp>
        <p:nvSpPr>
          <p:cNvPr id="31" name="Text 2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非営利で金が回らず、自治体ごとに違うので個別開発も成立しない。だから人手しかなかった。</a:t>
            </a:r>
            <a:endParaRPr lang="en-US" sz="2400" dirty="0"/>
          </a:p>
        </p:txBody>
      </p:sp>
      <p:sp>
        <p:nvSpPr>
          <p:cNvPr id="3" name="Text 1"/>
          <p:cNvSpPr txBox="1"/>
          <p:nvPr/>
        </p:nvSpPr>
        <p:spPr>
          <a:xfrm>
            <a:off x="685800" y="1463040"/>
            <a:ext cx="10817352" cy="548640"/>
          </a:xfrm>
          <a:prstGeom prst="rect">
            <a:avLst/>
          </a:prstGeom>
          <a:noFill/>
          <a:ln/>
        </p:spPr>
        <p:txBody>
          <a:bodyPr wrap="square" lIns="0" tIns="0" rIns="0" bIns="0" rtlCol="0" anchor="t"/>
          <a:lstStyle/>
          <a:p>
            <a:pPr algn="l" indent="0" marL="0">
              <a:lnSpc>
                <a:spcPct val="125000"/>
              </a:lnSpc>
              <a:buNone/>
            </a:pPr>
            <a:r>
              <a:rPr lang="en-US" sz="1300" dirty="0">
                <a:solidFill>
                  <a:srgbClr val="1F2A37"/>
                </a:solidFill>
                <a:latin typeface="Meiryo" pitchFamily="34" charset="0"/>
                <a:ea typeface="Meiryo" pitchFamily="34" charset="-122"/>
                <a:cs typeface="Meiryo" pitchFamily="34" charset="-120"/>
              </a:rPr>
              <a:t>1自治体の担い手は数十〜数百人。協働自治体は298で要綱は全部違う。誰も作らず、現場は電話・LINE・Excel・紙のまま。</a:t>
            </a:r>
            <a:endParaRPr lang="en-US" sz="1300" dirty="0"/>
          </a:p>
        </p:txBody>
      </p:sp>
      <p:sp>
        <p:nvSpPr>
          <p:cNvPr id="4" name="Text 2"/>
          <p:cNvSpPr txBox="1"/>
          <p:nvPr/>
        </p:nvSpPr>
        <p:spPr>
          <a:xfrm>
            <a:off x="685800" y="2148840"/>
            <a:ext cx="10817352" cy="274320"/>
          </a:xfrm>
          <a:prstGeom prst="rect">
            <a:avLst/>
          </a:prstGeom>
          <a:noFill/>
          <a:ln/>
        </p:spPr>
        <p:txBody>
          <a:bodyPr wrap="square" lIns="0" tIns="0" rIns="0" bIns="0" rtlCol="0" anchor="t"/>
          <a:lstStyle/>
          <a:p>
            <a:pPr algn="l" indent="0" marL="0">
              <a:lnSpc>
                <a:spcPct val="125000"/>
              </a:lnSpc>
              <a:buNone/>
            </a:pPr>
            <a:r>
              <a:rPr lang="en-US" sz="1100" dirty="0">
                <a:solidFill>
                  <a:srgbClr val="5B6570"/>
                </a:solidFill>
                <a:latin typeface="Meiryo" pitchFamily="34" charset="0"/>
                <a:ea typeface="Meiryo" pitchFamily="34" charset="-122"/>
                <a:cs typeface="Meiryo" pitchFamily="34" charset="-120"/>
              </a:rPr>
              <a:t>それぞれの悩み</a:t>
            </a:r>
            <a:endParaRPr lang="en-US" sz="1100" dirty="0"/>
          </a:p>
        </p:txBody>
      </p:sp>
      <p:sp>
        <p:nvSpPr>
          <p:cNvPr id="5" name="Shape 3"/>
          <p:cNvSpPr/>
          <p:nvPr/>
        </p:nvSpPr>
        <p:spPr>
          <a:xfrm>
            <a:off x="685800" y="2514600"/>
            <a:ext cx="2560320" cy="2377440"/>
          </a:xfrm>
          <a:prstGeom prst="roundRect">
            <a:avLst>
              <a:gd name="adj" fmla="val 3077"/>
            </a:avLst>
          </a:prstGeom>
          <a:solidFill>
            <a:srgbClr val="F1F4F7"/>
          </a:solidFill>
          <a:ln w="12700">
            <a:solidFill>
              <a:srgbClr val="F1F4F7"/>
            </a:solidFill>
            <a:prstDash val="solid"/>
          </a:ln>
        </p:spPr>
      </p:sp>
      <p:sp>
        <p:nvSpPr>
          <p:cNvPr id="6" name="Text 4"/>
          <p:cNvSpPr txBox="1"/>
          <p:nvPr/>
        </p:nvSpPr>
        <p:spPr>
          <a:xfrm>
            <a:off x="8686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ボランティア</a:t>
            </a:r>
            <a:endParaRPr lang="en-US" sz="1500" dirty="0"/>
          </a:p>
        </p:txBody>
      </p:sp>
      <p:sp>
        <p:nvSpPr>
          <p:cNvPr id="7" name="Text 5"/>
          <p:cNvSpPr txBox="1"/>
          <p:nvPr/>
        </p:nvSpPr>
        <p:spPr>
          <a:xfrm>
            <a:off x="8686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要綱が読めない。期限を忘れる。電話が平日しか通じない。</a:t>
            </a:r>
            <a:endParaRPr lang="en-US" sz="1200" dirty="0"/>
          </a:p>
        </p:txBody>
      </p:sp>
      <p:sp>
        <p:nvSpPr>
          <p:cNvPr id="8" name="Shape 6"/>
          <p:cNvSpPr/>
          <p:nvPr/>
        </p:nvSpPr>
        <p:spPr>
          <a:xfrm>
            <a:off x="3429000" y="2514600"/>
            <a:ext cx="2560320" cy="2377440"/>
          </a:xfrm>
          <a:prstGeom prst="roundRect">
            <a:avLst>
              <a:gd name="adj" fmla="val 3077"/>
            </a:avLst>
          </a:prstGeom>
          <a:solidFill>
            <a:srgbClr val="F1F4F7"/>
          </a:solidFill>
          <a:ln w="12700">
            <a:solidFill>
              <a:srgbClr val="F1F4F7"/>
            </a:solidFill>
            <a:prstDash val="solid"/>
          </a:ln>
        </p:spPr>
      </p:sp>
      <p:sp>
        <p:nvSpPr>
          <p:cNvPr id="9" name="Text 7"/>
          <p:cNvSpPr txBox="1"/>
          <p:nvPr/>
        </p:nvSpPr>
        <p:spPr>
          <a:xfrm>
            <a:off x="36118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市の職員</a:t>
            </a:r>
            <a:endParaRPr lang="en-US" sz="1500" dirty="0"/>
          </a:p>
        </p:txBody>
      </p:sp>
      <p:sp>
        <p:nvSpPr>
          <p:cNvPr id="10" name="Text 8"/>
          <p:cNvSpPr txBox="1"/>
          <p:nvPr/>
        </p:nvSpPr>
        <p:spPr>
          <a:xfrm>
            <a:off x="36118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不備で往復。電話の一次対応。登録地域の現況が報告頼み。</a:t>
            </a:r>
            <a:endParaRPr lang="en-US" sz="1200" dirty="0"/>
          </a:p>
        </p:txBody>
      </p:sp>
      <p:sp>
        <p:nvSpPr>
          <p:cNvPr id="11" name="Shape 9"/>
          <p:cNvSpPr/>
          <p:nvPr/>
        </p:nvSpPr>
        <p:spPr>
          <a:xfrm>
            <a:off x="6172200" y="2514600"/>
            <a:ext cx="2560320" cy="2377440"/>
          </a:xfrm>
          <a:prstGeom prst="roundRect">
            <a:avLst>
              <a:gd name="adj" fmla="val 3077"/>
            </a:avLst>
          </a:prstGeom>
          <a:solidFill>
            <a:srgbClr val="F1F4F7"/>
          </a:solidFill>
          <a:ln w="12700">
            <a:solidFill>
              <a:srgbClr val="F1F4F7"/>
            </a:solidFill>
            <a:prstDash val="solid"/>
          </a:ln>
        </p:spPr>
      </p:sp>
      <p:sp>
        <p:nvSpPr>
          <p:cNvPr id="12" name="Text 10"/>
          <p:cNvSpPr txBox="1"/>
          <p:nvPr/>
        </p:nvSpPr>
        <p:spPr>
          <a:xfrm>
            <a:off x="63550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近隣住民</a:t>
            </a:r>
            <a:endParaRPr lang="en-US" sz="1500" dirty="0"/>
          </a:p>
        </p:txBody>
      </p:sp>
      <p:sp>
        <p:nvSpPr>
          <p:cNvPr id="13" name="Text 11"/>
          <p:cNvSpPr txBox="1"/>
          <p:nvPr/>
        </p:nvSpPr>
        <p:spPr>
          <a:xfrm>
            <a:off x="63550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苦情を出しても行政は収容しない。活動が始まるまで解決手段がない。</a:t>
            </a:r>
            <a:endParaRPr lang="en-US" sz="1200" dirty="0"/>
          </a:p>
        </p:txBody>
      </p:sp>
      <p:sp>
        <p:nvSpPr>
          <p:cNvPr id="14" name="Shape 12"/>
          <p:cNvSpPr/>
          <p:nvPr/>
        </p:nvSpPr>
        <p:spPr>
          <a:xfrm>
            <a:off x="8915400" y="2514600"/>
            <a:ext cx="2560320" cy="2377440"/>
          </a:xfrm>
          <a:prstGeom prst="roundRect">
            <a:avLst>
              <a:gd name="adj" fmla="val 3077"/>
            </a:avLst>
          </a:prstGeom>
          <a:solidFill>
            <a:srgbClr val="F1F4F7"/>
          </a:solidFill>
          <a:ln w="12700">
            <a:solidFill>
              <a:srgbClr val="F1F4F7"/>
            </a:solidFill>
            <a:prstDash val="solid"/>
          </a:ln>
        </p:spPr>
      </p:sp>
      <p:sp>
        <p:nvSpPr>
          <p:cNvPr id="15" name="Text 13"/>
          <p:cNvSpPr txBox="1"/>
          <p:nvPr/>
        </p:nvSpPr>
        <p:spPr>
          <a:xfrm>
            <a:off x="90982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病院・センター</a:t>
            </a:r>
            <a:endParaRPr lang="en-US" sz="1500" dirty="0"/>
          </a:p>
        </p:txBody>
      </p:sp>
      <p:sp>
        <p:nvSpPr>
          <p:cNvPr id="16" name="Text 14"/>
          <p:cNvSpPr txBox="1"/>
          <p:nvPr/>
        </p:nvSpPr>
        <p:spPr>
          <a:xfrm>
            <a:off x="90982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持込頭数と時期が読めない。</a:t>
            </a:r>
            <a:endParaRPr lang="en-US" sz="1200" dirty="0"/>
          </a:p>
        </p:txBody>
      </p:sp>
      <p:sp>
        <p:nvSpPr>
          <p:cNvPr id="17" name="Text 15"/>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出典：どうぶつ基金 2022年度実績（298行政）／堺市 猫の困りごとページ</a:t>
            </a:r>
            <a:endParaRPr lang="en-US" sz="800" dirty="0"/>
          </a:p>
        </p:txBody>
      </p:sp>
      <p:sp>
        <p:nvSpPr>
          <p:cNvPr id="18" name="Text 16"/>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2A37"/>
        </a:solidFill>
      </p:bgPr>
    </p:bg>
    <p:spTree>
      <p:nvGrpSpPr>
        <p:cNvPr id="1" name=""/>
        <p:cNvGrpSpPr/>
        <p:nvPr/>
      </p:nvGrpSpPr>
      <p:grpSpPr>
        <a:xfrm>
          <a:off x="0" y="0"/>
          <a:ext cx="0" cy="0"/>
          <a:chOff x="0" y="0"/>
          <a:chExt cx="0" cy="0"/>
        </a:xfrm>
      </p:grpSpPr>
      <p:sp>
        <p:nvSpPr>
          <p:cNvPr id="2" name="Text 0"/>
          <p:cNvSpPr txBox="1"/>
          <p:nvPr/>
        </p:nvSpPr>
        <p:spPr>
          <a:xfrm>
            <a:off x="685800" y="2743200"/>
            <a:ext cx="10817352" cy="1097280"/>
          </a:xfrm>
          <a:prstGeom prst="rect">
            <a:avLst/>
          </a:prstGeom>
          <a:noFill/>
          <a:ln/>
        </p:spPr>
        <p:txBody>
          <a:bodyPr wrap="square" lIns="0" tIns="0" rIns="0" bIns="0" rtlCol="0" anchor="ctr"/>
          <a:lstStyle/>
          <a:p>
            <a:pPr algn="ctr" indent="0" marL="0">
              <a:lnSpc>
                <a:spcPct val="125000"/>
              </a:lnSpc>
              <a:buNone/>
            </a:pPr>
            <a:r>
              <a:rPr lang="en-US" sz="3400" b="1" dirty="0">
                <a:solidFill>
                  <a:srgbClr val="FFFFFF"/>
                </a:solidFill>
                <a:latin typeface="Meiryo" pitchFamily="34" charset="0"/>
                <a:ea typeface="Meiryo" pitchFamily="34" charset="-122"/>
                <a:cs typeface="Meiryo" pitchFamily="34" charset="-120"/>
              </a:rPr>
              <a:t>人手を増やさずに、この手間を消せるか。</a:t>
            </a:r>
            <a:endParaRPr lang="en-US" sz="3400" dirty="0"/>
          </a:p>
        </p:txBody>
      </p:sp>
      <p:sp>
        <p:nvSpPr>
          <p:cNvPr id="3" name="Text 1"/>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4" name="Text 2"/>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AAB4BE"/>
                </a:solidFill>
                <a:latin typeface="Meiryo" pitchFamily="34" charset="0"/>
                <a:ea typeface="Meiryo" pitchFamily="34" charset="-122"/>
                <a:cs typeface="Meiryo"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AIは自然言語の規則をそのまま読み、個別の事情にまとめ直し、何件でも追い続けられる。</a:t>
            </a:r>
            <a:endParaRPr lang="en-US" sz="2400" dirty="0"/>
          </a:p>
        </p:txBody>
      </p:sp>
      <p:sp>
        <p:nvSpPr>
          <p:cNvPr id="3" name="Shape 1"/>
          <p:cNvSpPr/>
          <p:nvPr/>
        </p:nvSpPr>
        <p:spPr>
          <a:xfrm>
            <a:off x="685800" y="1463040"/>
            <a:ext cx="2560320" cy="2286000"/>
          </a:xfrm>
          <a:prstGeom prst="roundRect">
            <a:avLst>
              <a:gd name="adj" fmla="val 3200"/>
            </a:avLst>
          </a:prstGeom>
          <a:solidFill>
            <a:srgbClr val="F1F4F7"/>
          </a:solidFill>
          <a:ln w="12700">
            <a:solidFill>
              <a:srgbClr val="F1F4F7"/>
            </a:solidFill>
            <a:prstDash val="solid"/>
          </a:ln>
        </p:spPr>
      </p:sp>
      <p:sp>
        <p:nvSpPr>
          <p:cNvPr id="4" name="Text 2"/>
          <p:cNvSpPr txBox="1"/>
          <p:nvPr/>
        </p:nvSpPr>
        <p:spPr>
          <a:xfrm>
            <a:off x="8686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読める</a:t>
            </a:r>
            <a:endParaRPr lang="en-US" sz="1500" dirty="0"/>
          </a:p>
        </p:txBody>
      </p:sp>
      <p:sp>
        <p:nvSpPr>
          <p:cNvPr id="5" name="Text 3"/>
          <p:cNvSpPr txBox="1"/>
          <p:nvPr/>
        </p:nvSpPr>
        <p:spPr>
          <a:xfrm>
            <a:off x="8686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要綱PDF・様式DOCX・FAQを構造化せずそのまま読み、条件と期限を引く。</a:t>
            </a:r>
            <a:endParaRPr lang="en-US" sz="1200" dirty="0"/>
          </a:p>
        </p:txBody>
      </p:sp>
      <p:sp>
        <p:nvSpPr>
          <p:cNvPr id="6" name="Shape 4"/>
          <p:cNvSpPr/>
          <p:nvPr/>
        </p:nvSpPr>
        <p:spPr>
          <a:xfrm>
            <a:off x="3429000" y="1463040"/>
            <a:ext cx="2560320" cy="2286000"/>
          </a:xfrm>
          <a:prstGeom prst="roundRect">
            <a:avLst>
              <a:gd name="adj" fmla="val 3200"/>
            </a:avLst>
          </a:prstGeom>
          <a:solidFill>
            <a:srgbClr val="F1F4F7"/>
          </a:solidFill>
          <a:ln w="12700">
            <a:solidFill>
              <a:srgbClr val="F1F4F7"/>
            </a:solidFill>
            <a:prstDash val="solid"/>
          </a:ln>
        </p:spPr>
      </p:sp>
      <p:sp>
        <p:nvSpPr>
          <p:cNvPr id="7" name="Text 5"/>
          <p:cNvSpPr txBox="1"/>
          <p:nvPr/>
        </p:nvSpPr>
        <p:spPr>
          <a:xfrm>
            <a:off x="36118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まとめ直せる</a:t>
            </a:r>
            <a:endParaRPr lang="en-US" sz="1500" dirty="0"/>
          </a:p>
        </p:txBody>
      </p:sp>
      <p:sp>
        <p:nvSpPr>
          <p:cNvPr id="8" name="Text 6"/>
          <p:cNvSpPr txBox="1"/>
          <p:nvPr/>
        </p:nvSpPr>
        <p:spPr>
          <a:xfrm>
            <a:off x="36118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「この場所・この頭数・この自治体・今日」に翻訳して返す。</a:t>
            </a:r>
            <a:endParaRPr lang="en-US" sz="1200" dirty="0"/>
          </a:p>
        </p:txBody>
      </p:sp>
      <p:sp>
        <p:nvSpPr>
          <p:cNvPr id="9" name="Shape 7"/>
          <p:cNvSpPr/>
          <p:nvPr/>
        </p:nvSpPr>
        <p:spPr>
          <a:xfrm>
            <a:off x="6172200" y="1463040"/>
            <a:ext cx="2560320" cy="2286000"/>
          </a:xfrm>
          <a:prstGeom prst="roundRect">
            <a:avLst>
              <a:gd name="adj" fmla="val 3200"/>
            </a:avLst>
          </a:prstGeom>
          <a:solidFill>
            <a:srgbClr val="F1F4F7"/>
          </a:solidFill>
          <a:ln w="12700">
            <a:solidFill>
              <a:srgbClr val="F1F4F7"/>
            </a:solidFill>
            <a:prstDash val="solid"/>
          </a:ln>
        </p:spPr>
      </p:sp>
      <p:sp>
        <p:nvSpPr>
          <p:cNvPr id="10" name="Text 8"/>
          <p:cNvSpPr txBox="1"/>
          <p:nvPr/>
        </p:nvSpPr>
        <p:spPr>
          <a:xfrm>
            <a:off x="63550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追い続ける</a:t>
            </a:r>
            <a:endParaRPr lang="en-US" sz="1500" dirty="0"/>
          </a:p>
        </p:txBody>
      </p:sp>
      <p:sp>
        <p:nvSpPr>
          <p:cNvPr id="11" name="Text 9"/>
          <p:cNvSpPr txBox="1"/>
          <p:nvPr/>
        </p:nvSpPr>
        <p:spPr>
          <a:xfrm>
            <a:off x="63550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登録日から期限を計算し、期日に促す。忘れない。</a:t>
            </a:r>
            <a:endParaRPr lang="en-US" sz="1200" dirty="0"/>
          </a:p>
        </p:txBody>
      </p:sp>
      <p:sp>
        <p:nvSpPr>
          <p:cNvPr id="12" name="Shape 10"/>
          <p:cNvSpPr/>
          <p:nvPr/>
        </p:nvSpPr>
        <p:spPr>
          <a:xfrm>
            <a:off x="8915400" y="1463040"/>
            <a:ext cx="2560320" cy="2286000"/>
          </a:xfrm>
          <a:prstGeom prst="roundRect">
            <a:avLst>
              <a:gd name="adj" fmla="val 3200"/>
            </a:avLst>
          </a:prstGeom>
          <a:solidFill>
            <a:srgbClr val="F1F4F7"/>
          </a:solidFill>
          <a:ln w="12700">
            <a:solidFill>
              <a:srgbClr val="F1F4F7"/>
            </a:solidFill>
            <a:prstDash val="solid"/>
          </a:ln>
        </p:spPr>
      </p:sp>
      <p:sp>
        <p:nvSpPr>
          <p:cNvPr id="13" name="Text 11"/>
          <p:cNvSpPr txBox="1"/>
          <p:nvPr/>
        </p:nvSpPr>
        <p:spPr>
          <a:xfrm>
            <a:off x="90982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作り直さない</a:t>
            </a:r>
            <a:endParaRPr lang="en-US" sz="1500" dirty="0"/>
          </a:p>
        </p:txBody>
      </p:sp>
      <p:sp>
        <p:nvSpPr>
          <p:cNvPr id="14" name="Text 12"/>
          <p:cNvSpPr txBox="1"/>
          <p:nvPr/>
        </p:nvSpPr>
        <p:spPr>
          <a:xfrm>
            <a:off x="90982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自治体が変われば要綱を差し替えるだけ。規則をコードに書かない。</a:t>
            </a:r>
            <a:endParaRPr lang="en-US" sz="1200" dirty="0"/>
          </a:p>
        </p:txBody>
      </p:sp>
      <p:sp>
        <p:nvSpPr>
          <p:cNvPr id="15" name="Shape 13"/>
          <p:cNvSpPr/>
          <p:nvPr/>
        </p:nvSpPr>
        <p:spPr>
          <a:xfrm>
            <a:off x="685800" y="4114800"/>
            <a:ext cx="10817352" cy="1188720"/>
          </a:xfrm>
          <a:prstGeom prst="roundRect">
            <a:avLst>
              <a:gd name="adj" fmla="val 6154"/>
            </a:avLst>
          </a:prstGeom>
          <a:solidFill>
            <a:srgbClr val="F1F4F7"/>
          </a:solidFill>
          <a:ln w="12700">
            <a:solidFill>
              <a:srgbClr val="F1F4F7"/>
            </a:solidFill>
            <a:prstDash val="solid"/>
          </a:ln>
        </p:spPr>
      </p:sp>
      <p:sp>
        <p:nvSpPr>
          <p:cNvPr id="16" name="Text 14"/>
          <p:cNvSpPr txBox="1"/>
          <p:nvPr/>
        </p:nvSpPr>
        <p:spPr>
          <a:xfrm>
            <a:off x="914400" y="4206240"/>
            <a:ext cx="10360152" cy="1005840"/>
          </a:xfrm>
          <a:prstGeom prst="rect">
            <a:avLst/>
          </a:prstGeom>
          <a:noFill/>
          <a:ln/>
        </p:spPr>
        <p:txBody>
          <a:bodyPr wrap="square" lIns="0" tIns="0" rIns="0" bIns="0" rtlCol="0" anchor="ctr"/>
          <a:lstStyle/>
          <a:p>
            <a:pPr indent="0" marL="0">
              <a:lnSpc>
                <a:spcPct val="130000"/>
              </a:lnSpc>
              <a:buNone/>
            </a:pPr>
            <a:r>
              <a:rPr lang="en-US" sz="1600" dirty="0">
                <a:solidFill>
                  <a:srgbClr val="000000"/>
                </a:solidFill>
                <a:latin typeface="Meiryo" pitchFamily="34" charset="0"/>
                <a:ea typeface="Meiryo" pitchFamily="34" charset="-122"/>
                <a:cs typeface="Meiryo" pitchFamily="34" charset="-120"/>
              </a:rPr>
              <a:t>4枚目の作業のうち、</a:t>
            </a:r>
            <a:pPr indent="0" marL="0">
              <a:lnSpc>
                <a:spcPct val="130000"/>
              </a:lnSpc>
              <a:buNone/>
            </a:pPr>
            <a:r>
              <a:rPr lang="en-US" sz="1600" b="1" dirty="0">
                <a:solidFill>
                  <a:srgbClr val="B5442D"/>
                </a:solidFill>
                <a:latin typeface="Meiryo" pitchFamily="34" charset="0"/>
                <a:ea typeface="Meiryo" pitchFamily="34" charset="-122"/>
                <a:cs typeface="Meiryo" pitchFamily="34" charset="-120"/>
              </a:rPr>
              <a:t>①⑥⑦⑨⑩⑪</a:t>
            </a:r>
            <a:pPr indent="0" marL="0">
              <a:lnSpc>
                <a:spcPct val="130000"/>
              </a:lnSpc>
              <a:buNone/>
            </a:pPr>
            <a:r>
              <a:rPr lang="en-US" sz="1600" dirty="0">
                <a:solidFill>
                  <a:srgbClr val="000000"/>
                </a:solidFill>
                <a:latin typeface="Meiryo" pitchFamily="34" charset="0"/>
                <a:ea typeface="Meiryo" pitchFamily="34" charset="-122"/>
                <a:cs typeface="Meiryo" pitchFamily="34" charset="-120"/>
              </a:rPr>
              <a:t> は人手ではなくこれで置き換えられる。</a:t>
            </a:r>
            <a:endParaRPr lang="en-US" sz="1600" dirty="0"/>
          </a:p>
          <a:p>
            <a:pPr indent="0" marL="0">
              <a:lnSpc>
                <a:spcPct val="130000"/>
              </a:lnSpc>
              <a:buNone/>
            </a:pPr>
            <a:r>
              <a:rPr lang="en-US" sz="1300" dirty="0">
                <a:solidFill>
                  <a:srgbClr val="5B6570"/>
                </a:solidFill>
                <a:latin typeface="Meiryo" pitchFamily="34" charset="0"/>
                <a:ea typeface="Meiryo" pitchFamily="34" charset="-122"/>
                <a:cs typeface="Meiryo" pitchFamily="34" charset="-120"/>
              </a:rPr>
              <a:t>②人集め・③町内会への説明・⑧捕獲は人がやる。</a:t>
            </a:r>
            <a:endParaRPr lang="en-US" sz="1600" dirty="0"/>
          </a:p>
        </p:txBody>
      </p:sp>
      <p:sp>
        <p:nvSpPr>
          <p:cNvPr id="17" name="Text 15"/>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8" name="Text 16"/>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地域猫に限定して、一例を作った。会話で入れると、次にやることと書類が出て、市の台帳に残る。</a:t>
            </a:r>
            <a:endParaRPr lang="en-US" sz="2400" dirty="0"/>
          </a:p>
        </p:txBody>
      </p:sp>
      <p:sp>
        <p:nvSpPr>
          <p:cNvPr id="3" name="Text 1"/>
          <p:cNvSpPr txBox="1"/>
          <p:nvPr/>
        </p:nvSpPr>
        <p:spPr>
          <a:xfrm>
            <a:off x="685800"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① </a:t>
            </a:r>
            <a:pPr indent="0" marL="0">
              <a:buNone/>
            </a:pPr>
            <a:r>
              <a:rPr lang="en-US" sz="1000" dirty="0">
                <a:solidFill>
                  <a:srgbClr val="5B6570"/>
                </a:solidFill>
                <a:latin typeface="Meiryo" pitchFamily="34" charset="0"/>
                <a:ea typeface="Meiryo" pitchFamily="34" charset="-122"/>
                <a:cs typeface="Meiryo" pitchFamily="34" charset="-120"/>
              </a:rPr>
              <a:t>会話で入れる</a:t>
            </a:r>
            <a:endParaRPr lang="en-US" sz="1100" dirty="0"/>
          </a:p>
        </p:txBody>
      </p:sp>
      <p:pic>
        <p:nvPicPr>
          <p:cNvPr id="4" name="Image 0" descr="/home/user/VORN/docs/deck3/chat_s.jpg">    </p:cNvPr>
          <p:cNvPicPr>
            <a:picLocks noChangeAspect="1"/>
          </p:cNvPicPr>
          <p:nvPr/>
        </p:nvPicPr>
        <p:blipFill>
          <a:blip r:embed="rId1"/>
          <a:srcRect l="0" r="99974" t="0" b="99974"/>
          <a:stretch/>
        </p:blipFill>
        <p:spPr>
          <a:xfrm>
            <a:off x="685800" y="1783080"/>
            <a:ext cx="900" cy="1008"/>
          </a:xfrm>
          <a:prstGeom prst="rect">
            <a:avLst/>
          </a:prstGeom>
        </p:spPr>
      </p:pic>
      <p:sp>
        <p:nvSpPr>
          <p:cNvPr id="5" name="Shape 2"/>
          <p:cNvSpPr/>
          <p:nvPr/>
        </p:nvSpPr>
        <p:spPr>
          <a:xfrm>
            <a:off x="685800" y="1783080"/>
            <a:ext cx="3429000" cy="3840480"/>
          </a:xfrm>
          <a:prstGeom prst="rect">
            <a:avLst/>
          </a:prstGeom>
          <a:ln w="9525">
            <a:solidFill>
              <a:srgbClr val="D5DBE1"/>
            </a:solidFill>
            <a:prstDash val="solid"/>
          </a:ln>
        </p:spPr>
      </p:sp>
      <p:sp>
        <p:nvSpPr>
          <p:cNvPr id="6" name="Text 3"/>
          <p:cNvSpPr txBox="1"/>
          <p:nvPr/>
        </p:nvSpPr>
        <p:spPr>
          <a:xfrm>
            <a:off x="4398264"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② </a:t>
            </a:r>
            <a:pPr indent="0" marL="0">
              <a:buNone/>
            </a:pPr>
            <a:r>
              <a:rPr lang="en-US" sz="1000" dirty="0">
                <a:solidFill>
                  <a:srgbClr val="5B6570"/>
                </a:solidFill>
                <a:latin typeface="Meiryo" pitchFamily="34" charset="0"/>
                <a:ea typeface="Meiryo" pitchFamily="34" charset="-122"/>
                <a:cs typeface="Meiryo" pitchFamily="34" charset="-120"/>
              </a:rPr>
              <a:t>次にやることと様式が出る</a:t>
            </a:r>
            <a:endParaRPr lang="en-US" sz="1100" dirty="0"/>
          </a:p>
        </p:txBody>
      </p:sp>
      <p:pic>
        <p:nvPicPr>
          <p:cNvPr id="7" name="Image 1" descr="/home/user/VORN/docs/deck3/next.jpg">    </p:cNvPr>
          <p:cNvPicPr>
            <a:picLocks noChangeAspect="1"/>
          </p:cNvPicPr>
          <p:nvPr/>
        </p:nvPicPr>
        <p:blipFill>
          <a:blip r:embed="rId2"/>
          <a:srcRect l="0" r="99959" t="0" b="99959"/>
          <a:stretch/>
        </p:blipFill>
        <p:spPr>
          <a:xfrm>
            <a:off x="4398264" y="1783080"/>
            <a:ext cx="1396" cy="588"/>
          </a:xfrm>
          <a:prstGeom prst="rect">
            <a:avLst/>
          </a:prstGeom>
        </p:spPr>
      </p:pic>
      <p:sp>
        <p:nvSpPr>
          <p:cNvPr id="8" name="Shape 4"/>
          <p:cNvSpPr/>
          <p:nvPr/>
        </p:nvSpPr>
        <p:spPr>
          <a:xfrm>
            <a:off x="4398264" y="1783080"/>
            <a:ext cx="3429000" cy="1444752"/>
          </a:xfrm>
          <a:prstGeom prst="rect">
            <a:avLst/>
          </a:prstGeom>
          <a:ln w="9525">
            <a:solidFill>
              <a:srgbClr val="D5DBE1"/>
            </a:solidFill>
            <a:prstDash val="solid"/>
          </a:ln>
        </p:spPr>
      </p:sp>
      <p:pic>
        <p:nvPicPr>
          <p:cNvPr id="9" name="Image 2" descr="/home/user/VORN/docs/deck3/form1.jpg">    </p:cNvPr>
          <p:cNvPicPr>
            <a:picLocks noChangeAspect="1"/>
          </p:cNvPicPr>
          <p:nvPr/>
        </p:nvPicPr>
        <p:blipFill>
          <a:blip r:embed="rId3"/>
          <a:srcRect l="0" r="99965" t="0" b="99965"/>
          <a:stretch/>
        </p:blipFill>
        <p:spPr>
          <a:xfrm>
            <a:off x="4398264" y="3337560"/>
            <a:ext cx="1215" cy="810"/>
          </a:xfrm>
          <a:prstGeom prst="rect">
            <a:avLst/>
          </a:prstGeom>
        </p:spPr>
      </p:pic>
      <p:sp>
        <p:nvSpPr>
          <p:cNvPr id="10" name="Shape 5"/>
          <p:cNvSpPr/>
          <p:nvPr/>
        </p:nvSpPr>
        <p:spPr>
          <a:xfrm>
            <a:off x="4398264" y="3337560"/>
            <a:ext cx="3429000" cy="2286000"/>
          </a:xfrm>
          <a:prstGeom prst="rect">
            <a:avLst/>
          </a:prstGeom>
          <a:ln w="9525">
            <a:solidFill>
              <a:srgbClr val="D5DBE1"/>
            </a:solidFill>
            <a:prstDash val="solid"/>
          </a:ln>
        </p:spPr>
      </p:sp>
      <p:sp>
        <p:nvSpPr>
          <p:cNvPr id="11" name="Text 6"/>
          <p:cNvSpPr txBox="1"/>
          <p:nvPr/>
        </p:nvSpPr>
        <p:spPr>
          <a:xfrm>
            <a:off x="8110728"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③ </a:t>
            </a:r>
            <a:pPr indent="0" marL="0">
              <a:buNone/>
            </a:pPr>
            <a:r>
              <a:rPr lang="en-US" sz="1000" dirty="0">
                <a:solidFill>
                  <a:srgbClr val="5B6570"/>
                </a:solidFill>
                <a:latin typeface="Meiryo" pitchFamily="34" charset="0"/>
                <a:ea typeface="Meiryo" pitchFamily="34" charset="-122"/>
                <a:cs typeface="Meiryo" pitchFamily="34" charset="-120"/>
              </a:rPr>
              <a:t>市の台帳に残る</a:t>
            </a:r>
            <a:endParaRPr lang="en-US" sz="1100" dirty="0"/>
          </a:p>
        </p:txBody>
      </p:sp>
      <p:pic>
        <p:nvPicPr>
          <p:cNvPr id="12" name="Image 3" descr="/home/user/VORN/docs/deck3/city_list.jpg">    </p:cNvPr>
          <p:cNvPicPr>
            <a:picLocks noChangeAspect="1"/>
          </p:cNvPicPr>
          <p:nvPr/>
        </p:nvPicPr>
        <p:blipFill>
          <a:blip r:embed="rId4"/>
          <a:srcRect l="0" r="99959" t="0" b="99959"/>
          <a:stretch/>
        </p:blipFill>
        <p:spPr>
          <a:xfrm>
            <a:off x="8110728" y="1783080"/>
            <a:ext cx="1400" cy="448"/>
          </a:xfrm>
          <a:prstGeom prst="rect">
            <a:avLst/>
          </a:prstGeom>
        </p:spPr>
      </p:pic>
      <p:sp>
        <p:nvSpPr>
          <p:cNvPr id="13" name="Shape 7"/>
          <p:cNvSpPr/>
          <p:nvPr/>
        </p:nvSpPr>
        <p:spPr>
          <a:xfrm>
            <a:off x="8110728" y="1783080"/>
            <a:ext cx="3429000" cy="1097280"/>
          </a:xfrm>
          <a:prstGeom prst="rect">
            <a:avLst/>
          </a:prstGeom>
          <a:ln w="9525">
            <a:solidFill>
              <a:srgbClr val="D5DBE1"/>
            </a:solidFill>
            <a:prstDash val="solid"/>
          </a:ln>
        </p:spPr>
      </p:sp>
      <p:pic>
        <p:nvPicPr>
          <p:cNvPr id="14" name="Image 4" descr="/home/user/VORN/docs/deck3/city_pending.jpg">    </p:cNvPr>
          <p:cNvPicPr>
            <a:picLocks noChangeAspect="1"/>
          </p:cNvPicPr>
          <p:nvPr/>
        </p:nvPicPr>
        <p:blipFill>
          <a:blip r:embed="rId5"/>
          <a:srcRect l="0" r="99959" t="0" b="99959"/>
          <a:stretch/>
        </p:blipFill>
        <p:spPr>
          <a:xfrm>
            <a:off x="8110728" y="2990088"/>
            <a:ext cx="1400" cy="317"/>
          </a:xfrm>
          <a:prstGeom prst="rect">
            <a:avLst/>
          </a:prstGeom>
        </p:spPr>
      </p:pic>
      <p:sp>
        <p:nvSpPr>
          <p:cNvPr id="15" name="Shape 8"/>
          <p:cNvSpPr/>
          <p:nvPr/>
        </p:nvSpPr>
        <p:spPr>
          <a:xfrm>
            <a:off x="8110728" y="2990088"/>
            <a:ext cx="3429000" cy="777240"/>
          </a:xfrm>
          <a:prstGeom prst="rect">
            <a:avLst/>
          </a:prstGeom>
          <a:ln w="9525">
            <a:solidFill>
              <a:srgbClr val="D5DBE1"/>
            </a:solidFill>
            <a:prstDash val="solid"/>
          </a:ln>
        </p:spPr>
      </p:sp>
      <p:sp>
        <p:nvSpPr>
          <p:cNvPr id="16" name="Text 9"/>
          <p:cNvSpPr txBox="1"/>
          <p:nvPr/>
        </p:nvSpPr>
        <p:spPr>
          <a:xfrm>
            <a:off x="8110728" y="3840480"/>
            <a:ext cx="3429000" cy="54864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K-2026-010 が「申請中」で載り、報告後に「報告済」になる</a:t>
            </a:r>
            <a:endParaRPr lang="en-US" sz="950" dirty="0"/>
          </a:p>
        </p:txBody>
      </p:sp>
      <p:sp>
        <p:nvSpPr>
          <p:cNvPr id="17" name="Text 10"/>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プロトタイプ（Streamlit／Anthropic API）。京都市・高島市で動作。画面はすべて実機。</a:t>
            </a:r>
            <a:endParaRPr lang="en-US" sz="800" dirty="0"/>
          </a:p>
        </p:txBody>
      </p:sp>
      <p:sp>
        <p:nvSpPr>
          <p:cNvPr id="18" name="Text 11"/>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ボランティアは要綱を読まない。場所と頭数を話すだけ。</a:t>
            </a:r>
            <a:endParaRPr lang="en-US" sz="2400" dirty="0"/>
          </a:p>
        </p:txBody>
      </p:sp>
      <p:pic>
        <p:nvPicPr>
          <p:cNvPr id="3" name="Image 0" descr="/home/user/VORN/docs/deck3/chat.jpg">    </p:cNvPr>
          <p:cNvPicPr>
            <a:picLocks noChangeAspect="1"/>
          </p:cNvPicPr>
          <p:nvPr/>
        </p:nvPicPr>
        <p:blipFill>
          <a:blip r:embed="rId1"/>
          <a:srcRect l="0" r="99982" t="0" b="99982"/>
          <a:stretch/>
        </p:blipFill>
        <p:spPr>
          <a:xfrm>
            <a:off x="685800" y="1325880"/>
            <a:ext cx="910" cy="859"/>
          </a:xfrm>
          <a:prstGeom prst="rect">
            <a:avLst/>
          </a:prstGeom>
        </p:spPr>
      </p:pic>
      <p:sp>
        <p:nvSpPr>
          <p:cNvPr id="4" name="Shape 1"/>
          <p:cNvSpPr/>
          <p:nvPr/>
        </p:nvSpPr>
        <p:spPr>
          <a:xfrm>
            <a:off x="685800" y="1325880"/>
            <a:ext cx="4937760" cy="4663440"/>
          </a:xfrm>
          <a:prstGeom prst="rect">
            <a:avLst/>
          </a:prstGeom>
          <a:ln w="9525">
            <a:solidFill>
              <a:srgbClr val="D5DBE1"/>
            </a:solidFill>
            <a:prstDash val="solid"/>
          </a:ln>
        </p:spPr>
      </p:sp>
      <p:sp>
        <p:nvSpPr>
          <p:cNvPr id="5" name="Shape 2"/>
          <p:cNvSpPr/>
          <p:nvPr/>
        </p:nvSpPr>
        <p:spPr>
          <a:xfrm>
            <a:off x="6035040" y="1737360"/>
            <a:ext cx="5486400" cy="1005840"/>
          </a:xfrm>
          <a:prstGeom prst="roundRect">
            <a:avLst>
              <a:gd name="adj" fmla="val 5455"/>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6144768" y="1810512"/>
            <a:ext cx="5266944" cy="85953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「11頭くらい、3人でやります」と話すと、AIが要綱第2条を引いて「11頭なので京都市民3名以上」と返し、次に聞くべき項目（餌場・トイレ・町内会）へ進む。</a:t>
            </a:r>
            <a:endParaRPr lang="en-US" sz="1100" dirty="0"/>
          </a:p>
        </p:txBody>
      </p:sp>
      <p:sp>
        <p:nvSpPr>
          <p:cNvPr id="7" name="Text 4"/>
          <p:cNvSpPr txBox="1"/>
          <p:nvPr/>
        </p:nvSpPr>
        <p:spPr>
          <a:xfrm>
            <a:off x="6035040" y="3017520"/>
            <a:ext cx="5486400" cy="1828800"/>
          </a:xfrm>
          <a:prstGeom prst="rect">
            <a:avLst/>
          </a:prstGeom>
          <a:noFill/>
          <a:ln/>
        </p:spPr>
        <p:txBody>
          <a:bodyPr wrap="square" lIns="0" tIns="0" rIns="0" bIns="0" rtlCol="0" anchor="t"/>
          <a:lstStyle/>
          <a:p>
            <a:pPr algn="l" indent="0" marL="0">
              <a:lnSpc>
                <a:spcPct val="125000"/>
              </a:lnSpc>
              <a:buNone/>
            </a:pPr>
            <a:r>
              <a:rPr lang="en-US" sz="1200" dirty="0">
                <a:solidFill>
                  <a:srgbClr val="5B6570"/>
                </a:solidFill>
                <a:latin typeface="Meiryo" pitchFamily="34" charset="0"/>
                <a:ea typeface="Meiryo" pitchFamily="34" charset="-122"/>
                <a:cs typeface="Meiryo" pitchFamily="34" charset="-120"/>
              </a:rPr>
              <a:t>入力は自然文。要綱の条件はAI側が持つ。集めるのは第1号様式・第6号様式に必要な項目だけ。</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5B6570"/>
                </a:solidFill>
                <a:latin typeface="Meiryo" pitchFamily="34" charset="0"/>
                <a:ea typeface="Meiryo" pitchFamily="34" charset="-122"/>
                <a:cs typeface="Meiryo" pitchFamily="34" charset="-120"/>
              </a:rPr>
              <a:t>捕獲の手順・自治会の説得・里親探し・子猫の育て方を聞かれると「範囲外」と断る。</a:t>
            </a:r>
            <a:endParaRPr lang="en-US" sz="1200" dirty="0"/>
          </a:p>
        </p:txBody>
      </p:sp>
      <p:sp>
        <p:nvSpPr>
          <p:cNvPr id="8" name="Text 5"/>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画面はプロトタイプ。デモ用の架空コロニー（左京区・11頭・活動者3名）</a:t>
            </a:r>
            <a:endParaRPr lang="en-US" sz="800" dirty="0"/>
          </a:p>
        </p:txBody>
      </p:sp>
      <p:sp>
        <p:nvSpPr>
          <p:cNvPr id="9" name="Text 6"/>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出す前に不足が条文付きで分かり、開くと次にやることが1つ出る。</a:t>
            </a:r>
            <a:endParaRPr lang="en-US" sz="2400" dirty="0"/>
          </a:p>
        </p:txBody>
      </p:sp>
      <p:pic>
        <p:nvPicPr>
          <p:cNvPr id="3" name="Image 0" descr="/home/user/VORN/docs/deck3/rules.jpg">    </p:cNvPr>
          <p:cNvPicPr>
            <a:picLocks noChangeAspect="1"/>
          </p:cNvPicPr>
          <p:nvPr/>
        </p:nvPicPr>
        <p:blipFill>
          <a:blip r:embed="rId1"/>
          <a:srcRect l="0" r="99980" t="0" b="99980"/>
          <a:stretch/>
        </p:blipFill>
        <p:spPr>
          <a:xfrm>
            <a:off x="685800" y="1325880"/>
            <a:ext cx="1077" cy="803"/>
          </a:xfrm>
          <a:prstGeom prst="rect">
            <a:avLst/>
          </a:prstGeom>
        </p:spPr>
      </p:pic>
      <p:sp>
        <p:nvSpPr>
          <p:cNvPr id="4" name="Shape 1"/>
          <p:cNvSpPr/>
          <p:nvPr/>
        </p:nvSpPr>
        <p:spPr>
          <a:xfrm>
            <a:off x="685800" y="1325880"/>
            <a:ext cx="5394960" cy="4023360"/>
          </a:xfrm>
          <a:prstGeom prst="rect">
            <a:avLst/>
          </a:prstGeom>
          <a:ln w="9525">
            <a:solidFill>
              <a:srgbClr val="D5DBE1"/>
            </a:solidFill>
            <a:prstDash val="solid"/>
          </a:ln>
        </p:spPr>
      </p:sp>
      <p:sp>
        <p:nvSpPr>
          <p:cNvPr id="5" name="Text 2"/>
          <p:cNvSpPr txBox="1"/>
          <p:nvPr/>
        </p:nvSpPr>
        <p:spPr>
          <a:xfrm>
            <a:off x="685800" y="5394960"/>
            <a:ext cx="5394960" cy="45720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判定。「周辺地図は別途添付」は要綱第5条、「登録後に第4号様式」は第9条から。13件の規則に出典と引用が付く。</a:t>
            </a:r>
            <a:endParaRPr lang="en-US" sz="950" dirty="0"/>
          </a:p>
        </p:txBody>
      </p:sp>
      <p:pic>
        <p:nvPicPr>
          <p:cNvPr id="6" name="Image 1" descr="/home/user/VORN/docs/deck3/next.jpg">    </p:cNvPr>
          <p:cNvPicPr>
            <a:picLocks noChangeAspect="1"/>
          </p:cNvPicPr>
          <p:nvPr/>
        </p:nvPicPr>
        <p:blipFill>
          <a:blip r:embed="rId2"/>
          <a:stretch>
            <a:fillRect/>
          </a:stretch>
        </p:blipFill>
        <p:spPr>
          <a:xfrm>
            <a:off x="6309360" y="1325880"/>
            <a:ext cx="5212080" cy="914400"/>
          </a:xfrm>
          <a:prstGeom prst="rect">
            <a:avLst/>
          </a:prstGeom>
        </p:spPr>
      </p:pic>
      <p:sp>
        <p:nvSpPr>
          <p:cNvPr id="7" name="Shape 3"/>
          <p:cNvSpPr/>
          <p:nvPr/>
        </p:nvSpPr>
        <p:spPr>
          <a:xfrm>
            <a:off x="6309360" y="1325880"/>
            <a:ext cx="5212080" cy="2189074"/>
          </a:xfrm>
          <a:prstGeom prst="rect">
            <a:avLst/>
          </a:prstGeom>
          <a:ln w="9525">
            <a:solidFill>
              <a:srgbClr val="D5DBE1"/>
            </a:solidFill>
            <a:prstDash val="solid"/>
          </a:ln>
        </p:spPr>
      </p:sp>
      <p:sp>
        <p:nvSpPr>
          <p:cNvPr id="8" name="Shape 4"/>
          <p:cNvSpPr/>
          <p:nvPr/>
        </p:nvSpPr>
        <p:spPr>
          <a:xfrm>
            <a:off x="8138160" y="1417320"/>
            <a:ext cx="3291840" cy="868680"/>
          </a:xfrm>
          <a:prstGeom prst="roundRect">
            <a:avLst>
              <a:gd name="adj" fmla="val 6316"/>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9" name="Text 5"/>
          <p:cNvSpPr txBox="1"/>
          <p:nvPr/>
        </p:nvSpPr>
        <p:spPr>
          <a:xfrm>
            <a:off x="8247888" y="1490472"/>
            <a:ext cx="3072384" cy="72237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期限は登録日から要綱の期日ルールで自動計算。報告は同月日から30日以内、更新は満了30日前から。</a:t>
            </a:r>
            <a:endParaRPr lang="en-US" sz="1100" dirty="0"/>
          </a:p>
        </p:txBody>
      </p:sp>
      <p:sp>
        <p:nvSpPr>
          <p:cNvPr id="10" name="Text 6"/>
          <p:cNvSpPr txBox="1"/>
          <p:nvPr/>
        </p:nvSpPr>
        <p:spPr>
          <a:xfrm>
            <a:off x="6309360" y="3560674"/>
            <a:ext cx="5212080" cy="27432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次にやること。台帳の状態が変わると項目が入れ替わる。</a:t>
            </a:r>
            <a:endParaRPr lang="en-US" sz="950" dirty="0"/>
          </a:p>
        </p:txBody>
      </p:sp>
      <p:sp>
        <p:nvSpPr>
          <p:cNvPr id="11" name="Shape 7"/>
          <p:cNvSpPr/>
          <p:nvPr/>
        </p:nvSpPr>
        <p:spPr>
          <a:xfrm>
            <a:off x="6309360" y="4023360"/>
            <a:ext cx="5212080" cy="1097280"/>
          </a:xfrm>
          <a:prstGeom prst="roundRect">
            <a:avLst>
              <a:gd name="adj" fmla="val 6667"/>
            </a:avLst>
          </a:prstGeom>
          <a:solidFill>
            <a:srgbClr val="F1F4F7"/>
          </a:solidFill>
          <a:ln w="12700">
            <a:solidFill>
              <a:srgbClr val="F1F4F7"/>
            </a:solidFill>
            <a:prstDash val="solid"/>
          </a:ln>
        </p:spPr>
      </p:sp>
      <p:sp>
        <p:nvSpPr>
          <p:cNvPr id="12" name="Text 8"/>
          <p:cNvSpPr txBox="1"/>
          <p:nvPr/>
        </p:nvSpPr>
        <p:spPr>
          <a:xfrm>
            <a:off x="6492240" y="4114800"/>
            <a:ext cx="4846320" cy="9144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提出前は「提出」、登録後は「周知」「手術申請」「報告期限」「満了日」。担い手が要綱と期限を覚えておく必要がない。</a:t>
            </a:r>
            <a:endParaRPr lang="en-US" sz="1200" dirty="0"/>
          </a:p>
        </p:txBody>
      </p:sp>
      <p:sp>
        <p:nvSpPr>
          <p:cNvPr id="13" name="Text 9"/>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画面はプロトタイプ（京都市プロファイル）。規則はコードに書いていない。</a:t>
            </a:r>
            <a:endParaRPr lang="en-US" sz="800" dirty="0"/>
          </a:p>
        </p:txBody>
      </p:sp>
      <p:sp>
        <p:nvSpPr>
          <p:cNvPr id="14" name="Text 10"/>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京都市配布のDOCXに、そのまま転記される。</a:t>
            </a:r>
            <a:endParaRPr lang="en-US" sz="2400" dirty="0"/>
          </a:p>
        </p:txBody>
      </p:sp>
      <p:pic>
        <p:nvPicPr>
          <p:cNvPr id="3" name="Image 0" descr="/home/user/VORN/docs/deck3/form1.jpg">    </p:cNvPr>
          <p:cNvPicPr>
            <a:picLocks noChangeAspect="1"/>
          </p:cNvPicPr>
          <p:nvPr/>
        </p:nvPicPr>
        <p:blipFill>
          <a:blip r:embed="rId1"/>
          <a:stretch>
            <a:fillRect/>
          </a:stretch>
        </p:blipFill>
        <p:spPr>
          <a:xfrm>
            <a:off x="685800" y="1280160"/>
            <a:ext cx="5212080" cy="914400"/>
          </a:xfrm>
          <a:prstGeom prst="rect">
            <a:avLst/>
          </a:prstGeom>
        </p:spPr>
      </p:pic>
      <p:sp>
        <p:nvSpPr>
          <p:cNvPr id="4" name="Shape 1"/>
          <p:cNvSpPr/>
          <p:nvPr/>
        </p:nvSpPr>
        <p:spPr>
          <a:xfrm>
            <a:off x="685800" y="1280160"/>
            <a:ext cx="5212080" cy="4804551"/>
          </a:xfrm>
          <a:prstGeom prst="rect">
            <a:avLst/>
          </a:prstGeom>
          <a:ln w="9525">
            <a:solidFill>
              <a:srgbClr val="D5DBE1"/>
            </a:solidFill>
            <a:prstDash val="solid"/>
          </a:ln>
        </p:spPr>
      </p:sp>
      <p:sp>
        <p:nvSpPr>
          <p:cNvPr id="5" name="Shape 2"/>
          <p:cNvSpPr/>
          <p:nvPr/>
        </p:nvSpPr>
        <p:spPr>
          <a:xfrm>
            <a:off x="6217920" y="1325880"/>
            <a:ext cx="5303520" cy="731520"/>
          </a:xfrm>
          <a:prstGeom prst="roundRect">
            <a:avLst>
              <a:gd name="adj" fmla="val 7500"/>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6327648" y="1399032"/>
            <a:ext cx="5084064" cy="58521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様式のセル構造（表・行・列）をAIが読み、どのセルに何を書くかを決めて転記する。</a:t>
            </a:r>
            <a:endParaRPr lang="en-US" sz="1100" dirty="0"/>
          </a:p>
        </p:txBody>
      </p:sp>
      <p:sp>
        <p:nvSpPr>
          <p:cNvPr id="7" name="Text 4"/>
          <p:cNvSpPr txBox="1"/>
          <p:nvPr/>
        </p:nvSpPr>
        <p:spPr>
          <a:xfrm>
            <a:off x="6217920" y="2240280"/>
            <a:ext cx="5303520" cy="640080"/>
          </a:xfrm>
          <a:prstGeom prst="rect">
            <a:avLst/>
          </a:prstGeom>
          <a:noFill/>
          <a:ln/>
        </p:spPr>
        <p:txBody>
          <a:bodyPr wrap="square" lIns="0" tIns="0" rIns="0" bIns="0" rtlCol="0" anchor="t"/>
          <a:lstStyle/>
          <a:p>
            <a:pPr algn="l" indent="0" marL="0">
              <a:lnSpc>
                <a:spcPct val="125000"/>
              </a:lnSpc>
              <a:buNone/>
            </a:pPr>
            <a:r>
              <a:rPr lang="en-US" sz="1350" dirty="0">
                <a:solidFill>
                  <a:srgbClr val="1F2A37"/>
                </a:solidFill>
                <a:latin typeface="Meiryo" pitchFamily="34" charset="0"/>
                <a:ea typeface="Meiryo" pitchFamily="34" charset="-122"/>
                <a:cs typeface="Meiryo" pitchFamily="34" charset="-120"/>
              </a:rPr>
              <a:t>第6号（実施計画書）・第4号（手術実施申請書）・第5号（活動状況報告書）も同様。印刷して出すだけ。</a:t>
            </a:r>
            <a:endParaRPr lang="en-US" sz="1350" dirty="0"/>
          </a:p>
        </p:txBody>
      </p:sp>
      <p:pic>
        <p:nvPicPr>
          <p:cNvPr id="8" name="Image 1" descr="/home/user/VORN/docs/deck3/docs.jpg">    </p:cNvPr>
          <p:cNvPicPr>
            <a:picLocks noChangeAspect="1"/>
          </p:cNvPicPr>
          <p:nvPr/>
        </p:nvPicPr>
        <p:blipFill>
          <a:blip r:embed="rId2"/>
          <a:srcRect l="0" r="99974" t="0" b="99974"/>
          <a:stretch/>
        </p:blipFill>
        <p:spPr>
          <a:xfrm>
            <a:off x="6217920" y="3017520"/>
            <a:ext cx="1400" cy="531"/>
          </a:xfrm>
          <a:prstGeom prst="rect">
            <a:avLst/>
          </a:prstGeom>
        </p:spPr>
      </p:pic>
      <p:sp>
        <p:nvSpPr>
          <p:cNvPr id="9" name="Shape 5"/>
          <p:cNvSpPr/>
          <p:nvPr/>
        </p:nvSpPr>
        <p:spPr>
          <a:xfrm>
            <a:off x="6217920" y="3017520"/>
            <a:ext cx="5303520" cy="2011680"/>
          </a:xfrm>
          <a:prstGeom prst="rect">
            <a:avLst/>
          </a:prstGeom>
          <a:ln w="9525">
            <a:solidFill>
              <a:srgbClr val="D5DBE1"/>
            </a:solidFill>
            <a:prstDash val="solid"/>
          </a:ln>
        </p:spPr>
      </p:sp>
      <p:sp>
        <p:nvSpPr>
          <p:cNvPr id="10" name="Text 6"/>
          <p:cNvSpPr txBox="1"/>
          <p:nvPr/>
        </p:nvSpPr>
        <p:spPr>
          <a:xfrm>
            <a:off x="6217920" y="5074920"/>
            <a:ext cx="530352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画面上の項目一覧。「要確認」は記載例と照らして確認が要る欄。</a:t>
            </a:r>
            <a:endParaRPr lang="en-US" sz="950" dirty="0"/>
          </a:p>
        </p:txBody>
      </p:sp>
      <p:sp>
        <p:nvSpPr>
          <p:cNvPr id="11" name="Text 7"/>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左：第1号様式 まちねこ活動登録申請書（配布 touroku.docx）に転記した結果</a:t>
            </a:r>
            <a:endParaRPr lang="en-US" sz="800" dirty="0"/>
          </a:p>
        </p:txBody>
      </p:sp>
      <p:sp>
        <p:nvSpPr>
          <p:cNvPr id="12" name="Text 8"/>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市は、更新が切れそうな地域を、切れる前に知る。</a:t>
            </a:r>
            <a:endParaRPr lang="en-US" sz="2400" dirty="0"/>
          </a:p>
        </p:txBody>
      </p:sp>
      <p:pic>
        <p:nvPicPr>
          <p:cNvPr id="3" name="Image 0" descr="/home/user/VORN/docs/deck3/city_list.jpg">    </p:cNvPr>
          <p:cNvPicPr>
            <a:picLocks noChangeAspect="1"/>
          </p:cNvPicPr>
          <p:nvPr/>
        </p:nvPicPr>
        <p:blipFill>
          <a:blip r:embed="rId1"/>
          <a:stretch>
            <a:fillRect/>
          </a:stretch>
        </p:blipFill>
        <p:spPr>
          <a:xfrm>
            <a:off x="685800" y="1280160"/>
            <a:ext cx="6766560" cy="914400"/>
          </a:xfrm>
          <a:prstGeom prst="rect">
            <a:avLst/>
          </a:prstGeom>
        </p:spPr>
      </p:pic>
      <p:sp>
        <p:nvSpPr>
          <p:cNvPr id="4" name="Shape 1"/>
          <p:cNvSpPr/>
          <p:nvPr/>
        </p:nvSpPr>
        <p:spPr>
          <a:xfrm>
            <a:off x="685800" y="1280160"/>
            <a:ext cx="6766560" cy="2165299"/>
          </a:xfrm>
          <a:prstGeom prst="rect">
            <a:avLst/>
          </a:prstGeom>
          <a:ln w="9525">
            <a:solidFill>
              <a:srgbClr val="D5DBE1"/>
            </a:solidFill>
            <a:prstDash val="solid"/>
          </a:ln>
        </p:spPr>
      </p:sp>
      <p:sp>
        <p:nvSpPr>
          <p:cNvPr id="5" name="Shape 2"/>
          <p:cNvSpPr/>
          <p:nvPr/>
        </p:nvSpPr>
        <p:spPr>
          <a:xfrm>
            <a:off x="4754880" y="2057400"/>
            <a:ext cx="2651760" cy="640080"/>
          </a:xfrm>
          <a:prstGeom prst="roundRect">
            <a:avLst>
              <a:gd name="adj" fmla="val 8571"/>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4864608" y="2130552"/>
            <a:ext cx="2432304" cy="49377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更新待ち → 期限超過。届出なしで切れる地域が見える。</a:t>
            </a:r>
            <a:endParaRPr lang="en-US" sz="1100" dirty="0"/>
          </a:p>
        </p:txBody>
      </p:sp>
      <p:pic>
        <p:nvPicPr>
          <p:cNvPr id="7" name="Image 1" descr="/home/user/VORN/docs/deck3/city_detail.jpg">    </p:cNvPr>
          <p:cNvPicPr>
            <a:picLocks noChangeAspect="1"/>
          </p:cNvPicPr>
          <p:nvPr/>
        </p:nvPicPr>
        <p:blipFill>
          <a:blip r:embed="rId2"/>
          <a:srcRect l="0" r="99979" t="0" b="99979"/>
          <a:stretch/>
        </p:blipFill>
        <p:spPr>
          <a:xfrm>
            <a:off x="685800" y="3582619"/>
            <a:ext cx="1400" cy="454"/>
          </a:xfrm>
          <a:prstGeom prst="rect">
            <a:avLst/>
          </a:prstGeom>
        </p:spPr>
      </p:pic>
      <p:sp>
        <p:nvSpPr>
          <p:cNvPr id="8" name="Shape 4"/>
          <p:cNvSpPr/>
          <p:nvPr/>
        </p:nvSpPr>
        <p:spPr>
          <a:xfrm>
            <a:off x="685800" y="3582619"/>
            <a:ext cx="6766560" cy="2194560"/>
          </a:xfrm>
          <a:prstGeom prst="rect">
            <a:avLst/>
          </a:prstGeom>
          <a:ln w="9525">
            <a:solidFill>
              <a:srgbClr val="D5DBE1"/>
            </a:solidFill>
            <a:prstDash val="solid"/>
          </a:ln>
        </p:spPr>
      </p:sp>
      <p:sp>
        <p:nvSpPr>
          <p:cNvPr id="9" name="Shape 5"/>
          <p:cNvSpPr/>
          <p:nvPr/>
        </p:nvSpPr>
        <p:spPr>
          <a:xfrm>
            <a:off x="7772400" y="1280160"/>
            <a:ext cx="3749040" cy="2743200"/>
          </a:xfrm>
          <a:prstGeom prst="roundRect">
            <a:avLst>
              <a:gd name="adj" fmla="val 2667"/>
            </a:avLst>
          </a:prstGeom>
          <a:solidFill>
            <a:srgbClr val="F1F4F7"/>
          </a:solidFill>
          <a:ln w="12700">
            <a:solidFill>
              <a:srgbClr val="F1F4F7"/>
            </a:solidFill>
            <a:prstDash val="solid"/>
          </a:ln>
        </p:spPr>
      </p:sp>
      <p:sp>
        <p:nvSpPr>
          <p:cNvPr id="10" name="Text 6"/>
          <p:cNvSpPr txBox="1"/>
          <p:nvPr/>
        </p:nvSpPr>
        <p:spPr>
          <a:xfrm>
            <a:off x="7955280" y="1417320"/>
            <a:ext cx="3383280" cy="246888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不備のない申請だけ届く。</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「3年横ばい」の中身（終了か、届出なしの脱落か）が初めて分かる。</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台帳は申請と報告の副産物で、引継ぎ用の入力はさせない。</a:t>
            </a:r>
            <a:endParaRPr lang="en-US" sz="1250" dirty="0"/>
          </a:p>
        </p:txBody>
      </p:sp>
      <p:sp>
        <p:nvSpPr>
          <p:cNvPr id="11" name="Text 7"/>
          <p:cNvSpPr txBox="1"/>
          <p:nvPr/>
        </p:nvSpPr>
        <p:spPr>
          <a:xfrm>
            <a:off x="7772400" y="4160520"/>
            <a:ext cx="3749040" cy="64008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状態は要綱の期日ルール（報告は登録日と同月日から30日以内、更新は満了日の30日前から）と報告履歴から計算。</a:t>
            </a:r>
            <a:endParaRPr lang="en-US" sz="950" dirty="0"/>
          </a:p>
        </p:txBody>
      </p:sp>
      <p:sp>
        <p:nvSpPr>
          <p:cNvPr id="12" name="Text 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画面はプロトタイプ（自治体面：京都市医療衛生センター）。台帳の他4件はダミー。出典：京都市要綱 第7条3項</a:t>
            </a:r>
            <a:endParaRPr lang="en-US" sz="800" dirty="0"/>
          </a:p>
        </p:txBody>
      </p:sp>
      <p:sp>
        <p:nvSpPr>
          <p:cNvPr id="13" name="Text 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4枚目の手間は、こう変わる。</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280160"/>
          <a:ext cx="10817352" cy="914400"/>
        </p:xfrm>
        <a:graphic>
          <a:graphicData uri="http://schemas.openxmlformats.org/drawingml/2006/table">
            <a:tbl>
              <a:tblPr/>
              <a:tblGrid>
                <a:gridCol w="4754880"/>
                <a:gridCol w="6062472"/>
              </a:tblGrid>
              <a:tr h="420624">
                <a:tc>
                  <a:txBody>
                    <a:bodyPr/>
                    <a:lstStyle/>
                    <a:p>
                      <a:pPr indent="0" marL="0">
                        <a:buNone/>
                      </a:pPr>
                      <a:r>
                        <a:rPr lang="en-US" sz="1250" b="1" dirty="0">
                          <a:solidFill>
                            <a:srgbClr val="1F2A37"/>
                          </a:solidFill>
                          <a:latin typeface="Meiryo" pitchFamily="34" charset="0"/>
                          <a:ea typeface="Meiryo" pitchFamily="34" charset="-122"/>
                          <a:cs typeface="Meiryo" pitchFamily="34" charset="-120"/>
                        </a:rPr>
                        <a:t>以前</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4F7"/>
                    </a:solidFill>
                  </a:tcPr>
                </a:tc>
                <a:tc>
                  <a:txBody>
                    <a:bodyPr/>
                    <a:lstStyle/>
                    <a:p>
                      <a:pPr indent="0" marL="0">
                        <a:buNone/>
                      </a:pPr>
                      <a:r>
                        <a:rPr lang="en-US" sz="1250" b="1" dirty="0">
                          <a:solidFill>
                            <a:srgbClr val="1F2A37"/>
                          </a:solidFill>
                          <a:latin typeface="Meiryo" pitchFamily="34" charset="0"/>
                          <a:ea typeface="Meiryo" pitchFamily="34" charset="-122"/>
                          <a:cs typeface="Meiryo" pitchFamily="34" charset="-120"/>
                        </a:rPr>
                        <a:t>今</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4F7"/>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①要綱を読む</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話すと条文を引いて返す</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④様式を手書き</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DOCXに自動転記</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⑤不備で戻される</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提出前に分かる</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⑥平日に電話</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いつでも聞ける</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⑦受付・期限を記憶</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自動計算、期日に促す（高島市：逃すと+30日、を出す前に示す）</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⑨⑩報告・更新を忘れて抹消</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期日に促し、話すだけで様式が出る</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⑪倒れたら消える</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市の台帳に残る</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bl>
          </a:graphicData>
        </a:graphic>
      </p:graphicFrame>
      <p:sp>
        <p:nvSpPr>
          <p:cNvPr id="4" name="Text 1"/>
          <p:cNvSpPr txBox="1"/>
          <p:nvPr/>
        </p:nvSpPr>
        <p:spPr>
          <a:xfrm>
            <a:off x="685800" y="4846320"/>
            <a:ext cx="10817352" cy="365760"/>
          </a:xfrm>
          <a:prstGeom prst="rect">
            <a:avLst/>
          </a:prstGeom>
          <a:noFill/>
          <a:ln/>
        </p:spPr>
        <p:txBody>
          <a:bodyPr wrap="square" lIns="0" tIns="0" rIns="0" bIns="0" rtlCol="0" anchor="t"/>
          <a:lstStyle/>
          <a:p>
            <a:pPr algn="l" indent="0" marL="0">
              <a:lnSpc>
                <a:spcPct val="125000"/>
              </a:lnSpc>
              <a:buNone/>
            </a:pPr>
            <a:r>
              <a:rPr lang="en-US" sz="1300" dirty="0">
                <a:solidFill>
                  <a:srgbClr val="5B6570"/>
                </a:solidFill>
                <a:latin typeface="Meiryo" pitchFamily="34" charset="0"/>
                <a:ea typeface="Meiryo" pitchFamily="34" charset="-122"/>
                <a:cs typeface="Meiryo" pitchFamily="34" charset="-120"/>
              </a:rPr>
              <a:t>残るもの：②人集め ③町内会への説明 ⑧捕獲。ここは人。</a:t>
            </a:r>
            <a:endParaRPr lang="en-US" sz="1300" dirty="0"/>
          </a:p>
        </p:txBody>
      </p:sp>
      <p:sp>
        <p:nvSpPr>
          <p:cNvPr id="5" name="Text 2"/>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右列は規則から導ける変化のみ。審査・手術日の待ちは消えない。</a:t>
            </a:r>
            <a:endParaRPr lang="en-US" sz="800" dirty="0"/>
          </a:p>
        </p:txBody>
      </p:sp>
      <p:sp>
        <p:nvSpPr>
          <p:cNvPr id="6" name="Text 3"/>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要綱を差し替えるだけで別の自治体に対応する。規則はコードに1行も書いていない。</a:t>
            </a:r>
            <a:endParaRPr lang="en-US" sz="2400" dirty="0"/>
          </a:p>
        </p:txBody>
      </p:sp>
      <p:pic>
        <p:nvPicPr>
          <p:cNvPr id="3" name="Image 0" descr="/home/user/VORN/docs/deck3/tk_sim.jpg">    </p:cNvPr>
          <p:cNvPicPr>
            <a:picLocks noChangeAspect="1"/>
          </p:cNvPicPr>
          <p:nvPr/>
        </p:nvPicPr>
        <p:blipFill>
          <a:blip r:embed="rId1"/>
          <a:srcRect l="0" r="99987" t="0" b="99987"/>
          <a:stretch/>
        </p:blipFill>
        <p:spPr>
          <a:xfrm>
            <a:off x="685800" y="1463040"/>
            <a:ext cx="1400" cy="284"/>
          </a:xfrm>
          <a:prstGeom prst="rect">
            <a:avLst/>
          </a:prstGeom>
        </p:spPr>
      </p:pic>
      <p:sp>
        <p:nvSpPr>
          <p:cNvPr id="4" name="Shape 1"/>
          <p:cNvSpPr/>
          <p:nvPr/>
        </p:nvSpPr>
        <p:spPr>
          <a:xfrm>
            <a:off x="685800" y="1463040"/>
            <a:ext cx="10817352" cy="2194560"/>
          </a:xfrm>
          <a:prstGeom prst="rect">
            <a:avLst/>
          </a:prstGeom>
          <a:ln w="9525">
            <a:solidFill>
              <a:srgbClr val="D5DBE1"/>
            </a:solidFill>
            <a:prstDash val="solid"/>
          </a:ln>
        </p:spPr>
      </p:sp>
      <p:sp>
        <p:nvSpPr>
          <p:cNvPr id="5" name="Shape 2"/>
          <p:cNvSpPr/>
          <p:nvPr/>
        </p:nvSpPr>
        <p:spPr>
          <a:xfrm>
            <a:off x="868680" y="2926080"/>
            <a:ext cx="4206240" cy="640080"/>
          </a:xfrm>
          <a:prstGeom prst="roundRect">
            <a:avLst>
              <a:gd name="adj" fmla="val 8571"/>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978408" y="2999232"/>
            <a:ext cx="3986784" cy="49377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+30日。この受付（毎月6日〜末日）を逃すと、チケットの有効月が1か月遅れる。</a:t>
            </a:r>
            <a:endParaRPr lang="en-US" sz="1100" dirty="0"/>
          </a:p>
        </p:txBody>
      </p:sp>
      <p:pic>
        <p:nvPicPr>
          <p:cNvPr id="7" name="Image 1" descr="/home/user/VORN/docs/deck3/tk_rules.jpg">    </p:cNvPr>
          <p:cNvPicPr>
            <a:picLocks noChangeAspect="1"/>
          </p:cNvPicPr>
          <p:nvPr/>
        </p:nvPicPr>
        <p:blipFill>
          <a:blip r:embed="rId2"/>
          <a:srcRect l="0" r="99976" t="0" b="99976"/>
          <a:stretch/>
        </p:blipFill>
        <p:spPr>
          <a:xfrm>
            <a:off x="685800" y="3840480"/>
            <a:ext cx="1400" cy="350"/>
          </a:xfrm>
          <a:prstGeom prst="rect">
            <a:avLst/>
          </a:prstGeom>
        </p:spPr>
      </p:pic>
      <p:sp>
        <p:nvSpPr>
          <p:cNvPr id="8" name="Shape 4"/>
          <p:cNvSpPr/>
          <p:nvPr/>
        </p:nvSpPr>
        <p:spPr>
          <a:xfrm>
            <a:off x="685800" y="3840480"/>
            <a:ext cx="5852160" cy="1463040"/>
          </a:xfrm>
          <a:prstGeom prst="rect">
            <a:avLst/>
          </a:prstGeom>
          <a:ln w="9525">
            <a:solidFill>
              <a:srgbClr val="D5DBE1"/>
            </a:solidFill>
            <a:prstDash val="solid"/>
          </a:ln>
        </p:spPr>
      </p:sp>
      <p:sp>
        <p:nvSpPr>
          <p:cNvPr id="9" name="Text 5"/>
          <p:cNvSpPr txBox="1"/>
          <p:nvPr/>
        </p:nvSpPr>
        <p:spPr>
          <a:xfrm>
            <a:off x="685800" y="5349240"/>
            <a:ext cx="5852160" cy="45720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高島市の資料から抽出した規則に照らした判定。受付の値は市HP本文から抽出。交付要綱PDFは未取得。</a:t>
            </a:r>
            <a:endParaRPr lang="en-US" sz="950" dirty="0"/>
          </a:p>
        </p:txBody>
      </p:sp>
      <p:sp>
        <p:nvSpPr>
          <p:cNvPr id="10" name="Text 6"/>
          <p:cNvSpPr txBox="1"/>
          <p:nvPr/>
        </p:nvSpPr>
        <p:spPr>
          <a:xfrm>
            <a:off x="6766560" y="3840480"/>
            <a:ext cx="4754880" cy="182880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京都市（登録型）と高島市（基金チケット型）は仕組みが違うが、同じ画面・同じコード。</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住民が申請し、期限があり、報告と更新があり、担い手が無償で属人的な制度は、行政の中に他にもある。</a:t>
            </a:r>
            <a:endParaRPr lang="en-US" sz="1250" dirty="0"/>
          </a:p>
        </p:txBody>
      </p:sp>
      <p:sp>
        <p:nvSpPr>
          <p:cNvPr id="11" name="Text 7"/>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画面はプロトタイプ（高島市プロファイル）。出典：高島市 環境政策課ページ／どうぶつ基金 チケットFAQ・登録規約</a:t>
            </a:r>
            <a:endParaRPr lang="en-US" sz="800" dirty="0"/>
          </a:p>
        </p:txBody>
      </p:sp>
      <p:sp>
        <p:nvSpPr>
          <p:cNvPr id="12" name="Text 8"/>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自治体ごとに違う自然言語のルールを、AIが個人の代わりに読み、追い続ける。</a:t>
            </a:r>
            <a:endParaRPr lang="en-US" sz="2400" dirty="0"/>
          </a:p>
        </p:txBody>
      </p:sp>
      <p:sp>
        <p:nvSpPr>
          <p:cNvPr id="3" name="Text 1"/>
          <p:cNvSpPr txBox="1"/>
          <p:nvPr/>
        </p:nvSpPr>
        <p:spPr>
          <a:xfrm>
            <a:off x="685800" y="1554480"/>
            <a:ext cx="5852160" cy="2743200"/>
          </a:xfrm>
          <a:prstGeom prst="rect">
            <a:avLst/>
          </a:prstGeom>
          <a:noFill/>
          <a:ln/>
        </p:spPr>
        <p:txBody>
          <a:bodyPr wrap="square" lIns="0" tIns="0" rIns="0" bIns="0" rtlCol="0" anchor="t"/>
          <a:lstStyle/>
          <a:p>
            <a:pPr algn="l" indent="0" marL="0">
              <a:lnSpc>
                <a:spcPct val="125000"/>
              </a:lnSpc>
              <a:buNone/>
            </a:pPr>
            <a:r>
              <a:rPr lang="en-US" sz="1500" dirty="0">
                <a:solidFill>
                  <a:srgbClr val="1F2A37"/>
                </a:solidFill>
                <a:latin typeface="Meiryo" pitchFamily="34" charset="0"/>
                <a:ea typeface="Meiryo" pitchFamily="34" charset="-122"/>
                <a:cs typeface="Meiryo" pitchFamily="34" charset="-120"/>
              </a:rPr>
              <a:t>このエンジンが読んでいるのは「猫の要綱」ではなく「自治体が自然言語で公開している要綱と様式」。</a:t>
            </a:r>
            <a:endParaRPr lang="en-US" sz="1500" dirty="0"/>
          </a:p>
          <a:p>
            <a:pPr algn="l" indent="0" marL="0">
              <a:lnSpc>
                <a:spcPct val="125000"/>
              </a:lnSpc>
              <a:buNone/>
            </a:pPr>
            <a:endParaRPr lang="en-US" sz="1500" dirty="0"/>
          </a:p>
          <a:p>
            <a:pPr algn="l" indent="0" marL="0">
              <a:lnSpc>
                <a:spcPct val="125000"/>
              </a:lnSpc>
              <a:buNone/>
            </a:pPr>
            <a:r>
              <a:rPr lang="en-US" sz="1500" dirty="0">
                <a:solidFill>
                  <a:srgbClr val="1F2A37"/>
                </a:solidFill>
                <a:latin typeface="Meiryo" pitchFamily="34" charset="0"/>
                <a:ea typeface="Meiryo" pitchFamily="34" charset="-122"/>
                <a:cs typeface="Meiryo" pitchFamily="34" charset="-120"/>
              </a:rPr>
              <a:t>猫は、効果が実証済みで、担い手が最も薄く、市が障壁を認めた場所だから、ここから始めた。</a:t>
            </a:r>
            <a:endParaRPr lang="en-US" sz="1500" dirty="0"/>
          </a:p>
        </p:txBody>
      </p:sp>
      <p:sp>
        <p:nvSpPr>
          <p:cNvPr id="4" name="Shape 2"/>
          <p:cNvSpPr/>
          <p:nvPr/>
        </p:nvSpPr>
        <p:spPr>
          <a:xfrm>
            <a:off x="8229600" y="1737360"/>
            <a:ext cx="2194560" cy="822960"/>
          </a:xfrm>
          <a:prstGeom prst="roundRect">
            <a:avLst>
              <a:gd name="adj" fmla="val 6667"/>
            </a:avLst>
          </a:prstGeom>
          <a:solidFill>
            <a:srgbClr val="1F2A37"/>
          </a:solidFill>
          <a:ln w="12700">
            <a:solidFill>
              <a:srgbClr val="1F2A37"/>
            </a:solidFill>
            <a:prstDash val="solid"/>
          </a:ln>
        </p:spPr>
      </p:sp>
      <p:sp>
        <p:nvSpPr>
          <p:cNvPr id="5" name="Text 3"/>
          <p:cNvSpPr txBox="1"/>
          <p:nvPr/>
        </p:nvSpPr>
        <p:spPr>
          <a:xfrm>
            <a:off x="8229600" y="1737360"/>
            <a:ext cx="2194560" cy="822960"/>
          </a:xfrm>
          <a:prstGeom prst="rect">
            <a:avLst/>
          </a:prstGeom>
          <a:noFill/>
          <a:ln/>
        </p:spPr>
        <p:txBody>
          <a:bodyPr wrap="square" lIns="635" tIns="635" rIns="635" bIns="635" rtlCol="0" anchor="ctr"/>
          <a:lstStyle/>
          <a:p>
            <a:pPr algn="ctr" indent="0" marL="0">
              <a:buNone/>
            </a:pPr>
            <a:r>
              <a:rPr lang="en-US" sz="1400" dirty="0">
                <a:solidFill>
                  <a:srgbClr val="FFFFFF"/>
                </a:solidFill>
                <a:latin typeface="Meiryo" pitchFamily="34" charset="0"/>
                <a:ea typeface="Meiryo" pitchFamily="34" charset="-122"/>
                <a:cs typeface="Meiryo" pitchFamily="34" charset="-120"/>
              </a:rPr>
              <a:t>同じエンジン</a:t>
            </a:r>
            <a:endParaRPr lang="en-US" sz="1400" dirty="0"/>
          </a:p>
        </p:txBody>
      </p:sp>
      <p:sp>
        <p:nvSpPr>
          <p:cNvPr id="6" name="Shape 4"/>
          <p:cNvSpPr/>
          <p:nvPr/>
        </p:nvSpPr>
        <p:spPr>
          <a:xfrm>
            <a:off x="7315200" y="3474720"/>
            <a:ext cx="1371600" cy="640080"/>
          </a:xfrm>
          <a:prstGeom prst="roundRect">
            <a:avLst>
              <a:gd name="adj" fmla="val 8571"/>
            </a:avLst>
          </a:prstGeom>
          <a:solidFill>
            <a:srgbClr val="F1F4F7"/>
          </a:solidFill>
          <a:ln w="12700">
            <a:solidFill>
              <a:srgbClr val="C9D1D9"/>
            </a:solidFill>
            <a:prstDash val="solid"/>
          </a:ln>
        </p:spPr>
      </p:sp>
      <p:sp>
        <p:nvSpPr>
          <p:cNvPr id="7" name="Text 5"/>
          <p:cNvSpPr txBox="1"/>
          <p:nvPr/>
        </p:nvSpPr>
        <p:spPr>
          <a:xfrm>
            <a:off x="7315200" y="3474720"/>
            <a:ext cx="1371600" cy="640080"/>
          </a:xfrm>
          <a:prstGeom prst="rect">
            <a:avLst/>
          </a:prstGeom>
          <a:noFill/>
          <a:ln/>
        </p:spPr>
        <p:txBody>
          <a:bodyPr wrap="square" lIns="635" tIns="635" rIns="635" bIns="635" rtlCol="0" anchor="ctr"/>
          <a:lstStyle/>
          <a:p>
            <a:pPr algn="ctr" indent="0" marL="0">
              <a:buNone/>
            </a:pPr>
            <a:r>
              <a:rPr lang="en-US" sz="1200" dirty="0">
                <a:solidFill>
                  <a:srgbClr val="1F2A37"/>
                </a:solidFill>
                <a:latin typeface="Meiryo" pitchFamily="34" charset="0"/>
                <a:ea typeface="Meiryo" pitchFamily="34" charset="-122"/>
                <a:cs typeface="Meiryo" pitchFamily="34" charset="-120"/>
              </a:rPr>
              <a:t>京都市</a:t>
            </a:r>
            <a:endParaRPr lang="en-US" sz="1200" dirty="0"/>
          </a:p>
        </p:txBody>
      </p:sp>
      <p:sp>
        <p:nvSpPr>
          <p:cNvPr id="8" name="Shape 6"/>
          <p:cNvSpPr/>
          <p:nvPr/>
        </p:nvSpPr>
        <p:spPr>
          <a:xfrm>
            <a:off x="8686800" y="3474720"/>
            <a:ext cx="1371600" cy="640080"/>
          </a:xfrm>
          <a:prstGeom prst="roundRect">
            <a:avLst>
              <a:gd name="adj" fmla="val 8571"/>
            </a:avLst>
          </a:prstGeom>
          <a:solidFill>
            <a:srgbClr val="F1F4F7"/>
          </a:solidFill>
          <a:ln w="12700">
            <a:solidFill>
              <a:srgbClr val="C9D1D9"/>
            </a:solidFill>
            <a:prstDash val="solid"/>
          </a:ln>
        </p:spPr>
      </p:sp>
      <p:sp>
        <p:nvSpPr>
          <p:cNvPr id="9" name="Text 7"/>
          <p:cNvSpPr txBox="1"/>
          <p:nvPr/>
        </p:nvSpPr>
        <p:spPr>
          <a:xfrm>
            <a:off x="8686800" y="3474720"/>
            <a:ext cx="1371600" cy="640080"/>
          </a:xfrm>
          <a:prstGeom prst="rect">
            <a:avLst/>
          </a:prstGeom>
          <a:noFill/>
          <a:ln/>
        </p:spPr>
        <p:txBody>
          <a:bodyPr wrap="square" lIns="635" tIns="635" rIns="635" bIns="635" rtlCol="0" anchor="ctr"/>
          <a:lstStyle/>
          <a:p>
            <a:pPr algn="ctr" indent="0" marL="0">
              <a:buNone/>
            </a:pPr>
            <a:r>
              <a:rPr lang="en-US" sz="1200" dirty="0">
                <a:solidFill>
                  <a:srgbClr val="1F2A37"/>
                </a:solidFill>
                <a:latin typeface="Meiryo" pitchFamily="34" charset="0"/>
                <a:ea typeface="Meiryo" pitchFamily="34" charset="-122"/>
                <a:cs typeface="Meiryo" pitchFamily="34" charset="-120"/>
              </a:rPr>
              <a:t>高島市</a:t>
            </a:r>
            <a:endParaRPr lang="en-US" sz="1200" dirty="0"/>
          </a:p>
        </p:txBody>
      </p:sp>
      <p:sp>
        <p:nvSpPr>
          <p:cNvPr id="10" name="Shape 8"/>
          <p:cNvSpPr/>
          <p:nvPr/>
        </p:nvSpPr>
        <p:spPr>
          <a:xfrm>
            <a:off x="10058400" y="3474720"/>
            <a:ext cx="1188720" cy="640080"/>
          </a:xfrm>
          <a:prstGeom prst="roundRect">
            <a:avLst>
              <a:gd name="adj" fmla="val 8571"/>
            </a:avLst>
          </a:prstGeom>
          <a:solidFill>
            <a:srgbClr val="FFFFFF"/>
          </a:solidFill>
          <a:ln w="12700">
            <a:solidFill>
              <a:srgbClr val="C9D1D9"/>
            </a:solidFill>
            <a:prstDash val="dash"/>
          </a:ln>
        </p:spPr>
      </p:sp>
      <p:sp>
        <p:nvSpPr>
          <p:cNvPr id="11" name="Text 9"/>
          <p:cNvSpPr txBox="1"/>
          <p:nvPr/>
        </p:nvSpPr>
        <p:spPr>
          <a:xfrm>
            <a:off x="10058400" y="3474720"/>
            <a:ext cx="1188720" cy="640080"/>
          </a:xfrm>
          <a:prstGeom prst="rect">
            <a:avLst/>
          </a:prstGeom>
          <a:noFill/>
          <a:ln/>
        </p:spPr>
        <p:txBody>
          <a:bodyPr wrap="square" lIns="635" tIns="635" rIns="635" bIns="635" rtlCol="0" anchor="ctr"/>
          <a:lstStyle/>
          <a:p>
            <a:pPr algn="ctr" indent="0" marL="0">
              <a:buNone/>
            </a:pPr>
            <a:r>
              <a:rPr lang="en-US" sz="1200" dirty="0">
                <a:solidFill>
                  <a:srgbClr val="5B6570"/>
                </a:solidFill>
                <a:latin typeface="Meiryo" pitchFamily="34" charset="0"/>
                <a:ea typeface="Meiryo" pitchFamily="34" charset="-122"/>
                <a:cs typeface="Meiryo" pitchFamily="34" charset="-120"/>
              </a:rPr>
              <a:t>……</a:t>
            </a:r>
            <a:endParaRPr lang="en-US" sz="1200" dirty="0"/>
          </a:p>
        </p:txBody>
      </p:sp>
      <p:sp>
        <p:nvSpPr>
          <p:cNvPr id="12" name="Shape 10"/>
          <p:cNvSpPr/>
          <p:nvPr/>
        </p:nvSpPr>
        <p:spPr>
          <a:xfrm flipH="1">
            <a:off x="8001000" y="2560320"/>
            <a:ext cx="777240" cy="914400"/>
          </a:xfrm>
          <a:prstGeom prst="line">
            <a:avLst/>
          </a:prstGeom>
          <a:noFill/>
          <a:ln w="19050">
            <a:solidFill>
              <a:srgbClr val="5B6570"/>
            </a:solidFill>
            <a:prstDash val="solid"/>
          </a:ln>
        </p:spPr>
      </p:sp>
      <p:sp>
        <p:nvSpPr>
          <p:cNvPr id="13" name="Shape 11"/>
          <p:cNvSpPr/>
          <p:nvPr/>
        </p:nvSpPr>
        <p:spPr>
          <a:xfrm>
            <a:off x="9326880" y="2560320"/>
            <a:ext cx="45720" cy="914400"/>
          </a:xfrm>
          <a:prstGeom prst="line">
            <a:avLst/>
          </a:prstGeom>
          <a:noFill/>
          <a:ln w="19050">
            <a:solidFill>
              <a:srgbClr val="5B6570"/>
            </a:solidFill>
            <a:prstDash val="solid"/>
          </a:ln>
        </p:spPr>
      </p:sp>
      <p:sp>
        <p:nvSpPr>
          <p:cNvPr id="14" name="Shape 12"/>
          <p:cNvSpPr/>
          <p:nvPr/>
        </p:nvSpPr>
        <p:spPr>
          <a:xfrm>
            <a:off x="9875520" y="2560320"/>
            <a:ext cx="777240" cy="914400"/>
          </a:xfrm>
          <a:prstGeom prst="line">
            <a:avLst/>
          </a:prstGeom>
          <a:noFill/>
          <a:ln w="19050">
            <a:solidFill>
              <a:srgbClr val="5B6570"/>
            </a:solidFill>
            <a:prstDash val="solid"/>
          </a:ln>
        </p:spPr>
      </p:sp>
      <p:sp>
        <p:nvSpPr>
          <p:cNvPr id="15" name="Text 13"/>
          <p:cNvSpPr txBox="1"/>
          <p:nvPr/>
        </p:nvSpPr>
        <p:spPr>
          <a:xfrm>
            <a:off x="7315200" y="4297680"/>
            <a:ext cx="402336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要綱一式のフォルダを置くだけ</a:t>
            </a:r>
            <a:endParaRPr lang="en-US" sz="1000" dirty="0"/>
          </a:p>
        </p:txBody>
      </p:sp>
      <p:sp>
        <p:nvSpPr>
          <p:cNvPr id="16" name="Text 14"/>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7" name="Text 15"/>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京都市で立ち上げ、動物病院と苦情窓口から届ける。</a:t>
            </a:r>
            <a:endParaRPr lang="en-US" sz="2400" dirty="0"/>
          </a:p>
        </p:txBody>
      </p:sp>
      <p:sp>
        <p:nvSpPr>
          <p:cNvPr id="3" name="Shape 1"/>
          <p:cNvSpPr/>
          <p:nvPr/>
        </p:nvSpPr>
        <p:spPr>
          <a:xfrm>
            <a:off x="685800" y="1371600"/>
            <a:ext cx="3474720" cy="2286000"/>
          </a:xfrm>
          <a:prstGeom prst="roundRect">
            <a:avLst>
              <a:gd name="adj" fmla="val 3200"/>
            </a:avLst>
          </a:prstGeom>
          <a:solidFill>
            <a:srgbClr val="F1F4F7"/>
          </a:solidFill>
          <a:ln w="12700">
            <a:solidFill>
              <a:srgbClr val="F1F4F7"/>
            </a:solidFill>
            <a:prstDash val="solid"/>
          </a:ln>
        </p:spPr>
      </p:sp>
      <p:sp>
        <p:nvSpPr>
          <p:cNvPr id="4" name="Text 2"/>
          <p:cNvSpPr txBox="1"/>
          <p:nvPr/>
        </p:nvSpPr>
        <p:spPr>
          <a:xfrm>
            <a:off x="8686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届け方</a:t>
            </a:r>
            <a:endParaRPr lang="en-US" sz="1500" dirty="0"/>
          </a:p>
        </p:txBody>
      </p:sp>
      <p:sp>
        <p:nvSpPr>
          <p:cNvPr id="5" name="Text 3"/>
          <p:cNvSpPr txBox="1"/>
          <p:nvPr/>
        </p:nvSpPr>
        <p:spPr>
          <a:xfrm>
            <a:off x="8686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京都市で立ち上げ。動物病院（京都市獣医師会がまちねこ活動をサポート）と苦情窓口から。払い手は市の既存予算の事務コスト。</a:t>
            </a:r>
            <a:endParaRPr lang="en-US" sz="1200" dirty="0"/>
          </a:p>
        </p:txBody>
      </p:sp>
      <p:sp>
        <p:nvSpPr>
          <p:cNvPr id="6" name="Shape 4"/>
          <p:cNvSpPr/>
          <p:nvPr/>
        </p:nvSpPr>
        <p:spPr>
          <a:xfrm>
            <a:off x="4343400" y="1371600"/>
            <a:ext cx="3474720" cy="2286000"/>
          </a:xfrm>
          <a:prstGeom prst="roundRect">
            <a:avLst>
              <a:gd name="adj" fmla="val 3200"/>
            </a:avLst>
          </a:prstGeom>
          <a:solidFill>
            <a:srgbClr val="F1F4F7"/>
          </a:solidFill>
          <a:ln w="12700">
            <a:solidFill>
              <a:srgbClr val="F1F4F7"/>
            </a:solidFill>
            <a:prstDash val="solid"/>
          </a:ln>
        </p:spPr>
      </p:sp>
      <p:sp>
        <p:nvSpPr>
          <p:cNvPr id="7" name="Text 5"/>
          <p:cNvSpPr txBox="1"/>
          <p:nvPr/>
        </p:nvSpPr>
        <p:spPr>
          <a:xfrm>
            <a:off x="45262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指標</a:t>
            </a:r>
            <a:endParaRPr lang="en-US" sz="1500" dirty="0"/>
          </a:p>
        </p:txBody>
      </p:sp>
      <p:sp>
        <p:nvSpPr>
          <p:cNvPr id="8" name="Text 6"/>
          <p:cNvSpPr txBox="1"/>
          <p:nvPr/>
        </p:nvSpPr>
        <p:spPr>
          <a:xfrm>
            <a:off x="45262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申請から手術までの日数／登録継続率（職権抹消の減少）／引継ぎ後に継続した地域数／センター収容の子猫数</a:t>
            </a:r>
            <a:endParaRPr lang="en-US" sz="1200" dirty="0"/>
          </a:p>
        </p:txBody>
      </p:sp>
      <p:sp>
        <p:nvSpPr>
          <p:cNvPr id="9" name="Shape 7"/>
          <p:cNvSpPr/>
          <p:nvPr/>
        </p:nvSpPr>
        <p:spPr>
          <a:xfrm>
            <a:off x="8001000" y="1371600"/>
            <a:ext cx="3474720" cy="2286000"/>
          </a:xfrm>
          <a:prstGeom prst="roundRect">
            <a:avLst>
              <a:gd name="adj" fmla="val 3200"/>
            </a:avLst>
          </a:prstGeom>
          <a:solidFill>
            <a:srgbClr val="F1F4F7"/>
          </a:solidFill>
          <a:ln w="12700">
            <a:solidFill>
              <a:srgbClr val="F1F4F7"/>
            </a:solidFill>
            <a:prstDash val="solid"/>
          </a:ln>
        </p:spPr>
      </p:sp>
      <p:sp>
        <p:nvSpPr>
          <p:cNvPr id="10" name="Text 8"/>
          <p:cNvSpPr txBox="1"/>
          <p:nvPr/>
        </p:nvSpPr>
        <p:spPr>
          <a:xfrm>
            <a:off x="81838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限界</a:t>
            </a:r>
            <a:endParaRPr lang="en-US" sz="1500" dirty="0"/>
          </a:p>
        </p:txBody>
      </p:sp>
      <p:sp>
        <p:nvSpPr>
          <p:cNvPr id="11" name="Text 9"/>
          <p:cNvSpPr txBox="1"/>
          <p:nvPr/>
        </p:nvSpPr>
        <p:spPr>
          <a:xfrm>
            <a:off x="81838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当事者ヒアリング未実施（通過後にセンター・基金へ）／高島市要綱PDF未取得／実APIの応答品質は検証中で、掲載画面はモック応答で撮影</a:t>
            </a:r>
            <a:endParaRPr lang="en-US" sz="1200" dirty="0"/>
          </a:p>
        </p:txBody>
      </p:sp>
      <p:sp>
        <p:nvSpPr>
          <p:cNvPr id="12" name="Shape 10"/>
          <p:cNvSpPr/>
          <p:nvPr/>
        </p:nvSpPr>
        <p:spPr>
          <a:xfrm>
            <a:off x="685800" y="3931920"/>
            <a:ext cx="10817352" cy="1371600"/>
          </a:xfrm>
          <a:prstGeom prst="roundRect">
            <a:avLst>
              <a:gd name="adj" fmla="val 5333"/>
            </a:avLst>
          </a:prstGeom>
          <a:solidFill>
            <a:srgbClr val="F1F4F7"/>
          </a:solidFill>
          <a:ln w="12700">
            <a:solidFill>
              <a:srgbClr val="F1F4F7"/>
            </a:solidFill>
            <a:prstDash val="solid"/>
          </a:ln>
        </p:spPr>
      </p:sp>
      <p:sp>
        <p:nvSpPr>
          <p:cNvPr id="13" name="Text 11"/>
          <p:cNvSpPr txBox="1"/>
          <p:nvPr/>
        </p:nvSpPr>
        <p:spPr>
          <a:xfrm>
            <a:off x="868680" y="4041648"/>
            <a:ext cx="10451592"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チーム シーサーズ</a:t>
            </a:r>
            <a:endParaRPr lang="en-US" sz="1500" dirty="0"/>
          </a:p>
        </p:txBody>
      </p:sp>
      <p:sp>
        <p:nvSpPr>
          <p:cNvPr id="14" name="Text 12"/>
          <p:cNvSpPr txBox="1"/>
          <p:nvPr/>
        </p:nvSpPr>
        <p:spPr>
          <a:xfrm>
            <a:off x="868680" y="4480560"/>
            <a:ext cx="10451592" cy="7315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技術構成：Python／Streamlit／Anthropic API（Claude）／python-docx。京都市・高島市の2プロファイルで動作。要綱の規則はコードに書かず、資料フォルダから毎回抽出。日付の計算だけコード側。</a:t>
            </a:r>
            <a:endParaRPr lang="en-US" sz="1200" dirty="0"/>
          </a:p>
        </p:txBody>
      </p:sp>
      <p:sp>
        <p:nvSpPr>
          <p:cNvPr id="15" name="Text 13"/>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出典：京都市獣医師会 まちねこページ／京都市10年評価／どうぶつ基金 2022年度実績</a:t>
            </a:r>
            <a:endParaRPr lang="en-US" sz="800" dirty="0"/>
          </a:p>
        </p:txBody>
      </p:sp>
      <p:sp>
        <p:nvSpPr>
          <p:cNvPr id="16" name="Text 14"/>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548640"/>
          </a:xfrm>
          <a:prstGeom prst="rect">
            <a:avLst/>
          </a:prstGeom>
          <a:noFill/>
          <a:ln/>
        </p:spPr>
        <p:txBody>
          <a:bodyPr wrap="square" lIns="0" tIns="0" rIns="0" bIns="0" rtlCol="0" anchor="t"/>
          <a:lstStyle/>
          <a:p>
            <a:pPr indent="0" marL="0">
              <a:lnSpc>
                <a:spcPct val="115000"/>
              </a:lnSpc>
              <a:buNone/>
            </a:pPr>
            <a:r>
              <a:rPr lang="en-US" sz="2000" b="1" dirty="0">
                <a:solidFill>
                  <a:srgbClr val="1F2A37"/>
                </a:solidFill>
                <a:latin typeface="Meiryo" pitchFamily="34" charset="0"/>
                <a:ea typeface="Meiryo" pitchFamily="34" charset="-122"/>
                <a:cs typeface="Meiryo" pitchFamily="34" charset="-120"/>
              </a:rPr>
              <a:t>付録A　一次情報の出典</a:t>
            </a:r>
            <a:endParaRPr lang="en-US" sz="2000" dirty="0"/>
          </a:p>
        </p:txBody>
      </p:sp>
      <p:sp>
        <p:nvSpPr>
          <p:cNvPr id="3" name="Text 1"/>
          <p:cNvSpPr txBox="1"/>
          <p:nvPr/>
        </p:nvSpPr>
        <p:spPr>
          <a:xfrm>
            <a:off x="685800"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京都市（デモ対象）</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まちねこ活動支援事業</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https://www.city.kyoto.lg.jp/hokenfukushi/page/0000189400.html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要綱（令和6年4月1日改正）</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https://www.city.kyoto.lg.jp/hokenfukushi/cmsfiles/contents/0000189/189400/yoko060401.pdf</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第1号様式 …/touroku.docx／第6号様式 …/jissikeikaku.docx／記載例 …/rei_touroku.pdf, …/rei_jissikeikaku.pdf／参考様式 …/osirase.pdf（同ディレクトリ）</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10年間の事業評価</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https://www.city.kyoto.lg.jp/hokenfukushi/page/0000277536.html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京都市獣医師会</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https://www.kyoto-shiju.or.jp/machineko.html</a:t>
            </a:r>
            <a:endParaRPr lang="en-US" sz="850" dirty="0"/>
          </a:p>
        </p:txBody>
      </p:sp>
      <p:sp>
        <p:nvSpPr>
          <p:cNvPr id="4" name="Text 2"/>
          <p:cNvSpPr txBox="1"/>
          <p:nvPr/>
        </p:nvSpPr>
        <p:spPr>
          <a:xfrm>
            <a:off x="4325112"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どうぶつ基金・基金型自治体</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チケットFAQ</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https://sakuraneko-tnr.doubutukikin.or.jp/faq</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登録・チケット規約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https://sakuraneko-tnr.doubutukikin.or.jp/about/register</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事業概要</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https://www.doubutukikin.or.jp/activity/sakuraneko-surgery/</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2022年度実績</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https://www.doubutukikin.or.jp/activitynews/20230727/37090/</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高島市 環境政策課</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https://www.city.takashima.lg.jp/soshiki/kankyobu/kankyoseisakuka/2924.html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大網白里市</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https://www.city.oamishirasato.lg.jp/0000014129.html</a:t>
            </a:r>
            <a:endParaRPr lang="en-US" sz="850" dirty="0"/>
          </a:p>
        </p:txBody>
      </p:sp>
      <p:sp>
        <p:nvSpPr>
          <p:cNvPr id="5" name="Text 3"/>
          <p:cNvSpPr txBox="1"/>
          <p:nvPr/>
        </p:nvSpPr>
        <p:spPr>
          <a:xfrm>
            <a:off x="7964424"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当事者の声・背景</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福岡県 県民モニター調査（N=349。実施年は資料に明記なし、自由記述から2022年実施と推定）</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https://www.pref.fukuoka.lg.jp/uploaded/attachment/186043.pdf</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堺市（猫は法令上捕獲根拠がなく行政は収容しない）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https://www.city.sakai.lg.jp/kurashi/dobutsu/dogcat/komarigoto/inunekokomaru.html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環境省 犬・猫の引取り及び負傷動物の収容状況</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https://www.env.go.jp/nature/dobutsu/aigo/2_data/statistics/dog-cat.html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数字の扱い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本資料の数字はすべて上記の一次情報から引用。事業の効果（収容減・苦情減）は京都市の事業の効果であり、本プロダクトの効果ではない。本プロダクトが変えるのは「申請から手術までの日数」「登録の継続率」「担い手交代後の継続」。</a:t>
            </a:r>
            <a:endParaRPr lang="en-US" sz="850" dirty="0"/>
          </a:p>
        </p:txBody>
      </p:sp>
      <p:sp>
        <p:nvSpPr>
          <p:cNvPr id="6" name="Text 4"/>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7" name="Text 5"/>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A</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548640"/>
          </a:xfrm>
          <a:prstGeom prst="rect">
            <a:avLst/>
          </a:prstGeom>
          <a:noFill/>
          <a:ln/>
        </p:spPr>
        <p:txBody>
          <a:bodyPr wrap="square" lIns="0" tIns="0" rIns="0" bIns="0" rtlCol="0" anchor="t"/>
          <a:lstStyle/>
          <a:p>
            <a:pPr indent="0" marL="0">
              <a:lnSpc>
                <a:spcPct val="115000"/>
              </a:lnSpc>
              <a:buNone/>
            </a:pPr>
            <a:r>
              <a:rPr lang="en-US" sz="2000" b="1" dirty="0">
                <a:solidFill>
                  <a:srgbClr val="1F2A37"/>
                </a:solidFill>
                <a:latin typeface="Meiryo" pitchFamily="34" charset="0"/>
                <a:ea typeface="Meiryo" pitchFamily="34" charset="-122"/>
                <a:cs typeface="Meiryo" pitchFamily="34" charset="-120"/>
              </a:rPr>
              <a:t>付録B　京都市まちねこ活動支援要綱 抜粋（令和6年4月1日改正）</a:t>
            </a:r>
            <a:endParaRPr lang="en-US" sz="2000" dirty="0"/>
          </a:p>
        </p:txBody>
      </p:sp>
      <p:sp>
        <p:nvSpPr>
          <p:cNvPr id="3" name="Text 1"/>
          <p:cNvSpPr txBox="1"/>
          <p:nvPr/>
        </p:nvSpPr>
        <p:spPr>
          <a:xfrm>
            <a:off x="685800" y="1188720"/>
            <a:ext cx="5303520" cy="5120640"/>
          </a:xfrm>
          <a:prstGeom prst="rect">
            <a:avLst/>
          </a:prstGeom>
          <a:noFill/>
          <a:ln/>
        </p:spPr>
        <p:txBody>
          <a:bodyPr wrap="square" lIns="0" tIns="0" rIns="0" bIns="0" rtlCol="0" anchor="t"/>
          <a:lstStyle/>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第2条⑵　活動は、同一世帯員ではない地域住民２人以上（ただし、その管理する野良猫が１０頭以上の場合にあっては同一世帯員ではない地域住民２人を含む京都市民３人以上）による団体を構成して行うものであること。</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第5条　「まちねこ活動登録申請書」（第１号様式）に、「まちねこ活動実施計画書」（第６号様式）及び次に掲げる事項を示した周辺地図を添えて、医療衛生センター長に提出するものとする。⑴活動地域の範囲 ⑵給餌の場所 ⑶野良猫用のトイレの場所</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第5条3　登録の有効期間は、登録の日から３年間とする。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第6条2　登録を更新しようとする団体は、「まちねこ活動登録更新申請書」（第２号様式）及び「実施計画書」を、従前の登録の有効期間の満了の日の３０日前から満了日までに医療衛生センター長に提出するもの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第7条3　医療衛生センター長は、期限までに第６条の更新が行われなかったもの又は活動の実態が認められない若しくは効果がないと思料するものについて、まちねこ活動団体に、第１項に規定する届出を行うよう求め、又は必要な調査を行ったうえ職権で登録を抹消することができる。</a:t>
            </a:r>
            <a:endParaRPr lang="en-US" sz="950" dirty="0"/>
          </a:p>
        </p:txBody>
      </p:sp>
      <p:sp>
        <p:nvSpPr>
          <p:cNvPr id="4" name="Text 2"/>
          <p:cNvSpPr txBox="1"/>
          <p:nvPr/>
        </p:nvSpPr>
        <p:spPr>
          <a:xfrm>
            <a:off x="6263640" y="1188720"/>
            <a:ext cx="5257800" cy="5120640"/>
          </a:xfrm>
          <a:prstGeom prst="rect">
            <a:avLst/>
          </a:prstGeom>
          <a:noFill/>
          <a:ln/>
        </p:spPr>
        <p:txBody>
          <a:bodyPr wrap="square" lIns="0" tIns="0" rIns="0" bIns="0" rtlCol="0" anchor="t"/>
          <a:lstStyle/>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第9条　まちねこの避妊去勢手術を依頼しようとするときは、まちねこ避妊去勢手術実施申請書（第４号様式）を医療衛生センター長に提出するものとする。</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第10条　避妊去勢手術の実施の日時は、動物愛護センターが医療衛生センター長を通じ、まちねこ活動団体に通知する。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第12条　まちねこ活動団体は、１年ごとに、医療衛生センター長に対して、「まちねこ活動状況報告書」（第５号様式）を提出し、まちねこの管理の状況について、報告しなければならない。</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第12条2　前項に規定する報告は、登録をした日の属する年の翌年以降、毎年、登録した日と同月日から３０日以内に行うものとする。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様式一覧　第1号 登録申請書／第2号 登録更新申請書／第3号 廃止届出書／第4号 避妊去勢手術実施申請書／第5号 活動状況報告書／第6号 活動実施計画書／参考様式 近隣の皆さまへ（お知らせ）</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記載例の注記（R6.4.1〜）　代表者の署名・押印不要。管理する猫が10頭以上の場合、地域住民2名以上のほかに京都市民1名以上の登録が必要。3人目の活動者は同一町内でなくとも可。</a:t>
            </a:r>
            <a:endParaRPr lang="en-US" sz="950" dirty="0"/>
          </a:p>
        </p:txBody>
      </p:sp>
      <p:sp>
        <p:nvSpPr>
          <p:cNvPr id="5" name="Text 3"/>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出典：京都市まちねこ活動支援要綱（yoko060401.pdf）／記載例 rei_touroku.pdf</a:t>
            </a:r>
            <a:endParaRPr lang="en-US" sz="800" dirty="0"/>
          </a:p>
        </p:txBody>
      </p:sp>
      <p:sp>
        <p:nvSpPr>
          <p:cNvPr id="6" name="Text 4"/>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B</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2026-09-11T08:00:52Z</dcterms:created>
  <dcterms:modified xsi:type="dcterms:W3CDTF">2026-09-11T08:00:52Z</dcterms:modified>
</cp:coreProperties>
</file>