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1371600"/>
            <a:ext cx="6400800" cy="365760"/>
          </a:xfrm>
          <a:prstGeom prst="rect">
            <a:avLst/>
          </a:prstGeom>
          <a:noFill/>
          <a:ln/>
        </p:spPr>
        <p:txBody>
          <a:bodyPr wrap="square" lIns="0" tIns="0" rIns="0" bIns="0" rtlCol="0" anchor="t"/>
          <a:lstStyle/>
          <a:p>
            <a:pPr algn="l" indent="0" marL="0">
              <a:lnSpc>
                <a:spcPct val="125000"/>
              </a:lnSpc>
              <a:buNone/>
            </a:pPr>
            <a:r>
              <a:rPr lang="en-US" sz="1300" dirty="0">
                <a:solidFill>
                  <a:srgbClr val="AAB4BE"/>
                </a:solidFill>
                <a:latin typeface="Meiryo" pitchFamily="34" charset="0"/>
                <a:ea typeface="Meiryo" pitchFamily="34" charset="-122"/>
                <a:cs typeface="Meiryo" pitchFamily="34" charset="-120"/>
              </a:rPr>
              <a:t>VORN Challenge 2026 応募作品</a:t>
            </a:r>
            <a:endParaRPr lang="en-US" sz="1300" dirty="0"/>
          </a:p>
        </p:txBody>
      </p:sp>
      <p:sp>
        <p:nvSpPr>
          <p:cNvPr id="3" name="Text 1"/>
          <p:cNvSpPr txBox="1"/>
          <p:nvPr/>
        </p:nvSpPr>
        <p:spPr>
          <a:xfrm>
            <a:off x="685800" y="1828800"/>
            <a:ext cx="6949440" cy="1554480"/>
          </a:xfrm>
          <a:prstGeom prst="rect">
            <a:avLst/>
          </a:prstGeom>
          <a:noFill/>
          <a:ln/>
        </p:spPr>
        <p:txBody>
          <a:bodyPr wrap="square" lIns="0" tIns="0" rIns="0" bIns="0" rtlCol="0" anchor="t"/>
          <a:lstStyle/>
          <a:p>
            <a:pPr algn="l" indent="0" marL="0">
              <a:lnSpc>
                <a:spcPct val="120000"/>
              </a:lnSpc>
              <a:buNone/>
            </a:pPr>
            <a:r>
              <a:rPr lang="en-US" sz="3200" b="1" dirty="0">
                <a:solidFill>
                  <a:srgbClr val="FFFFFF"/>
                </a:solidFill>
                <a:latin typeface="Meiryo" pitchFamily="34" charset="0"/>
                <a:ea typeface="Meiryo" pitchFamily="34" charset="-122"/>
                <a:cs typeface="Meiryo" pitchFamily="34" charset="-120"/>
              </a:rPr>
              <a:t>猫を見守る人の書類作成と期限管理を、</a:t>
            </a:r>
            <a:endParaRPr lang="en-US" sz="3200" dirty="0"/>
          </a:p>
          <a:p>
            <a:pPr algn="l" indent="0" marL="0">
              <a:lnSpc>
                <a:spcPct val="120000"/>
              </a:lnSpc>
              <a:buNone/>
            </a:pPr>
            <a:r>
              <a:rPr lang="en-US" sz="3200" b="1" dirty="0">
                <a:solidFill>
                  <a:srgbClr val="FFFFFF"/>
                </a:solidFill>
                <a:latin typeface="Meiryo" pitchFamily="34" charset="0"/>
                <a:ea typeface="Meiryo" pitchFamily="34" charset="-122"/>
                <a:cs typeface="Meiryo" pitchFamily="34" charset="-120"/>
              </a:rPr>
              <a:t>AIがサポートする。</a:t>
            </a:r>
            <a:endParaRPr lang="en-US" sz="3200" dirty="0"/>
          </a:p>
        </p:txBody>
      </p:sp>
      <p:sp>
        <p:nvSpPr>
          <p:cNvPr id="4" name="Text 2"/>
          <p:cNvSpPr txBox="1"/>
          <p:nvPr/>
        </p:nvSpPr>
        <p:spPr>
          <a:xfrm>
            <a:off x="685800" y="3566160"/>
            <a:ext cx="6949440" cy="640080"/>
          </a:xfrm>
          <a:prstGeom prst="rect">
            <a:avLst/>
          </a:prstGeom>
          <a:noFill/>
          <a:ln/>
        </p:spPr>
        <p:txBody>
          <a:bodyPr wrap="square" lIns="0" tIns="0" rIns="0" bIns="0" rtlCol="0" anchor="t"/>
          <a:lstStyle/>
          <a:p>
            <a:pPr algn="l" indent="0" marL="0">
              <a:lnSpc>
                <a:spcPct val="125000"/>
              </a:lnSpc>
              <a:buNone/>
            </a:pPr>
            <a:r>
              <a:rPr lang="en-US" sz="2800" b="1" dirty="0">
                <a:solidFill>
                  <a:srgbClr val="FFFFFF"/>
                </a:solidFill>
                <a:latin typeface="Meiryo" pitchFamily="34" charset="0"/>
                <a:ea typeface="Meiryo" pitchFamily="34" charset="-122"/>
                <a:cs typeface="Meiryo" pitchFamily="34" charset="-120"/>
              </a:rPr>
              <a:t>ネコノテ</a:t>
            </a:r>
            <a:endParaRPr lang="en-US" sz="2800" dirty="0"/>
          </a:p>
        </p:txBody>
      </p:sp>
      <p:sp>
        <p:nvSpPr>
          <p:cNvPr id="5" name="Text 3"/>
          <p:cNvSpPr txBox="1"/>
          <p:nvPr/>
        </p:nvSpPr>
        <p:spPr>
          <a:xfrm>
            <a:off x="685800" y="4297680"/>
            <a:ext cx="6400800" cy="365760"/>
          </a:xfrm>
          <a:prstGeom prst="rect">
            <a:avLst/>
          </a:prstGeom>
          <a:noFill/>
          <a:ln/>
        </p:spPr>
        <p:txBody>
          <a:bodyPr wrap="square" lIns="0" tIns="0" rIns="0" bIns="0" rtlCol="0" anchor="t"/>
          <a:lstStyle/>
          <a:p>
            <a:pPr algn="l" indent="0" marL="0">
              <a:lnSpc>
                <a:spcPct val="125000"/>
              </a:lnSpc>
              <a:buNone/>
            </a:pPr>
            <a:r>
              <a:rPr lang="en-US" sz="1200" dirty="0">
                <a:solidFill>
                  <a:srgbClr val="AAB4BE"/>
                </a:solidFill>
                <a:latin typeface="Meiryo" pitchFamily="34" charset="0"/>
                <a:ea typeface="Meiryo" pitchFamily="34" charset="-122"/>
                <a:cs typeface="Meiryo" pitchFamily="34" charset="-120"/>
              </a:rPr>
              <a:t>チーム シーサーズ</a:t>
            </a:r>
            <a:endParaRPr lang="en-US" sz="1200" dirty="0"/>
          </a:p>
        </p:txBody>
      </p:sp>
      <p:pic>
        <p:nvPicPr>
          <p:cNvPr id="6" name="Image 0" descr="/home/user/VORN/docs/deck3/next.jpg">    </p:cNvPr>
          <p:cNvPicPr>
            <a:picLocks noChangeAspect="1"/>
          </p:cNvPicPr>
          <p:nvPr/>
        </p:nvPicPr>
        <p:blipFill>
          <a:blip r:embed="rId1"/>
          <a:stretch>
            <a:fillRect/>
          </a:stretch>
        </p:blipFill>
        <p:spPr>
          <a:xfrm>
            <a:off x="7863840" y="1463040"/>
            <a:ext cx="3749040" cy="914400"/>
          </a:xfrm>
          <a:prstGeom prst="rect">
            <a:avLst/>
          </a:prstGeom>
        </p:spPr>
      </p:pic>
      <p:sp>
        <p:nvSpPr>
          <p:cNvPr id="7" name="Shape 4"/>
          <p:cNvSpPr/>
          <p:nvPr/>
        </p:nvSpPr>
        <p:spPr>
          <a:xfrm>
            <a:off x="7863840" y="1463040"/>
            <a:ext cx="3749040" cy="1574597"/>
          </a:xfrm>
          <a:prstGeom prst="rect">
            <a:avLst/>
          </a:prstGeom>
          <a:ln w="9525">
            <a:solidFill>
              <a:srgbClr val="D5DBE1"/>
            </a:solidFill>
            <a:prstDash val="solid"/>
          </a:ln>
        </p:spPr>
      </p:sp>
      <p:sp>
        <p:nvSpPr>
          <p:cNvPr id="8" name="Text 5"/>
          <p:cNvSpPr txBox="1"/>
          <p:nvPr/>
        </p:nvSpPr>
        <p:spPr>
          <a:xfrm>
            <a:off x="7863840" y="3083357"/>
            <a:ext cx="3749040" cy="27432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市民向け画面：開くだけで「いま次に行うべきこと」を提示</a:t>
            </a:r>
            <a:endParaRPr lang="en-US" sz="950" dirty="0"/>
          </a:p>
        </p:txBody>
      </p:sp>
      <p:sp>
        <p:nvSpPr>
          <p:cNvPr id="9" name="Text 6"/>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0"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同じ「野良猫の不妊手術」でも、自治体ごとに要綱・様式・受付期間が異なる</a:t>
            </a:r>
            <a:endParaRPr lang="en-US" sz="2400" dirty="0"/>
          </a:p>
        </p:txBody>
      </p:sp>
      <p:sp>
        <p:nvSpPr>
          <p:cNvPr id="3" name="Text 1"/>
          <p:cNvSpPr txBox="1"/>
          <p:nvPr/>
        </p:nvSpPr>
        <p:spPr>
          <a:xfrm>
            <a:off x="685800" y="1280160"/>
            <a:ext cx="10817352" cy="73152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京都市は要綱16条と6様式があり、登録期間は3年、年1回の報告義務（期限30日以内）が課される。高島市は毎月6日〜末日の申請で翌々月分のチケットが交付され、写真付き報告が必要となる。函館市は個人申請不可で団体登録が必須であり、広島市は年度末区切りで途中の増頭は別扱いとなるなど、運用ルールは自治体ごとに分断されている。</a:t>
            </a:r>
            <a:endParaRPr lang="en-US" sz="1150" dirty="0"/>
          </a:p>
        </p:txBody>
      </p:sp>
      <p:pic>
        <p:nvPicPr>
          <p:cNvPr id="4" name="Image 0" descr="/home/user/VORN/docs/deck3/yoko_p1.jpg">    </p:cNvPr>
          <p:cNvPicPr>
            <a:picLocks noChangeAspect="1"/>
          </p:cNvPicPr>
          <p:nvPr/>
        </p:nvPicPr>
        <p:blipFill>
          <a:blip r:embed="rId1"/>
          <a:srcRect l="0" r="99973" t="0" b="99973"/>
          <a:stretch/>
        </p:blipFill>
        <p:spPr>
          <a:xfrm>
            <a:off x="685800" y="2148840"/>
            <a:ext cx="910" cy="874"/>
          </a:xfrm>
          <a:prstGeom prst="rect">
            <a:avLst/>
          </a:prstGeom>
        </p:spPr>
      </p:pic>
      <p:sp>
        <p:nvSpPr>
          <p:cNvPr id="5" name="Shape 2"/>
          <p:cNvSpPr/>
          <p:nvPr/>
        </p:nvSpPr>
        <p:spPr>
          <a:xfrm>
            <a:off x="685800" y="2148840"/>
            <a:ext cx="3429000" cy="3291840"/>
          </a:xfrm>
          <a:prstGeom prst="rect">
            <a:avLst/>
          </a:prstGeom>
          <a:ln w="9525">
            <a:solidFill>
              <a:srgbClr val="D5DBE1"/>
            </a:solidFill>
            <a:prstDash val="solid"/>
          </a:ln>
        </p:spPr>
      </p:sp>
      <p:sp>
        <p:nvSpPr>
          <p:cNvPr id="6" name="Text 3"/>
          <p:cNvSpPr txBox="1"/>
          <p:nvPr/>
        </p:nvSpPr>
        <p:spPr>
          <a:xfrm>
            <a:off x="685800" y="5486400"/>
            <a:ext cx="3429000" cy="36576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京都市まちねこ活動支援要綱（PDF、16条）</a:t>
            </a:r>
            <a:endParaRPr lang="en-US" sz="950" dirty="0"/>
          </a:p>
        </p:txBody>
      </p:sp>
      <p:pic>
        <p:nvPicPr>
          <p:cNvPr id="7" name="Image 1" descr="/home/user/VORN/docs/deck3/yoko_form1.jpg">    </p:cNvPr>
          <p:cNvPicPr>
            <a:picLocks noChangeAspect="1"/>
          </p:cNvPicPr>
          <p:nvPr/>
        </p:nvPicPr>
        <p:blipFill>
          <a:blip r:embed="rId2"/>
          <a:srcRect l="0" r="99973" t="0" b="99973"/>
          <a:stretch/>
        </p:blipFill>
        <p:spPr>
          <a:xfrm>
            <a:off x="4398264" y="2148840"/>
            <a:ext cx="910" cy="874"/>
          </a:xfrm>
          <a:prstGeom prst="rect">
            <a:avLst/>
          </a:prstGeom>
        </p:spPr>
      </p:pic>
      <p:sp>
        <p:nvSpPr>
          <p:cNvPr id="8" name="Shape 4"/>
          <p:cNvSpPr/>
          <p:nvPr/>
        </p:nvSpPr>
        <p:spPr>
          <a:xfrm>
            <a:off x="4398264" y="2148840"/>
            <a:ext cx="3429000" cy="3291840"/>
          </a:xfrm>
          <a:prstGeom prst="rect">
            <a:avLst/>
          </a:prstGeom>
          <a:ln w="9525">
            <a:solidFill>
              <a:srgbClr val="D5DBE1"/>
            </a:solidFill>
            <a:prstDash val="solid"/>
          </a:ln>
        </p:spPr>
      </p:sp>
      <p:sp>
        <p:nvSpPr>
          <p:cNvPr id="9" name="Text 5"/>
          <p:cNvSpPr txBox="1"/>
          <p:nvPr/>
        </p:nvSpPr>
        <p:spPr>
          <a:xfrm>
            <a:off x="4398264" y="5486400"/>
            <a:ext cx="3429000" cy="36576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京都市 第1号様式 登録申請書（DOCX配布。要綱PDF内の様式）</a:t>
            </a:r>
            <a:endParaRPr lang="en-US" sz="950" dirty="0"/>
          </a:p>
        </p:txBody>
      </p:sp>
      <p:pic>
        <p:nvPicPr>
          <p:cNvPr id="10" name="Image 2" descr="/home/user/VORN/docs/deck3/tk_page.jpg">    </p:cNvPr>
          <p:cNvPicPr>
            <a:picLocks noChangeAspect="1"/>
          </p:cNvPicPr>
          <p:nvPr/>
        </p:nvPicPr>
        <p:blipFill>
          <a:blip r:embed="rId3"/>
          <a:srcRect l="0" r="99964" t="0" b="99964"/>
          <a:stretch/>
        </p:blipFill>
        <p:spPr>
          <a:xfrm>
            <a:off x="8110728" y="2148840"/>
            <a:ext cx="1224" cy="1175"/>
          </a:xfrm>
          <a:prstGeom prst="rect">
            <a:avLst/>
          </a:prstGeom>
        </p:spPr>
      </p:pic>
      <p:sp>
        <p:nvSpPr>
          <p:cNvPr id="11" name="Shape 6"/>
          <p:cNvSpPr/>
          <p:nvPr/>
        </p:nvSpPr>
        <p:spPr>
          <a:xfrm>
            <a:off x="8110728" y="2148840"/>
            <a:ext cx="3429000" cy="3291840"/>
          </a:xfrm>
          <a:prstGeom prst="rect">
            <a:avLst/>
          </a:prstGeom>
          <a:ln w="9525">
            <a:solidFill>
              <a:srgbClr val="D5DBE1"/>
            </a:solidFill>
            <a:prstDash val="solid"/>
          </a:ln>
        </p:spPr>
      </p:sp>
      <p:sp>
        <p:nvSpPr>
          <p:cNvPr id="12" name="Text 7"/>
          <p:cNvSpPr txBox="1"/>
          <p:nvPr/>
        </p:nvSpPr>
        <p:spPr>
          <a:xfrm>
            <a:off x="8110728" y="5486400"/>
            <a:ext cx="3429000" cy="36576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高島市 環境政策課ページ本文（受付は毎月6日〜末日、翌々月分）</a:t>
            </a:r>
            <a:endParaRPr lang="en-US" sz="950" dirty="0"/>
          </a:p>
        </p:txBody>
      </p:sp>
      <p:sp>
        <p:nvSpPr>
          <p:cNvPr id="13" name="Text 8"/>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出典：京都市まちねこ活動支援事業ページ・要綱／高島市 環境政策課ページ／函館市・広島市の各ページ（付録A）</a:t>
            </a:r>
            <a:endParaRPr lang="en-US" sz="800" dirty="0"/>
          </a:p>
        </p:txBody>
      </p:sp>
      <p:sp>
        <p:nvSpPr>
          <p:cNvPr id="14" name="Text 9"/>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行政が提供するのは手術枠・捕獲器・助言まで。実務は住民の無償活動に依存し、高齢化と後継者不足が深刻化</a:t>
            </a:r>
            <a:endParaRPr lang="en-US" sz="2400" dirty="0"/>
          </a:p>
        </p:txBody>
      </p:sp>
      <p:sp>
        <p:nvSpPr>
          <p:cNvPr id="3" name="Text 1"/>
          <p:cNvSpPr txBox="1"/>
          <p:nvPr/>
        </p:nvSpPr>
        <p:spPr>
          <a:xfrm>
            <a:off x="685800" y="1463040"/>
            <a:ext cx="5852160" cy="457200"/>
          </a:xfrm>
          <a:prstGeom prst="rect">
            <a:avLst/>
          </a:prstGeom>
          <a:noFill/>
          <a:ln/>
        </p:spPr>
        <p:txBody>
          <a:bodyPr wrap="square" lIns="0" tIns="0" rIns="0" bIns="0" rtlCol="0" anchor="t"/>
          <a:lstStyle/>
          <a:p>
            <a:pPr algn="l" indent="0" marL="0">
              <a:lnSpc>
                <a:spcPct val="125000"/>
              </a:lnSpc>
              <a:buNone/>
            </a:pPr>
            <a:r>
              <a:rPr lang="en-US" sz="1800" b="1" dirty="0">
                <a:solidFill>
                  <a:srgbClr val="1F2A37"/>
                </a:solidFill>
                <a:latin typeface="Meiryo" pitchFamily="34" charset="0"/>
                <a:ea typeface="Meiryo" pitchFamily="34" charset="-122"/>
                <a:cs typeface="Meiryo" pitchFamily="34" charset="-120"/>
              </a:rPr>
              <a:t>担い手は少なく、高齢で、後継がいない。</a:t>
            </a:r>
            <a:endParaRPr lang="en-US" sz="1800" dirty="0"/>
          </a:p>
        </p:txBody>
      </p:sp>
      <p:sp>
        <p:nvSpPr>
          <p:cNvPr id="4" name="Shape 2"/>
          <p:cNvSpPr/>
          <p:nvPr/>
        </p:nvSpPr>
        <p:spPr>
          <a:xfrm>
            <a:off x="685800" y="2103120"/>
            <a:ext cx="5852160" cy="1188720"/>
          </a:xfrm>
          <a:prstGeom prst="roundRect">
            <a:avLst>
              <a:gd name="adj" fmla="val 6154"/>
            </a:avLst>
          </a:prstGeom>
          <a:solidFill>
            <a:srgbClr val="F1F4F7"/>
          </a:solidFill>
          <a:ln w="12700">
            <a:solidFill>
              <a:srgbClr val="F1F4F7"/>
            </a:solidFill>
            <a:prstDash val="solid"/>
          </a:ln>
        </p:spPr>
      </p:sp>
      <p:sp>
        <p:nvSpPr>
          <p:cNvPr id="5" name="Text 3"/>
          <p:cNvSpPr txBox="1"/>
          <p:nvPr/>
        </p:nvSpPr>
        <p:spPr>
          <a:xfrm>
            <a:off x="868680" y="2194560"/>
            <a:ext cx="5486400" cy="1005840"/>
          </a:xfrm>
          <a:prstGeom prst="rect">
            <a:avLst/>
          </a:prstGeom>
          <a:noFill/>
          <a:ln/>
        </p:spPr>
        <p:txBody>
          <a:bodyPr wrap="square" lIns="0" tIns="0" rIns="0" bIns="0" rtlCol="0" anchor="t"/>
          <a:lstStyle/>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「本来市役所の環境課や愛護センターがやるべきことを、ボランティアが無償でやっている」</a:t>
            </a:r>
            <a:endParaRPr lang="en-US" sz="1250" dirty="0"/>
          </a:p>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30代女性</a:t>
            </a:r>
            <a:endParaRPr lang="en-US" sz="1250" dirty="0"/>
          </a:p>
        </p:txBody>
      </p:sp>
      <p:sp>
        <p:nvSpPr>
          <p:cNvPr id="6" name="Shape 4"/>
          <p:cNvSpPr/>
          <p:nvPr/>
        </p:nvSpPr>
        <p:spPr>
          <a:xfrm>
            <a:off x="685800" y="3474720"/>
            <a:ext cx="5852160" cy="1005840"/>
          </a:xfrm>
          <a:prstGeom prst="roundRect">
            <a:avLst>
              <a:gd name="adj" fmla="val 7273"/>
            </a:avLst>
          </a:prstGeom>
          <a:solidFill>
            <a:srgbClr val="F1F4F7"/>
          </a:solidFill>
          <a:ln w="12700">
            <a:solidFill>
              <a:srgbClr val="F1F4F7"/>
            </a:solidFill>
            <a:prstDash val="solid"/>
          </a:ln>
        </p:spPr>
      </p:sp>
      <p:sp>
        <p:nvSpPr>
          <p:cNvPr id="7" name="Text 5"/>
          <p:cNvSpPr txBox="1"/>
          <p:nvPr/>
        </p:nvSpPr>
        <p:spPr>
          <a:xfrm>
            <a:off x="868680" y="3566160"/>
            <a:ext cx="5486400" cy="822960"/>
          </a:xfrm>
          <a:prstGeom prst="rect">
            <a:avLst/>
          </a:prstGeom>
          <a:noFill/>
          <a:ln/>
        </p:spPr>
        <p:txBody>
          <a:bodyPr wrap="square" lIns="0" tIns="0" rIns="0" bIns="0" rtlCol="0" anchor="t"/>
          <a:lstStyle/>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「高齢者が多く、その方がいなくなったら引き継ぐ人がいない」</a:t>
            </a:r>
            <a:endParaRPr lang="en-US" sz="1250" dirty="0"/>
          </a:p>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50代女性</a:t>
            </a:r>
            <a:endParaRPr lang="en-US" sz="1250" dirty="0"/>
          </a:p>
        </p:txBody>
      </p:sp>
      <p:sp>
        <p:nvSpPr>
          <p:cNvPr id="8" name="Shape 6"/>
          <p:cNvSpPr/>
          <p:nvPr/>
        </p:nvSpPr>
        <p:spPr>
          <a:xfrm>
            <a:off x="7223760" y="1554480"/>
            <a:ext cx="1371600" cy="777240"/>
          </a:xfrm>
          <a:prstGeom prst="roundRect">
            <a:avLst>
              <a:gd name="adj" fmla="val 7059"/>
            </a:avLst>
          </a:prstGeom>
          <a:solidFill>
            <a:srgbClr val="F1F4F7"/>
          </a:solidFill>
          <a:ln w="12700">
            <a:solidFill>
              <a:srgbClr val="C9D1D9"/>
            </a:solidFill>
            <a:prstDash val="solid"/>
          </a:ln>
        </p:spPr>
      </p:sp>
      <p:sp>
        <p:nvSpPr>
          <p:cNvPr id="9" name="Text 7"/>
          <p:cNvSpPr txBox="1"/>
          <p:nvPr/>
        </p:nvSpPr>
        <p:spPr>
          <a:xfrm>
            <a:off x="7223760" y="155448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自治体</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手術・保護器・助言</a:t>
            </a:r>
            <a:endParaRPr lang="en-US" sz="1200" dirty="0"/>
          </a:p>
        </p:txBody>
      </p:sp>
      <p:sp>
        <p:nvSpPr>
          <p:cNvPr id="10" name="Shape 8"/>
          <p:cNvSpPr/>
          <p:nvPr/>
        </p:nvSpPr>
        <p:spPr>
          <a:xfrm>
            <a:off x="8778240" y="1554480"/>
            <a:ext cx="1371600" cy="777240"/>
          </a:xfrm>
          <a:prstGeom prst="roundRect">
            <a:avLst>
              <a:gd name="adj" fmla="val 7059"/>
            </a:avLst>
          </a:prstGeom>
          <a:solidFill>
            <a:srgbClr val="F1F4F7"/>
          </a:solidFill>
          <a:ln w="12700">
            <a:solidFill>
              <a:srgbClr val="C9D1D9"/>
            </a:solidFill>
            <a:prstDash val="solid"/>
          </a:ln>
        </p:spPr>
      </p:sp>
      <p:sp>
        <p:nvSpPr>
          <p:cNvPr id="11" name="Text 9"/>
          <p:cNvSpPr txBox="1"/>
          <p:nvPr/>
        </p:nvSpPr>
        <p:spPr>
          <a:xfrm>
            <a:off x="8778240" y="155448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基金</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チケット・規約</a:t>
            </a:r>
            <a:endParaRPr lang="en-US" sz="1200" dirty="0"/>
          </a:p>
        </p:txBody>
      </p:sp>
      <p:sp>
        <p:nvSpPr>
          <p:cNvPr id="12" name="Shape 10"/>
          <p:cNvSpPr/>
          <p:nvPr/>
        </p:nvSpPr>
        <p:spPr>
          <a:xfrm>
            <a:off x="10332720" y="1554480"/>
            <a:ext cx="1371600" cy="777240"/>
          </a:xfrm>
          <a:prstGeom prst="roundRect">
            <a:avLst>
              <a:gd name="adj" fmla="val 7059"/>
            </a:avLst>
          </a:prstGeom>
          <a:solidFill>
            <a:srgbClr val="F1F4F7"/>
          </a:solidFill>
          <a:ln w="12700">
            <a:solidFill>
              <a:srgbClr val="C9D1D9"/>
            </a:solidFill>
            <a:prstDash val="solid"/>
          </a:ln>
        </p:spPr>
      </p:sp>
      <p:sp>
        <p:nvSpPr>
          <p:cNvPr id="13" name="Text 11"/>
          <p:cNvSpPr txBox="1"/>
          <p:nvPr/>
        </p:nvSpPr>
        <p:spPr>
          <a:xfrm>
            <a:off x="10332720" y="155448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病院</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予約枠・持込日</a:t>
            </a:r>
            <a:endParaRPr lang="en-US" sz="1200" dirty="0"/>
          </a:p>
        </p:txBody>
      </p:sp>
      <p:sp>
        <p:nvSpPr>
          <p:cNvPr id="14" name="Shape 12"/>
          <p:cNvSpPr/>
          <p:nvPr/>
        </p:nvSpPr>
        <p:spPr>
          <a:xfrm>
            <a:off x="7909560" y="2377440"/>
            <a:ext cx="1325880" cy="1920240"/>
          </a:xfrm>
          <a:prstGeom prst="line">
            <a:avLst/>
          </a:prstGeom>
          <a:noFill/>
          <a:ln w="19050">
            <a:solidFill>
              <a:srgbClr val="1F2A37"/>
            </a:solidFill>
            <a:prstDash val="solid"/>
            <a:tailEnd type="triangle"/>
          </a:ln>
        </p:spPr>
      </p:sp>
      <p:sp>
        <p:nvSpPr>
          <p:cNvPr id="15" name="Shape 13"/>
          <p:cNvSpPr/>
          <p:nvPr/>
        </p:nvSpPr>
        <p:spPr>
          <a:xfrm>
            <a:off x="9464040" y="2377440"/>
            <a:ext cx="914" cy="1920240"/>
          </a:xfrm>
          <a:prstGeom prst="line">
            <a:avLst/>
          </a:prstGeom>
          <a:noFill/>
          <a:ln w="19050">
            <a:solidFill>
              <a:srgbClr val="1F2A37"/>
            </a:solidFill>
            <a:prstDash val="solid"/>
            <a:tailEnd type="triangle"/>
          </a:ln>
        </p:spPr>
      </p:sp>
      <p:sp>
        <p:nvSpPr>
          <p:cNvPr id="16" name="Shape 14"/>
          <p:cNvSpPr/>
          <p:nvPr/>
        </p:nvSpPr>
        <p:spPr>
          <a:xfrm flipH="1">
            <a:off x="9692640" y="2377440"/>
            <a:ext cx="1325880" cy="1920240"/>
          </a:xfrm>
          <a:prstGeom prst="line">
            <a:avLst/>
          </a:prstGeom>
          <a:noFill/>
          <a:ln w="19050">
            <a:solidFill>
              <a:srgbClr val="1F2A37"/>
            </a:solidFill>
            <a:prstDash val="solid"/>
            <a:tailEnd type="triangle"/>
          </a:ln>
        </p:spPr>
      </p:sp>
      <p:sp>
        <p:nvSpPr>
          <p:cNvPr id="17" name="Shape 15"/>
          <p:cNvSpPr/>
          <p:nvPr/>
        </p:nvSpPr>
        <p:spPr>
          <a:xfrm>
            <a:off x="8823960" y="4297680"/>
            <a:ext cx="1280160" cy="1280160"/>
          </a:xfrm>
          <a:prstGeom prst="ellipse">
            <a:avLst/>
          </a:prstGeom>
          <a:solidFill>
            <a:srgbClr val="B5442D"/>
          </a:solidFill>
          <a:ln w="12700">
            <a:solidFill>
              <a:srgbClr val="B5442D"/>
            </a:solidFill>
            <a:prstDash val="solid"/>
          </a:ln>
        </p:spPr>
      </p:sp>
      <p:sp>
        <p:nvSpPr>
          <p:cNvPr id="18" name="Text 16"/>
          <p:cNvSpPr txBox="1"/>
          <p:nvPr/>
        </p:nvSpPr>
        <p:spPr>
          <a:xfrm>
            <a:off x="8823960" y="4297680"/>
            <a:ext cx="1280160" cy="1280160"/>
          </a:xfrm>
          <a:prstGeom prst="rect">
            <a:avLst/>
          </a:prstGeom>
          <a:noFill/>
          <a:ln/>
        </p:spPr>
        <p:txBody>
          <a:bodyPr wrap="square" lIns="0" tIns="0" rIns="0" bIns="0" rtlCol="0" anchor="ctr"/>
          <a:lstStyle/>
          <a:p>
            <a:pPr algn="ctr" indent="0" marL="0">
              <a:lnSpc>
                <a:spcPct val="125000"/>
              </a:lnSpc>
              <a:buNone/>
            </a:pPr>
            <a:r>
              <a:rPr lang="en-US" sz="1600" dirty="0">
                <a:solidFill>
                  <a:srgbClr val="FFFFFF"/>
                </a:solidFill>
                <a:latin typeface="Meiryo" pitchFamily="34" charset="0"/>
                <a:ea typeface="Meiryo" pitchFamily="34" charset="-122"/>
                <a:cs typeface="Meiryo" pitchFamily="34" charset="-120"/>
              </a:rPr>
              <a:t>住民</a:t>
            </a:r>
            <a:endParaRPr lang="en-US" sz="1600" dirty="0"/>
          </a:p>
        </p:txBody>
      </p:sp>
      <p:sp>
        <p:nvSpPr>
          <p:cNvPr id="19" name="Text 17"/>
          <p:cNvSpPr txBox="1"/>
          <p:nvPr/>
        </p:nvSpPr>
        <p:spPr>
          <a:xfrm>
            <a:off x="7772400" y="5669280"/>
            <a:ext cx="3383280" cy="320040"/>
          </a:xfrm>
          <a:prstGeom prst="rect">
            <a:avLst/>
          </a:prstGeom>
          <a:noFill/>
          <a:ln/>
        </p:spPr>
        <p:txBody>
          <a:bodyPr wrap="square" lIns="0" tIns="0" rIns="0" bIns="0" rtlCol="0" anchor="t"/>
          <a:lstStyle/>
          <a:p>
            <a:pPr algn="ctr" indent="0" marL="0">
              <a:lnSpc>
                <a:spcPct val="125000"/>
              </a:lnSpc>
              <a:buNone/>
            </a:pPr>
            <a:r>
              <a:rPr lang="en-US" sz="1100" dirty="0">
                <a:solidFill>
                  <a:srgbClr val="5B6570"/>
                </a:solidFill>
                <a:latin typeface="Meiryo" pitchFamily="34" charset="0"/>
                <a:ea typeface="Meiryo" pitchFamily="34" charset="-122"/>
                <a:cs typeface="Meiryo" pitchFamily="34" charset="-120"/>
              </a:rPr>
              <a:t>無償のボランティア活動（少数・高齢化・後継者不在の課題）</a:t>
            </a:r>
            <a:endParaRPr lang="en-US" sz="1100" dirty="0"/>
          </a:p>
        </p:txBody>
      </p:sp>
      <p:sp>
        <p:nvSpPr>
          <p:cNvPr id="20" name="Text 18"/>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出典：福岡県「ペットや飼い主のいない猫の過剰繁殖等の対策について」県民モニター調査（N=349、2022年実施と推定）</a:t>
            </a:r>
            <a:endParaRPr lang="en-US" sz="800" dirty="0"/>
          </a:p>
        </p:txBody>
      </p:sp>
      <p:sp>
        <p:nvSpPr>
          <p:cNvPr id="21" name="Text 19"/>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1つのコロニーを収束させるために、ボランティア1人が担う11の工程（京都市の事例）</a:t>
            </a:r>
            <a:endParaRPr lang="en-US" sz="2400" dirty="0"/>
          </a:p>
        </p:txBody>
      </p:sp>
      <p:sp>
        <p:nvSpPr>
          <p:cNvPr id="3" name="Text 1"/>
          <p:cNvSpPr txBox="1"/>
          <p:nvPr/>
        </p:nvSpPr>
        <p:spPr>
          <a:xfrm>
            <a:off x="685800" y="1051560"/>
            <a:ext cx="10817352" cy="274320"/>
          </a:xfrm>
          <a:prstGeom prst="rect">
            <a:avLst/>
          </a:prstGeom>
          <a:noFill/>
          <a:ln/>
        </p:spPr>
        <p:txBody>
          <a:bodyPr wrap="square" lIns="0" tIns="0" rIns="0" bIns="0" rtlCol="0" anchor="t"/>
          <a:lstStyle/>
          <a:p>
            <a:pPr algn="l" indent="0" marL="0">
              <a:lnSpc>
                <a:spcPct val="125000"/>
              </a:lnSpc>
              <a:buNone/>
            </a:pPr>
            <a:r>
              <a:rPr lang="en-US" sz="1100" dirty="0">
                <a:solidFill>
                  <a:srgbClr val="5B6570"/>
                </a:solidFill>
                <a:latin typeface="Meiryo" pitchFamily="34" charset="0"/>
                <a:ea typeface="Meiryo" pitchFamily="34" charset="-122"/>
                <a:cs typeface="Meiryo" pitchFamily="34" charset="-120"/>
              </a:rPr>
              <a:t>京都市の場合。同意が取れた後から3年更新まで、11段。</a:t>
            </a:r>
            <a:endParaRPr lang="en-US" sz="1100" dirty="0"/>
          </a:p>
        </p:txBody>
      </p:sp>
      <p:sp>
        <p:nvSpPr>
          <p:cNvPr id="4" name="Shape 2"/>
          <p:cNvSpPr/>
          <p:nvPr/>
        </p:nvSpPr>
        <p:spPr>
          <a:xfrm>
            <a:off x="685800" y="1371600"/>
            <a:ext cx="1691640" cy="1463040"/>
          </a:xfrm>
          <a:prstGeom prst="roundRect">
            <a:avLst>
              <a:gd name="adj" fmla="val 5000"/>
            </a:avLst>
          </a:prstGeom>
          <a:solidFill>
            <a:srgbClr val="E4EEF9"/>
          </a:solidFill>
          <a:ln w="12700">
            <a:solidFill>
              <a:srgbClr val="E4EEF9"/>
            </a:solidFill>
            <a:prstDash val="solid"/>
          </a:ln>
        </p:spPr>
      </p:sp>
      <p:sp>
        <p:nvSpPr>
          <p:cNvPr id="5" name="Text 3"/>
          <p:cNvSpPr txBox="1"/>
          <p:nvPr/>
        </p:nvSpPr>
        <p:spPr>
          <a:xfrm>
            <a:off x="795528" y="14447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①</a:t>
            </a:r>
            <a:endParaRPr lang="en-US" sz="1600" dirty="0"/>
          </a:p>
        </p:txBody>
      </p:sp>
      <p:sp>
        <p:nvSpPr>
          <p:cNvPr id="6" name="Text 4"/>
          <p:cNvSpPr txBox="1"/>
          <p:nvPr/>
        </p:nvSpPr>
        <p:spPr>
          <a:xfrm>
            <a:off x="795528" y="17830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複雑な要綱を読み込み、自身に当てはまる条件を探す</a:t>
            </a:r>
            <a:endParaRPr lang="en-US" sz="1050" dirty="0"/>
          </a:p>
        </p:txBody>
      </p:sp>
      <p:sp>
        <p:nvSpPr>
          <p:cNvPr id="7" name="Shape 5"/>
          <p:cNvSpPr/>
          <p:nvPr/>
        </p:nvSpPr>
        <p:spPr>
          <a:xfrm>
            <a:off x="2496312" y="1371600"/>
            <a:ext cx="1691640" cy="1463040"/>
          </a:xfrm>
          <a:prstGeom prst="roundRect">
            <a:avLst>
              <a:gd name="adj" fmla="val 5000"/>
            </a:avLst>
          </a:prstGeom>
          <a:solidFill>
            <a:srgbClr val="FBE9E5"/>
          </a:solidFill>
          <a:ln w="12700">
            <a:solidFill>
              <a:srgbClr val="FBE9E5"/>
            </a:solidFill>
            <a:prstDash val="solid"/>
          </a:ln>
        </p:spPr>
      </p:sp>
      <p:sp>
        <p:nvSpPr>
          <p:cNvPr id="8" name="Text 6"/>
          <p:cNvSpPr txBox="1"/>
          <p:nvPr/>
        </p:nvSpPr>
        <p:spPr>
          <a:xfrm>
            <a:off x="2606040" y="14447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②</a:t>
            </a:r>
            <a:endParaRPr lang="en-US" sz="1600" dirty="0"/>
          </a:p>
        </p:txBody>
      </p:sp>
      <p:sp>
        <p:nvSpPr>
          <p:cNvPr id="9" name="Text 7"/>
          <p:cNvSpPr txBox="1"/>
          <p:nvPr/>
        </p:nvSpPr>
        <p:spPr>
          <a:xfrm>
            <a:off x="2606040" y="17830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同一世帯でない住民2人＋京都市民1人を集める</a:t>
            </a:r>
            <a:endParaRPr lang="en-US" sz="1050" dirty="0"/>
          </a:p>
        </p:txBody>
      </p:sp>
      <p:sp>
        <p:nvSpPr>
          <p:cNvPr id="10" name="Shape 8"/>
          <p:cNvSpPr/>
          <p:nvPr/>
        </p:nvSpPr>
        <p:spPr>
          <a:xfrm>
            <a:off x="4306824" y="1371600"/>
            <a:ext cx="1691640" cy="1463040"/>
          </a:xfrm>
          <a:prstGeom prst="roundRect">
            <a:avLst>
              <a:gd name="adj" fmla="val 5000"/>
            </a:avLst>
          </a:prstGeom>
          <a:solidFill>
            <a:srgbClr val="FBE9E5"/>
          </a:solidFill>
          <a:ln w="12700">
            <a:solidFill>
              <a:srgbClr val="FBE9E5"/>
            </a:solidFill>
            <a:prstDash val="solid"/>
          </a:ln>
        </p:spPr>
      </p:sp>
      <p:sp>
        <p:nvSpPr>
          <p:cNvPr id="11" name="Text 9"/>
          <p:cNvSpPr txBox="1"/>
          <p:nvPr/>
        </p:nvSpPr>
        <p:spPr>
          <a:xfrm>
            <a:off x="4416552" y="14447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③</a:t>
            </a:r>
            <a:endParaRPr lang="en-US" sz="1600" dirty="0"/>
          </a:p>
        </p:txBody>
      </p:sp>
      <p:sp>
        <p:nvSpPr>
          <p:cNvPr id="12" name="Text 10"/>
          <p:cNvSpPr txBox="1"/>
          <p:nvPr/>
        </p:nvSpPr>
        <p:spPr>
          <a:xfrm>
            <a:off x="4416552" y="17830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町内会に説明し日付を控える</a:t>
            </a:r>
            <a:endParaRPr lang="en-US" sz="1050" dirty="0"/>
          </a:p>
        </p:txBody>
      </p:sp>
      <p:sp>
        <p:nvSpPr>
          <p:cNvPr id="13" name="Shape 11"/>
          <p:cNvSpPr/>
          <p:nvPr/>
        </p:nvSpPr>
        <p:spPr>
          <a:xfrm>
            <a:off x="6117336" y="1371600"/>
            <a:ext cx="1691640" cy="1463040"/>
          </a:xfrm>
          <a:prstGeom prst="roundRect">
            <a:avLst>
              <a:gd name="adj" fmla="val 5000"/>
            </a:avLst>
          </a:prstGeom>
          <a:solidFill>
            <a:srgbClr val="E4EEF9"/>
          </a:solidFill>
          <a:ln w="12700">
            <a:solidFill>
              <a:srgbClr val="E4EEF9"/>
            </a:solidFill>
            <a:prstDash val="solid"/>
          </a:ln>
        </p:spPr>
      </p:sp>
      <p:sp>
        <p:nvSpPr>
          <p:cNvPr id="14" name="Text 12"/>
          <p:cNvSpPr txBox="1"/>
          <p:nvPr/>
        </p:nvSpPr>
        <p:spPr>
          <a:xfrm>
            <a:off x="6227064" y="14447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④</a:t>
            </a:r>
            <a:endParaRPr lang="en-US" sz="1600" dirty="0"/>
          </a:p>
        </p:txBody>
      </p:sp>
      <p:sp>
        <p:nvSpPr>
          <p:cNvPr id="15" name="Text 13"/>
          <p:cNvSpPr txBox="1"/>
          <p:nvPr/>
        </p:nvSpPr>
        <p:spPr>
          <a:xfrm>
            <a:off x="6227064" y="17830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第1号様式・第6号様式を手書き</a:t>
            </a:r>
            <a:endParaRPr lang="en-US" sz="1050" dirty="0"/>
          </a:p>
        </p:txBody>
      </p:sp>
      <p:sp>
        <p:nvSpPr>
          <p:cNvPr id="16" name="Shape 14"/>
          <p:cNvSpPr/>
          <p:nvPr/>
        </p:nvSpPr>
        <p:spPr>
          <a:xfrm>
            <a:off x="7927848" y="1371600"/>
            <a:ext cx="1691640" cy="1463040"/>
          </a:xfrm>
          <a:prstGeom prst="roundRect">
            <a:avLst>
              <a:gd name="adj" fmla="val 5000"/>
            </a:avLst>
          </a:prstGeom>
          <a:solidFill>
            <a:srgbClr val="F1F4F7"/>
          </a:solidFill>
          <a:ln w="12700">
            <a:solidFill>
              <a:srgbClr val="F1F4F7"/>
            </a:solidFill>
            <a:prstDash val="solid"/>
          </a:ln>
        </p:spPr>
      </p:sp>
      <p:sp>
        <p:nvSpPr>
          <p:cNvPr id="17" name="Text 15"/>
          <p:cNvSpPr txBox="1"/>
          <p:nvPr/>
        </p:nvSpPr>
        <p:spPr>
          <a:xfrm>
            <a:off x="8037576" y="14447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⑤</a:t>
            </a:r>
            <a:endParaRPr lang="en-US" sz="1600" dirty="0"/>
          </a:p>
        </p:txBody>
      </p:sp>
      <p:sp>
        <p:nvSpPr>
          <p:cNvPr id="18" name="Text 16"/>
          <p:cNvSpPr txBox="1"/>
          <p:nvPr/>
        </p:nvSpPr>
        <p:spPr>
          <a:xfrm>
            <a:off x="8037576" y="17830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周辺地図を描く</a:t>
            </a:r>
            <a:endParaRPr lang="en-US" sz="1050" dirty="0"/>
          </a:p>
        </p:txBody>
      </p:sp>
      <p:sp>
        <p:nvSpPr>
          <p:cNvPr id="19" name="Shape 17"/>
          <p:cNvSpPr/>
          <p:nvPr/>
        </p:nvSpPr>
        <p:spPr>
          <a:xfrm>
            <a:off x="9738360" y="1371600"/>
            <a:ext cx="1691640" cy="1463040"/>
          </a:xfrm>
          <a:prstGeom prst="roundRect">
            <a:avLst>
              <a:gd name="adj" fmla="val 5000"/>
            </a:avLst>
          </a:prstGeom>
          <a:solidFill>
            <a:srgbClr val="E4EEF9"/>
          </a:solidFill>
          <a:ln w="12700">
            <a:solidFill>
              <a:srgbClr val="E4EEF9"/>
            </a:solidFill>
            <a:prstDash val="solid"/>
          </a:ln>
        </p:spPr>
      </p:sp>
      <p:sp>
        <p:nvSpPr>
          <p:cNvPr id="20" name="Text 18"/>
          <p:cNvSpPr txBox="1"/>
          <p:nvPr/>
        </p:nvSpPr>
        <p:spPr>
          <a:xfrm>
            <a:off x="9848088" y="14447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⑥</a:t>
            </a:r>
            <a:endParaRPr lang="en-US" sz="1600" dirty="0"/>
          </a:p>
        </p:txBody>
      </p:sp>
      <p:sp>
        <p:nvSpPr>
          <p:cNvPr id="21" name="Text 19"/>
          <p:cNvSpPr txBox="1"/>
          <p:nvPr/>
        </p:nvSpPr>
        <p:spPr>
          <a:xfrm>
            <a:off x="9848088" y="17830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疑問点が生じるたび、平日にセンターへ電話で確認する</a:t>
            </a:r>
            <a:endParaRPr lang="en-US" sz="1050" dirty="0"/>
          </a:p>
        </p:txBody>
      </p:sp>
      <p:sp>
        <p:nvSpPr>
          <p:cNvPr id="22" name="Shape 20"/>
          <p:cNvSpPr/>
          <p:nvPr/>
        </p:nvSpPr>
        <p:spPr>
          <a:xfrm>
            <a:off x="685800" y="2971800"/>
            <a:ext cx="1691640" cy="1463040"/>
          </a:xfrm>
          <a:prstGeom prst="roundRect">
            <a:avLst>
              <a:gd name="adj" fmla="val 5000"/>
            </a:avLst>
          </a:prstGeom>
          <a:solidFill>
            <a:srgbClr val="E4EEF9"/>
          </a:solidFill>
          <a:ln w="12700">
            <a:solidFill>
              <a:srgbClr val="E4EEF9"/>
            </a:solidFill>
            <a:prstDash val="solid"/>
          </a:ln>
        </p:spPr>
      </p:sp>
      <p:sp>
        <p:nvSpPr>
          <p:cNvPr id="23" name="Text 21"/>
          <p:cNvSpPr txBox="1"/>
          <p:nvPr/>
        </p:nvSpPr>
        <p:spPr>
          <a:xfrm>
            <a:off x="795528" y="30449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⑦</a:t>
            </a:r>
            <a:endParaRPr lang="en-US" sz="1600" dirty="0"/>
          </a:p>
        </p:txBody>
      </p:sp>
      <p:sp>
        <p:nvSpPr>
          <p:cNvPr id="24" name="Text 22"/>
          <p:cNvSpPr txBox="1"/>
          <p:nvPr/>
        </p:nvSpPr>
        <p:spPr>
          <a:xfrm>
            <a:off x="795528" y="33832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申請受付日や有効期限を手作業で管理する</a:t>
            </a:r>
            <a:endParaRPr lang="en-US" sz="1050" dirty="0"/>
          </a:p>
        </p:txBody>
      </p:sp>
      <p:sp>
        <p:nvSpPr>
          <p:cNvPr id="25" name="Shape 23"/>
          <p:cNvSpPr/>
          <p:nvPr/>
        </p:nvSpPr>
        <p:spPr>
          <a:xfrm>
            <a:off x="2496312" y="2971800"/>
            <a:ext cx="1691640" cy="1463040"/>
          </a:xfrm>
          <a:prstGeom prst="roundRect">
            <a:avLst>
              <a:gd name="adj" fmla="val 5000"/>
            </a:avLst>
          </a:prstGeom>
          <a:solidFill>
            <a:srgbClr val="FBE9E5"/>
          </a:solidFill>
          <a:ln w="12700">
            <a:solidFill>
              <a:srgbClr val="FBE9E5"/>
            </a:solidFill>
            <a:prstDash val="solid"/>
          </a:ln>
        </p:spPr>
      </p:sp>
      <p:sp>
        <p:nvSpPr>
          <p:cNvPr id="26" name="Text 24"/>
          <p:cNvSpPr txBox="1"/>
          <p:nvPr/>
        </p:nvSpPr>
        <p:spPr>
          <a:xfrm>
            <a:off x="2606040" y="30449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⑧</a:t>
            </a:r>
            <a:endParaRPr lang="en-US" sz="1600" dirty="0"/>
          </a:p>
        </p:txBody>
      </p:sp>
      <p:sp>
        <p:nvSpPr>
          <p:cNvPr id="27" name="Text 25"/>
          <p:cNvSpPr txBox="1"/>
          <p:nvPr/>
        </p:nvSpPr>
        <p:spPr>
          <a:xfrm>
            <a:off x="2606040" y="33832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第4号様式、保護器を借りて捕獲、持込</a:t>
            </a:r>
            <a:endParaRPr lang="en-US" sz="1050" dirty="0"/>
          </a:p>
        </p:txBody>
      </p:sp>
      <p:sp>
        <p:nvSpPr>
          <p:cNvPr id="28" name="Shape 26"/>
          <p:cNvSpPr/>
          <p:nvPr/>
        </p:nvSpPr>
        <p:spPr>
          <a:xfrm>
            <a:off x="4306824" y="2971800"/>
            <a:ext cx="1691640" cy="1463040"/>
          </a:xfrm>
          <a:prstGeom prst="roundRect">
            <a:avLst>
              <a:gd name="adj" fmla="val 5000"/>
            </a:avLst>
          </a:prstGeom>
          <a:solidFill>
            <a:srgbClr val="E4EEF9"/>
          </a:solidFill>
          <a:ln w="12700">
            <a:solidFill>
              <a:srgbClr val="E4EEF9"/>
            </a:solidFill>
            <a:prstDash val="solid"/>
          </a:ln>
        </p:spPr>
      </p:sp>
      <p:sp>
        <p:nvSpPr>
          <p:cNvPr id="29" name="Text 27"/>
          <p:cNvSpPr txBox="1"/>
          <p:nvPr/>
        </p:nvSpPr>
        <p:spPr>
          <a:xfrm>
            <a:off x="4416552" y="30449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⑨</a:t>
            </a:r>
            <a:endParaRPr lang="en-US" sz="1600" dirty="0"/>
          </a:p>
        </p:txBody>
      </p:sp>
      <p:sp>
        <p:nvSpPr>
          <p:cNvPr id="30" name="Text 28"/>
          <p:cNvSpPr txBox="1"/>
          <p:nvPr/>
        </p:nvSpPr>
        <p:spPr>
          <a:xfrm>
            <a:off x="4416552" y="33832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1年後に第5号様式を登録日と同月日から30日以内</a:t>
            </a:r>
            <a:endParaRPr lang="en-US" sz="1050" dirty="0"/>
          </a:p>
        </p:txBody>
      </p:sp>
      <p:sp>
        <p:nvSpPr>
          <p:cNvPr id="31" name="Shape 29"/>
          <p:cNvSpPr/>
          <p:nvPr/>
        </p:nvSpPr>
        <p:spPr>
          <a:xfrm>
            <a:off x="6117336" y="2971800"/>
            <a:ext cx="1691640" cy="1463040"/>
          </a:xfrm>
          <a:prstGeom prst="roundRect">
            <a:avLst>
              <a:gd name="adj" fmla="val 5000"/>
            </a:avLst>
          </a:prstGeom>
          <a:solidFill>
            <a:srgbClr val="E4EEF9"/>
          </a:solidFill>
          <a:ln w="12700">
            <a:solidFill>
              <a:srgbClr val="E4EEF9"/>
            </a:solidFill>
            <a:prstDash val="solid"/>
          </a:ln>
        </p:spPr>
      </p:sp>
      <p:sp>
        <p:nvSpPr>
          <p:cNvPr id="32" name="Text 30"/>
          <p:cNvSpPr txBox="1"/>
          <p:nvPr/>
        </p:nvSpPr>
        <p:spPr>
          <a:xfrm>
            <a:off x="6227064" y="30449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⑩</a:t>
            </a:r>
            <a:endParaRPr lang="en-US" sz="1600" dirty="0"/>
          </a:p>
        </p:txBody>
      </p:sp>
      <p:sp>
        <p:nvSpPr>
          <p:cNvPr id="33" name="Text 31"/>
          <p:cNvSpPr txBox="1"/>
          <p:nvPr/>
        </p:nvSpPr>
        <p:spPr>
          <a:xfrm>
            <a:off x="6227064" y="33832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3年後に第2号様式を満了30日前から</a:t>
            </a:r>
            <a:endParaRPr lang="en-US" sz="1050" dirty="0"/>
          </a:p>
        </p:txBody>
      </p:sp>
      <p:sp>
        <p:nvSpPr>
          <p:cNvPr id="34" name="Shape 32"/>
          <p:cNvSpPr/>
          <p:nvPr/>
        </p:nvSpPr>
        <p:spPr>
          <a:xfrm>
            <a:off x="7927848" y="2971800"/>
            <a:ext cx="1691640" cy="1463040"/>
          </a:xfrm>
          <a:prstGeom prst="roundRect">
            <a:avLst>
              <a:gd name="adj" fmla="val 5000"/>
            </a:avLst>
          </a:prstGeom>
          <a:solidFill>
            <a:srgbClr val="E4EEF9"/>
          </a:solidFill>
          <a:ln w="12700">
            <a:solidFill>
              <a:srgbClr val="E4EEF9"/>
            </a:solidFill>
            <a:prstDash val="solid"/>
          </a:ln>
        </p:spPr>
      </p:sp>
      <p:sp>
        <p:nvSpPr>
          <p:cNvPr id="35" name="Text 33"/>
          <p:cNvSpPr txBox="1"/>
          <p:nvPr/>
        </p:nvSpPr>
        <p:spPr>
          <a:xfrm>
            <a:off x="8037576" y="3044952"/>
            <a:ext cx="1463040" cy="320040"/>
          </a:xfrm>
          <a:prstGeom prst="rect">
            <a:avLst/>
          </a:prstGeom>
          <a:noFill/>
          <a:ln/>
        </p:spPr>
        <p:txBody>
          <a:bodyPr wrap="square" lIns="0" tIns="0" rIns="0" bIns="0" rtlCol="0" anchor="t"/>
          <a:lstStyle/>
          <a:p>
            <a:pPr algn="l" indent="0" marL="0">
              <a:lnSpc>
                <a:spcPct val="125000"/>
              </a:lnSpc>
              <a:buNone/>
            </a:pPr>
            <a:r>
              <a:rPr lang="en-US" sz="1600" b="1" dirty="0">
                <a:solidFill>
                  <a:srgbClr val="B5442D"/>
                </a:solidFill>
                <a:latin typeface="Meiryo" pitchFamily="34" charset="0"/>
                <a:ea typeface="Meiryo" pitchFamily="34" charset="-122"/>
                <a:cs typeface="Meiryo" pitchFamily="34" charset="-120"/>
              </a:rPr>
              <a:t>⑪</a:t>
            </a:r>
            <a:endParaRPr lang="en-US" sz="1600" dirty="0"/>
          </a:p>
        </p:txBody>
      </p:sp>
      <p:sp>
        <p:nvSpPr>
          <p:cNvPr id="36" name="Text 34"/>
          <p:cNvSpPr txBox="1"/>
          <p:nvPr/>
        </p:nvSpPr>
        <p:spPr>
          <a:xfrm>
            <a:off x="8037576" y="3383280"/>
            <a:ext cx="1481328" cy="10058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自身の体調不良や離脱に備えた活動情報の引き継ぎ</a:t>
            </a:r>
            <a:endParaRPr lang="en-US" sz="1050" dirty="0"/>
          </a:p>
        </p:txBody>
      </p:sp>
      <p:sp>
        <p:nvSpPr>
          <p:cNvPr id="37" name="Text 35"/>
          <p:cNvSpPr txBox="1"/>
          <p:nvPr/>
        </p:nvSpPr>
        <p:spPr>
          <a:xfrm>
            <a:off x="685800" y="4754880"/>
            <a:ext cx="10817352" cy="36576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 青 </a:t>
            </a:r>
            <a:pPr indent="0" marL="0">
              <a:buNone/>
            </a:pPr>
            <a:r>
              <a:rPr lang="en-US" sz="1100" dirty="0">
                <a:solidFill>
                  <a:srgbClr val="5B6570"/>
                </a:solidFill>
                <a:latin typeface="Meiryo" pitchFamily="34" charset="0"/>
                <a:ea typeface="Meiryo" pitchFamily="34" charset="-122"/>
                <a:cs typeface="Meiryo" pitchFamily="34" charset="-120"/>
              </a:rPr>
              <a:t>  要綱と期日管理に関わる事務（本システムによる代替対象）    </a:t>
            </a:r>
            <a:pPr indent="0" marL="0">
              <a:buNone/>
            </a:pPr>
            <a:r>
              <a:rPr lang="en-US" sz="900" b="1" dirty="0">
                <a:solidFill>
                  <a:srgbClr val="FFFFFF"/>
                </a:solidFill>
                <a:latin typeface="Meiryo" pitchFamily="34" charset="0"/>
                <a:ea typeface="Meiryo" pitchFamily="34" charset="-122"/>
                <a:cs typeface="Meiryo" pitchFamily="34" charset="-120"/>
              </a:rPr>
              <a:t> 赤 </a:t>
            </a:r>
            <a:pPr indent="0" marL="0">
              <a:buNone/>
            </a:pPr>
            <a:r>
              <a:rPr lang="en-US" sz="1100" dirty="0">
                <a:solidFill>
                  <a:srgbClr val="5B6570"/>
                </a:solidFill>
                <a:latin typeface="Meiryo" pitchFamily="34" charset="0"/>
                <a:ea typeface="Meiryo" pitchFamily="34" charset="-122"/>
                <a:cs typeface="Meiryo" pitchFamily="34" charset="-120"/>
              </a:rPr>
              <a:t>  対人調整・現場作業（人集め・説明・捕獲）    </a:t>
            </a:r>
            <a:pPr indent="0" marL="0">
              <a:buNone/>
            </a:pPr>
            <a:r>
              <a:rPr lang="en-US" sz="900" b="1" dirty="0">
                <a:solidFill>
                  <a:srgbClr val="FFFFFF"/>
                </a:solidFill>
                <a:latin typeface="Meiryo" pitchFamily="34" charset="0"/>
                <a:ea typeface="Meiryo" pitchFamily="34" charset="-122"/>
                <a:cs typeface="Meiryo" pitchFamily="34" charset="-120"/>
              </a:rPr>
              <a:t> 灰 </a:t>
            </a:r>
            <a:pPr indent="0" marL="0">
              <a:buNone/>
            </a:pPr>
            <a:r>
              <a:rPr lang="en-US" sz="1100" dirty="0">
                <a:solidFill>
                  <a:srgbClr val="5B6570"/>
                </a:solidFill>
                <a:latin typeface="Meiryo" pitchFamily="34" charset="0"/>
                <a:ea typeface="Meiryo" pitchFamily="34" charset="-122"/>
                <a:cs typeface="Meiryo" pitchFamily="34" charset="-120"/>
              </a:rPr>
              <a:t>  その他</a:t>
            </a:r>
            <a:endParaRPr lang="en-US" sz="900" dirty="0"/>
          </a:p>
        </p:txBody>
      </p:sp>
      <p:sp>
        <p:nvSpPr>
          <p:cNvPr id="38" name="Text 3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出典：京都市まちねこ活動支援要綱（第2条・第5条・第6条・第9条・第12条）</a:t>
            </a:r>
            <a:endParaRPr lang="en-US" sz="800" dirty="0"/>
          </a:p>
        </p:txBody>
      </p:sp>
      <p:sp>
        <p:nvSpPr>
          <p:cNvPr id="39" name="Text 3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事務手続きの停滞が、繁殖の連鎖に直結する</a:t>
            </a:r>
            <a:endParaRPr lang="en-US" sz="2400" dirty="0"/>
          </a:p>
        </p:txBody>
      </p:sp>
      <p:sp>
        <p:nvSpPr>
          <p:cNvPr id="3" name="Text 1"/>
          <p:cNvSpPr txBox="1"/>
          <p:nvPr/>
        </p:nvSpPr>
        <p:spPr>
          <a:xfrm>
            <a:off x="685800" y="1371600"/>
            <a:ext cx="5303520" cy="32918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1F2A37"/>
                </a:solidFill>
                <a:latin typeface="Meiryo" pitchFamily="34" charset="0"/>
                <a:ea typeface="Meiryo" pitchFamily="34" charset="-122"/>
                <a:cs typeface="Meiryo" pitchFamily="34" charset="-120"/>
              </a:rPr>
              <a:t>受付を1回逃す → 手術が1か月遅延 → 次の出産期（年2〜3回、一度に4〜6頭）が到来</a:t>
            </a:r>
            <a:endParaRPr lang="en-US" sz="1150" dirty="0"/>
          </a:p>
          <a:p>
            <a:pPr marL="342900" indent="-342900">
              <a:lnSpc>
                <a:spcPct val="120000"/>
              </a:lnSpc>
              <a:spcAft>
                <a:spcPts val="800"/>
              </a:spcAft>
              <a:buSzPct val="100000"/>
              <a:buChar char="•"/>
            </a:pPr>
            <a:r>
              <a:rPr lang="en-US" sz="1150" dirty="0">
                <a:solidFill>
                  <a:srgbClr val="1F2A37"/>
                </a:solidFill>
                <a:latin typeface="Meiryo" pitchFamily="34" charset="0"/>
                <a:ea typeface="Meiryo" pitchFamily="34" charset="-122"/>
                <a:cs typeface="Meiryo" pitchFamily="34" charset="-120"/>
              </a:rPr>
              <a:t>制度を知らず自腹で手術：活動しているのに支援制度を知らない 10.0% ＞ 知っている 8.6%</a:t>
            </a:r>
            <a:endParaRPr lang="en-US" sz="1150" dirty="0"/>
          </a:p>
          <a:p>
            <a:pPr marL="342900" indent="-342900">
              <a:lnSpc>
                <a:spcPct val="120000"/>
              </a:lnSpc>
              <a:spcAft>
                <a:spcPts val="800"/>
              </a:spcAft>
              <a:buSzPct val="100000"/>
              <a:buChar char="•"/>
            </a:pPr>
            <a:r>
              <a:rPr lang="en-US" sz="1150" dirty="0">
                <a:solidFill>
                  <a:srgbClr val="1F2A37"/>
                </a:solidFill>
                <a:latin typeface="Meiryo" pitchFamily="34" charset="0"/>
                <a:ea typeface="Meiryo" pitchFamily="34" charset="-122"/>
                <a:cs typeface="Meiryo" pitchFamily="34" charset="-120"/>
              </a:rPr>
              <a:t>定期報告の失念 → 要綱第7条3項に基づき職権で登録抹消</a:t>
            </a:r>
            <a:endParaRPr lang="en-US" sz="1150" dirty="0"/>
          </a:p>
          <a:p>
            <a:pPr marL="342900" indent="-342900">
              <a:lnSpc>
                <a:spcPct val="120000"/>
              </a:lnSpc>
              <a:spcAft>
                <a:spcPts val="800"/>
              </a:spcAft>
              <a:buSzPct val="100000"/>
              <a:buChar char="•"/>
            </a:pPr>
            <a:r>
              <a:rPr lang="en-US" sz="1150" dirty="0">
                <a:solidFill>
                  <a:srgbClr val="1F2A37"/>
                </a:solidFill>
                <a:latin typeface="Meiryo" pitchFamily="34" charset="0"/>
                <a:ea typeface="Meiryo" pitchFamily="34" charset="-122"/>
                <a:cs typeface="Meiryo" pitchFamily="34" charset="-120"/>
              </a:rPr>
              <a:t>担い手の離脱 → 手術履歴や給餌場所などの活動情報が完全に喪失</a:t>
            </a:r>
            <a:endParaRPr lang="en-US" sz="1150" dirty="0"/>
          </a:p>
          <a:p>
            <a:pPr marL="342900" indent="-342900">
              <a:lnSpc>
                <a:spcPct val="120000"/>
              </a:lnSpc>
              <a:spcAft>
                <a:spcPts val="800"/>
              </a:spcAft>
              <a:buSzPct val="100000"/>
              <a:buChar char="•"/>
            </a:pPr>
            <a:r>
              <a:rPr lang="en-US" sz="1150" dirty="0">
                <a:solidFill>
                  <a:srgbClr val="1F2A37"/>
                </a:solidFill>
                <a:latin typeface="Meiryo" pitchFamily="34" charset="0"/>
                <a:ea typeface="Meiryo" pitchFamily="34" charset="-122"/>
                <a:cs typeface="Meiryo" pitchFamily="34" charset="-120"/>
              </a:rPr>
              <a:t>効くと分かっている（京都市：収容44%減、路上死亡28%減、手術94→1,612頭）のに、活動中の地域数は3年横ばい</a:t>
            </a:r>
            <a:endParaRPr lang="en-US" sz="1150" dirty="0"/>
          </a:p>
        </p:txBody>
      </p:sp>
      <p:sp>
        <p:nvSpPr>
          <p:cNvPr id="4" name="Shape 2"/>
          <p:cNvSpPr/>
          <p:nvPr/>
        </p:nvSpPr>
        <p:spPr>
          <a:xfrm>
            <a:off x="685800" y="4800600"/>
            <a:ext cx="5303520" cy="914400"/>
          </a:xfrm>
          <a:prstGeom prst="roundRect">
            <a:avLst>
              <a:gd name="adj" fmla="val 8000"/>
            </a:avLst>
          </a:prstGeom>
          <a:solidFill>
            <a:srgbClr val="F1F4F7"/>
          </a:solidFill>
          <a:ln w="12700">
            <a:solidFill>
              <a:srgbClr val="F1F4F7"/>
            </a:solidFill>
            <a:prstDash val="solid"/>
          </a:ln>
        </p:spPr>
      </p:sp>
      <p:sp>
        <p:nvSpPr>
          <p:cNvPr id="5" name="Text 3"/>
          <p:cNvSpPr txBox="1"/>
          <p:nvPr/>
        </p:nvSpPr>
        <p:spPr>
          <a:xfrm>
            <a:off x="868680" y="4873752"/>
            <a:ext cx="4937760" cy="77724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「いつ妊娠するか分からないので受付期間を限定しないでほしい」（40代女性）</a:t>
            </a:r>
            <a:endParaRPr lang="en-US" sz="1150" dirty="0"/>
          </a:p>
        </p:txBody>
      </p:sp>
      <p:sp>
        <p:nvSpPr>
          <p:cNvPr id="6" name="Text 4"/>
          <p:cNvSpPr txBox="1"/>
          <p:nvPr/>
        </p:nvSpPr>
        <p:spPr>
          <a:xfrm>
            <a:off x="6400800" y="1783080"/>
            <a:ext cx="5120640" cy="274320"/>
          </a:xfrm>
          <a:prstGeom prst="rect">
            <a:avLst/>
          </a:prstGeom>
          <a:noFill/>
          <a:ln/>
        </p:spPr>
        <p:txBody>
          <a:bodyPr wrap="square" lIns="0" tIns="0" rIns="0" bIns="0" rtlCol="0" anchor="t"/>
          <a:lstStyle/>
          <a:p>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 基金型自治体の受付窓（月1回・数日）→ 使えるのは翌月</a:t>
            </a:r>
            <a:endParaRPr lang="en-US" sz="1100" dirty="0"/>
          </a:p>
        </p:txBody>
      </p:sp>
      <p:sp>
        <p:nvSpPr>
          <p:cNvPr id="7" name="Shape 5"/>
          <p:cNvSpPr/>
          <p:nvPr/>
        </p:nvSpPr>
        <p:spPr>
          <a:xfrm>
            <a:off x="6400800" y="2468880"/>
            <a:ext cx="5120640" cy="0"/>
          </a:xfrm>
          <a:prstGeom prst="line">
            <a:avLst/>
          </a:prstGeom>
          <a:noFill/>
          <a:ln w="25400">
            <a:solidFill>
              <a:srgbClr val="C9D1D9"/>
            </a:solidFill>
            <a:prstDash val="solid"/>
          </a:ln>
        </p:spPr>
      </p:sp>
      <p:sp>
        <p:nvSpPr>
          <p:cNvPr id="8" name="Shape 6"/>
          <p:cNvSpPr/>
          <p:nvPr/>
        </p:nvSpPr>
        <p:spPr>
          <a:xfrm>
            <a:off x="6400800" y="2331720"/>
            <a:ext cx="64008" cy="274320"/>
          </a:xfrm>
          <a:prstGeom prst="rect">
            <a:avLst/>
          </a:prstGeom>
          <a:solidFill>
            <a:srgbClr val="1F2A37"/>
          </a:solidFill>
          <a:ln w="12700">
            <a:solidFill>
              <a:srgbClr val="1F2A37"/>
            </a:solidFill>
            <a:prstDash val="solid"/>
          </a:ln>
        </p:spPr>
      </p:sp>
      <p:sp>
        <p:nvSpPr>
          <p:cNvPr id="9" name="Shape 7"/>
          <p:cNvSpPr/>
          <p:nvPr/>
        </p:nvSpPr>
        <p:spPr>
          <a:xfrm>
            <a:off x="6827520" y="2331720"/>
            <a:ext cx="64008" cy="274320"/>
          </a:xfrm>
          <a:prstGeom prst="rect">
            <a:avLst/>
          </a:prstGeom>
          <a:solidFill>
            <a:srgbClr val="1F2A37"/>
          </a:solidFill>
          <a:ln w="12700">
            <a:solidFill>
              <a:srgbClr val="1F2A37"/>
            </a:solidFill>
            <a:prstDash val="solid"/>
          </a:ln>
        </p:spPr>
      </p:sp>
      <p:sp>
        <p:nvSpPr>
          <p:cNvPr id="10" name="Shape 8"/>
          <p:cNvSpPr/>
          <p:nvPr/>
        </p:nvSpPr>
        <p:spPr>
          <a:xfrm>
            <a:off x="7254240" y="2331720"/>
            <a:ext cx="64008" cy="274320"/>
          </a:xfrm>
          <a:prstGeom prst="rect">
            <a:avLst/>
          </a:prstGeom>
          <a:solidFill>
            <a:srgbClr val="1F2A37"/>
          </a:solidFill>
          <a:ln w="12700">
            <a:solidFill>
              <a:srgbClr val="1F2A37"/>
            </a:solidFill>
            <a:prstDash val="solid"/>
          </a:ln>
        </p:spPr>
      </p:sp>
      <p:sp>
        <p:nvSpPr>
          <p:cNvPr id="11" name="Shape 9"/>
          <p:cNvSpPr/>
          <p:nvPr/>
        </p:nvSpPr>
        <p:spPr>
          <a:xfrm>
            <a:off x="7680960" y="2331720"/>
            <a:ext cx="64008" cy="274320"/>
          </a:xfrm>
          <a:prstGeom prst="rect">
            <a:avLst/>
          </a:prstGeom>
          <a:solidFill>
            <a:srgbClr val="1F2A37"/>
          </a:solidFill>
          <a:ln w="12700">
            <a:solidFill>
              <a:srgbClr val="1F2A37"/>
            </a:solidFill>
            <a:prstDash val="solid"/>
          </a:ln>
        </p:spPr>
      </p:sp>
      <p:sp>
        <p:nvSpPr>
          <p:cNvPr id="12" name="Shape 10"/>
          <p:cNvSpPr/>
          <p:nvPr/>
        </p:nvSpPr>
        <p:spPr>
          <a:xfrm>
            <a:off x="8107680" y="2331720"/>
            <a:ext cx="64008" cy="274320"/>
          </a:xfrm>
          <a:prstGeom prst="rect">
            <a:avLst/>
          </a:prstGeom>
          <a:solidFill>
            <a:srgbClr val="1F2A37"/>
          </a:solidFill>
          <a:ln w="12700">
            <a:solidFill>
              <a:srgbClr val="1F2A37"/>
            </a:solidFill>
            <a:prstDash val="solid"/>
          </a:ln>
        </p:spPr>
      </p:sp>
      <p:sp>
        <p:nvSpPr>
          <p:cNvPr id="13" name="Shape 11"/>
          <p:cNvSpPr/>
          <p:nvPr/>
        </p:nvSpPr>
        <p:spPr>
          <a:xfrm>
            <a:off x="8534400" y="2331720"/>
            <a:ext cx="64008" cy="274320"/>
          </a:xfrm>
          <a:prstGeom prst="rect">
            <a:avLst/>
          </a:prstGeom>
          <a:solidFill>
            <a:srgbClr val="1F2A37"/>
          </a:solidFill>
          <a:ln w="12700">
            <a:solidFill>
              <a:srgbClr val="1F2A37"/>
            </a:solidFill>
            <a:prstDash val="solid"/>
          </a:ln>
        </p:spPr>
      </p:sp>
      <p:sp>
        <p:nvSpPr>
          <p:cNvPr id="14" name="Shape 12"/>
          <p:cNvSpPr/>
          <p:nvPr/>
        </p:nvSpPr>
        <p:spPr>
          <a:xfrm>
            <a:off x="8961120" y="2331720"/>
            <a:ext cx="64008" cy="274320"/>
          </a:xfrm>
          <a:prstGeom prst="rect">
            <a:avLst/>
          </a:prstGeom>
          <a:solidFill>
            <a:srgbClr val="1F2A37"/>
          </a:solidFill>
          <a:ln w="12700">
            <a:solidFill>
              <a:srgbClr val="1F2A37"/>
            </a:solidFill>
            <a:prstDash val="solid"/>
          </a:ln>
        </p:spPr>
      </p:sp>
      <p:sp>
        <p:nvSpPr>
          <p:cNvPr id="15" name="Shape 13"/>
          <p:cNvSpPr/>
          <p:nvPr/>
        </p:nvSpPr>
        <p:spPr>
          <a:xfrm>
            <a:off x="9387840" y="2331720"/>
            <a:ext cx="64008" cy="274320"/>
          </a:xfrm>
          <a:prstGeom prst="rect">
            <a:avLst/>
          </a:prstGeom>
          <a:solidFill>
            <a:srgbClr val="1F2A37"/>
          </a:solidFill>
          <a:ln w="12700">
            <a:solidFill>
              <a:srgbClr val="1F2A37"/>
            </a:solidFill>
            <a:prstDash val="solid"/>
          </a:ln>
        </p:spPr>
      </p:sp>
      <p:sp>
        <p:nvSpPr>
          <p:cNvPr id="16" name="Shape 14"/>
          <p:cNvSpPr/>
          <p:nvPr/>
        </p:nvSpPr>
        <p:spPr>
          <a:xfrm>
            <a:off x="9814560" y="2331720"/>
            <a:ext cx="64008" cy="274320"/>
          </a:xfrm>
          <a:prstGeom prst="rect">
            <a:avLst/>
          </a:prstGeom>
          <a:solidFill>
            <a:srgbClr val="1F2A37"/>
          </a:solidFill>
          <a:ln w="12700">
            <a:solidFill>
              <a:srgbClr val="1F2A37"/>
            </a:solidFill>
            <a:prstDash val="solid"/>
          </a:ln>
        </p:spPr>
      </p:sp>
      <p:sp>
        <p:nvSpPr>
          <p:cNvPr id="17" name="Shape 15"/>
          <p:cNvSpPr/>
          <p:nvPr/>
        </p:nvSpPr>
        <p:spPr>
          <a:xfrm>
            <a:off x="10241280" y="2331720"/>
            <a:ext cx="64008" cy="274320"/>
          </a:xfrm>
          <a:prstGeom prst="rect">
            <a:avLst/>
          </a:prstGeom>
          <a:solidFill>
            <a:srgbClr val="1F2A37"/>
          </a:solidFill>
          <a:ln w="12700">
            <a:solidFill>
              <a:srgbClr val="1F2A37"/>
            </a:solidFill>
            <a:prstDash val="solid"/>
          </a:ln>
        </p:spPr>
      </p:sp>
      <p:sp>
        <p:nvSpPr>
          <p:cNvPr id="18" name="Shape 16"/>
          <p:cNvSpPr/>
          <p:nvPr/>
        </p:nvSpPr>
        <p:spPr>
          <a:xfrm>
            <a:off x="10668000" y="2331720"/>
            <a:ext cx="64008" cy="274320"/>
          </a:xfrm>
          <a:prstGeom prst="rect">
            <a:avLst/>
          </a:prstGeom>
          <a:solidFill>
            <a:srgbClr val="1F2A37"/>
          </a:solidFill>
          <a:ln w="12700">
            <a:solidFill>
              <a:srgbClr val="1F2A37"/>
            </a:solidFill>
            <a:prstDash val="solid"/>
          </a:ln>
        </p:spPr>
      </p:sp>
      <p:sp>
        <p:nvSpPr>
          <p:cNvPr id="19" name="Shape 17"/>
          <p:cNvSpPr/>
          <p:nvPr/>
        </p:nvSpPr>
        <p:spPr>
          <a:xfrm>
            <a:off x="11094720" y="2331720"/>
            <a:ext cx="64008" cy="274320"/>
          </a:xfrm>
          <a:prstGeom prst="rect">
            <a:avLst/>
          </a:prstGeom>
          <a:solidFill>
            <a:srgbClr val="1F2A37"/>
          </a:solidFill>
          <a:ln w="12700">
            <a:solidFill>
              <a:srgbClr val="1F2A37"/>
            </a:solidFill>
            <a:prstDash val="solid"/>
          </a:ln>
        </p:spPr>
      </p:sp>
      <p:sp>
        <p:nvSpPr>
          <p:cNvPr id="20" name="Text 18"/>
          <p:cNvSpPr txBox="1"/>
          <p:nvPr/>
        </p:nvSpPr>
        <p:spPr>
          <a:xfrm>
            <a:off x="617220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4月</a:t>
            </a:r>
            <a:endParaRPr lang="en-US" sz="1000" dirty="0"/>
          </a:p>
        </p:txBody>
      </p:sp>
      <p:sp>
        <p:nvSpPr>
          <p:cNvPr id="21" name="Text 19"/>
          <p:cNvSpPr txBox="1"/>
          <p:nvPr/>
        </p:nvSpPr>
        <p:spPr>
          <a:xfrm>
            <a:off x="745236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7月</a:t>
            </a:r>
            <a:endParaRPr lang="en-US" sz="1000" dirty="0"/>
          </a:p>
        </p:txBody>
      </p:sp>
      <p:sp>
        <p:nvSpPr>
          <p:cNvPr id="22" name="Text 20"/>
          <p:cNvSpPr txBox="1"/>
          <p:nvPr/>
        </p:nvSpPr>
        <p:spPr>
          <a:xfrm>
            <a:off x="873252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10月</a:t>
            </a:r>
            <a:endParaRPr lang="en-US" sz="1000" dirty="0"/>
          </a:p>
        </p:txBody>
      </p:sp>
      <p:sp>
        <p:nvSpPr>
          <p:cNvPr id="23" name="Text 21"/>
          <p:cNvSpPr txBox="1"/>
          <p:nvPr/>
        </p:nvSpPr>
        <p:spPr>
          <a:xfrm>
            <a:off x="1001268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1月</a:t>
            </a:r>
            <a:endParaRPr lang="en-US" sz="1000" dirty="0"/>
          </a:p>
        </p:txBody>
      </p:sp>
      <p:sp>
        <p:nvSpPr>
          <p:cNvPr id="24" name="Text 22"/>
          <p:cNvSpPr txBox="1"/>
          <p:nvPr/>
        </p:nvSpPr>
        <p:spPr>
          <a:xfrm>
            <a:off x="1129284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4月</a:t>
            </a:r>
            <a:endParaRPr lang="en-US" sz="1000" dirty="0"/>
          </a:p>
        </p:txBody>
      </p:sp>
      <p:sp>
        <p:nvSpPr>
          <p:cNvPr id="25" name="Shape 23"/>
          <p:cNvSpPr/>
          <p:nvPr/>
        </p:nvSpPr>
        <p:spPr>
          <a:xfrm>
            <a:off x="6965899" y="3200400"/>
            <a:ext cx="201168" cy="201168"/>
          </a:xfrm>
          <a:prstGeom prst="ellipse">
            <a:avLst/>
          </a:prstGeom>
          <a:solidFill>
            <a:srgbClr val="B5442D"/>
          </a:solidFill>
          <a:ln w="12700">
            <a:solidFill>
              <a:srgbClr val="B5442D"/>
            </a:solidFill>
            <a:prstDash val="solid"/>
          </a:ln>
        </p:spPr>
      </p:sp>
      <p:sp>
        <p:nvSpPr>
          <p:cNvPr id="26" name="Shape 24"/>
          <p:cNvSpPr/>
          <p:nvPr/>
        </p:nvSpPr>
        <p:spPr>
          <a:xfrm>
            <a:off x="8860536" y="3200400"/>
            <a:ext cx="201168" cy="201168"/>
          </a:xfrm>
          <a:prstGeom prst="ellipse">
            <a:avLst/>
          </a:prstGeom>
          <a:solidFill>
            <a:srgbClr val="B5442D"/>
          </a:solidFill>
          <a:ln w="12700">
            <a:solidFill>
              <a:srgbClr val="B5442D"/>
            </a:solidFill>
            <a:prstDash val="solid"/>
          </a:ln>
        </p:spPr>
      </p:sp>
      <p:sp>
        <p:nvSpPr>
          <p:cNvPr id="27" name="Shape 25"/>
          <p:cNvSpPr/>
          <p:nvPr/>
        </p:nvSpPr>
        <p:spPr>
          <a:xfrm>
            <a:off x="10755173" y="3200400"/>
            <a:ext cx="201168" cy="201168"/>
          </a:xfrm>
          <a:prstGeom prst="ellipse">
            <a:avLst/>
          </a:prstGeom>
          <a:solidFill>
            <a:srgbClr val="B5442D"/>
          </a:solidFill>
          <a:ln w="12700">
            <a:solidFill>
              <a:srgbClr val="B5442D"/>
            </a:solidFill>
            <a:prstDash val="solid"/>
          </a:ln>
        </p:spPr>
      </p:sp>
      <p:sp>
        <p:nvSpPr>
          <p:cNvPr id="28" name="Text 26"/>
          <p:cNvSpPr txBox="1"/>
          <p:nvPr/>
        </p:nvSpPr>
        <p:spPr>
          <a:xfrm>
            <a:off x="6400800" y="3566160"/>
            <a:ext cx="5120640" cy="274320"/>
          </a:xfrm>
          <a:prstGeom prst="rect">
            <a:avLst/>
          </a:prstGeom>
          <a:noFill/>
          <a:ln/>
        </p:spPr>
        <p:txBody>
          <a:bodyPr wrap="square" lIns="0" tIns="0" rIns="0" bIns="0" rtlCol="0" anchor="t"/>
          <a:lstStyle/>
          <a:p>
            <a:pPr algn="l" indent="0" marL="0">
              <a:lnSpc>
                <a:spcPct val="125000"/>
              </a:lnSpc>
              <a:buNone/>
            </a:pPr>
            <a:r>
              <a:rPr lang="en-US" sz="1100" dirty="0">
                <a:solidFill>
                  <a:srgbClr val="B5442D"/>
                </a:solidFill>
                <a:latin typeface="Meiryo" pitchFamily="34" charset="0"/>
                <a:ea typeface="Meiryo" pitchFamily="34" charset="-122"/>
                <a:cs typeface="Meiryo" pitchFamily="34" charset="-120"/>
              </a:rPr>
              <a:t>● 出産（年2〜3回、一度に4〜6匹）</a:t>
            </a:r>
            <a:endParaRPr lang="en-US" sz="1100" dirty="0"/>
          </a:p>
        </p:txBody>
      </p:sp>
      <p:sp>
        <p:nvSpPr>
          <p:cNvPr id="29" name="Text 27"/>
          <p:cNvSpPr txBox="1"/>
          <p:nvPr/>
        </p:nvSpPr>
        <p:spPr>
          <a:xfrm>
            <a:off x="6400800" y="3931920"/>
            <a:ext cx="5120640" cy="32004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窓を1回逃すと手術は1か月遅れ、次の出産が先に来る。</a:t>
            </a:r>
            <a:endParaRPr lang="en-US" sz="1150" dirty="0"/>
          </a:p>
        </p:txBody>
      </p:sp>
      <p:sp>
        <p:nvSpPr>
          <p:cNvPr id="30" name="Text 28"/>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出典：どうぶつ基金 チケットFAQ・規約／福岡県調査／京都市10年評価／京都市要綱 第7条</a:t>
            </a:r>
            <a:endParaRPr lang="en-US" sz="800" dirty="0"/>
          </a:p>
        </p:txBody>
      </p:sp>
      <p:sp>
        <p:nvSpPr>
          <p:cNvPr id="31" name="Text 29"/>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82296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非営利かつ自治体ごとに仕様が異なるため、システム化が進まず人手作業に依存</a:t>
            </a:r>
            <a:endParaRPr lang="en-US" sz="2400" dirty="0"/>
          </a:p>
        </p:txBody>
      </p:sp>
      <p:sp>
        <p:nvSpPr>
          <p:cNvPr id="3" name="Text 1"/>
          <p:cNvSpPr txBox="1"/>
          <p:nvPr/>
        </p:nvSpPr>
        <p:spPr>
          <a:xfrm>
            <a:off x="685800" y="1463040"/>
            <a:ext cx="10817352" cy="548640"/>
          </a:xfrm>
          <a:prstGeom prst="rect">
            <a:avLst/>
          </a:prstGeom>
          <a:noFill/>
          <a:ln/>
        </p:spPr>
        <p:txBody>
          <a:bodyPr wrap="square" lIns="0" tIns="0" rIns="0" bIns="0" rtlCol="0" anchor="t"/>
          <a:lstStyle/>
          <a:p>
            <a:pPr algn="l" indent="0" marL="0">
              <a:lnSpc>
                <a:spcPct val="125000"/>
              </a:lnSpc>
              <a:buNone/>
            </a:pPr>
            <a:r>
              <a:rPr lang="en-US" sz="1300" dirty="0">
                <a:solidFill>
                  <a:srgbClr val="1F2A37"/>
                </a:solidFill>
                <a:latin typeface="Meiryo" pitchFamily="34" charset="0"/>
                <a:ea typeface="Meiryo" pitchFamily="34" charset="-122"/>
                <a:cs typeface="Meiryo" pitchFamily="34" charset="-120"/>
              </a:rPr>
              <a:t>1自治体あたりの担い手は数十〜数百人規模（推定）にとどまる一方、協働自治体は298にのぼり、要綱は自治体ごとに異なる。私たちが調べた範囲では汎用ツールが存在しないため、現場では電話、LINE、Excel、紙によるアナログな手作業が続いている。</a:t>
            </a:r>
            <a:endParaRPr lang="en-US" sz="1300" dirty="0"/>
          </a:p>
        </p:txBody>
      </p:sp>
      <p:sp>
        <p:nvSpPr>
          <p:cNvPr id="4" name="Text 2"/>
          <p:cNvSpPr txBox="1"/>
          <p:nvPr/>
        </p:nvSpPr>
        <p:spPr>
          <a:xfrm>
            <a:off x="685800" y="2148840"/>
            <a:ext cx="10817352" cy="274320"/>
          </a:xfrm>
          <a:prstGeom prst="rect">
            <a:avLst/>
          </a:prstGeom>
          <a:noFill/>
          <a:ln/>
        </p:spPr>
        <p:txBody>
          <a:bodyPr wrap="square" lIns="0" tIns="0" rIns="0" bIns="0" rtlCol="0" anchor="t"/>
          <a:lstStyle/>
          <a:p>
            <a:pPr algn="l" indent="0" marL="0">
              <a:lnSpc>
                <a:spcPct val="125000"/>
              </a:lnSpc>
              <a:buNone/>
            </a:pPr>
            <a:r>
              <a:rPr lang="en-US" sz="1100" dirty="0">
                <a:solidFill>
                  <a:srgbClr val="5B6570"/>
                </a:solidFill>
                <a:latin typeface="Meiryo" pitchFamily="34" charset="0"/>
                <a:ea typeface="Meiryo" pitchFamily="34" charset="-122"/>
                <a:cs typeface="Meiryo" pitchFamily="34" charset="-120"/>
              </a:rPr>
              <a:t>それぞれの悩み</a:t>
            </a:r>
            <a:endParaRPr lang="en-US" sz="1100" dirty="0"/>
          </a:p>
        </p:txBody>
      </p:sp>
      <p:sp>
        <p:nvSpPr>
          <p:cNvPr id="5" name="Shape 3"/>
          <p:cNvSpPr/>
          <p:nvPr/>
        </p:nvSpPr>
        <p:spPr>
          <a:xfrm>
            <a:off x="685800" y="2514600"/>
            <a:ext cx="2560320" cy="2377440"/>
          </a:xfrm>
          <a:prstGeom prst="roundRect">
            <a:avLst>
              <a:gd name="adj" fmla="val 3077"/>
            </a:avLst>
          </a:prstGeom>
          <a:solidFill>
            <a:srgbClr val="F1F4F7"/>
          </a:solidFill>
          <a:ln w="12700">
            <a:solidFill>
              <a:srgbClr val="F1F4F7"/>
            </a:solidFill>
            <a:prstDash val="solid"/>
          </a:ln>
        </p:spPr>
      </p:sp>
      <p:sp>
        <p:nvSpPr>
          <p:cNvPr id="6" name="Text 4"/>
          <p:cNvSpPr txBox="1"/>
          <p:nvPr/>
        </p:nvSpPr>
        <p:spPr>
          <a:xfrm>
            <a:off x="868680" y="2651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ボランティア</a:t>
            </a:r>
            <a:endParaRPr lang="en-US" sz="1500" dirty="0"/>
          </a:p>
        </p:txBody>
      </p:sp>
      <p:sp>
        <p:nvSpPr>
          <p:cNvPr id="7" name="Text 5"/>
          <p:cNvSpPr txBox="1"/>
          <p:nvPr/>
        </p:nvSpPr>
        <p:spPr>
          <a:xfrm>
            <a:off x="868680" y="3108960"/>
            <a:ext cx="2194560" cy="16459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要綱が読めない。期限を忘れる。電話が平日しか通じない。</a:t>
            </a:r>
            <a:endParaRPr lang="en-US" sz="1200" dirty="0"/>
          </a:p>
        </p:txBody>
      </p:sp>
      <p:sp>
        <p:nvSpPr>
          <p:cNvPr id="8" name="Shape 6"/>
          <p:cNvSpPr/>
          <p:nvPr/>
        </p:nvSpPr>
        <p:spPr>
          <a:xfrm>
            <a:off x="3429000" y="2514600"/>
            <a:ext cx="2560320" cy="2377440"/>
          </a:xfrm>
          <a:prstGeom prst="roundRect">
            <a:avLst>
              <a:gd name="adj" fmla="val 3077"/>
            </a:avLst>
          </a:prstGeom>
          <a:solidFill>
            <a:srgbClr val="F1F4F7"/>
          </a:solidFill>
          <a:ln w="12700">
            <a:solidFill>
              <a:srgbClr val="F1F4F7"/>
            </a:solidFill>
            <a:prstDash val="solid"/>
          </a:ln>
        </p:spPr>
      </p:sp>
      <p:sp>
        <p:nvSpPr>
          <p:cNvPr id="9" name="Text 7"/>
          <p:cNvSpPr txBox="1"/>
          <p:nvPr/>
        </p:nvSpPr>
        <p:spPr>
          <a:xfrm>
            <a:off x="3611880" y="2651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市の職員</a:t>
            </a:r>
            <a:endParaRPr lang="en-US" sz="1500" dirty="0"/>
          </a:p>
        </p:txBody>
      </p:sp>
      <p:sp>
        <p:nvSpPr>
          <p:cNvPr id="10" name="Text 8"/>
          <p:cNvSpPr txBox="1"/>
          <p:nvPr/>
        </p:nvSpPr>
        <p:spPr>
          <a:xfrm>
            <a:off x="3611880" y="3108960"/>
            <a:ext cx="2194560" cy="16459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不備で往復。電話の一次対応。登録地域の現況が報告頼み。</a:t>
            </a:r>
            <a:endParaRPr lang="en-US" sz="1200" dirty="0"/>
          </a:p>
        </p:txBody>
      </p:sp>
      <p:sp>
        <p:nvSpPr>
          <p:cNvPr id="11" name="Shape 9"/>
          <p:cNvSpPr/>
          <p:nvPr/>
        </p:nvSpPr>
        <p:spPr>
          <a:xfrm>
            <a:off x="6172200" y="2514600"/>
            <a:ext cx="2560320" cy="2377440"/>
          </a:xfrm>
          <a:prstGeom prst="roundRect">
            <a:avLst>
              <a:gd name="adj" fmla="val 3077"/>
            </a:avLst>
          </a:prstGeom>
          <a:solidFill>
            <a:srgbClr val="F1F4F7"/>
          </a:solidFill>
          <a:ln w="12700">
            <a:solidFill>
              <a:srgbClr val="F1F4F7"/>
            </a:solidFill>
            <a:prstDash val="solid"/>
          </a:ln>
        </p:spPr>
      </p:sp>
      <p:sp>
        <p:nvSpPr>
          <p:cNvPr id="12" name="Text 10"/>
          <p:cNvSpPr txBox="1"/>
          <p:nvPr/>
        </p:nvSpPr>
        <p:spPr>
          <a:xfrm>
            <a:off x="6355080" y="2651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近隣住民</a:t>
            </a:r>
            <a:endParaRPr lang="en-US" sz="1500" dirty="0"/>
          </a:p>
        </p:txBody>
      </p:sp>
      <p:sp>
        <p:nvSpPr>
          <p:cNvPr id="13" name="Text 11"/>
          <p:cNvSpPr txBox="1"/>
          <p:nvPr/>
        </p:nvSpPr>
        <p:spPr>
          <a:xfrm>
            <a:off x="6355080" y="3108960"/>
            <a:ext cx="2194560" cy="16459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苦情を出しても行政は収容しない。活動が始まるまで解決手段がない。</a:t>
            </a:r>
            <a:endParaRPr lang="en-US" sz="1200" dirty="0"/>
          </a:p>
        </p:txBody>
      </p:sp>
      <p:sp>
        <p:nvSpPr>
          <p:cNvPr id="14" name="Shape 12"/>
          <p:cNvSpPr/>
          <p:nvPr/>
        </p:nvSpPr>
        <p:spPr>
          <a:xfrm>
            <a:off x="8915400" y="2514600"/>
            <a:ext cx="2560320" cy="2377440"/>
          </a:xfrm>
          <a:prstGeom prst="roundRect">
            <a:avLst>
              <a:gd name="adj" fmla="val 3077"/>
            </a:avLst>
          </a:prstGeom>
          <a:solidFill>
            <a:srgbClr val="F1F4F7"/>
          </a:solidFill>
          <a:ln w="12700">
            <a:solidFill>
              <a:srgbClr val="F1F4F7"/>
            </a:solidFill>
            <a:prstDash val="solid"/>
          </a:ln>
        </p:spPr>
      </p:sp>
      <p:sp>
        <p:nvSpPr>
          <p:cNvPr id="15" name="Text 13"/>
          <p:cNvSpPr txBox="1"/>
          <p:nvPr/>
        </p:nvSpPr>
        <p:spPr>
          <a:xfrm>
            <a:off x="9098280" y="2651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病院・センター</a:t>
            </a:r>
            <a:endParaRPr lang="en-US" sz="1500" dirty="0"/>
          </a:p>
        </p:txBody>
      </p:sp>
      <p:sp>
        <p:nvSpPr>
          <p:cNvPr id="16" name="Text 14"/>
          <p:cNvSpPr txBox="1"/>
          <p:nvPr/>
        </p:nvSpPr>
        <p:spPr>
          <a:xfrm>
            <a:off x="9098280" y="3108960"/>
            <a:ext cx="2194560" cy="16459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持込頭数と時期が読めない（推定）。</a:t>
            </a:r>
            <a:endParaRPr lang="en-US" sz="1200" dirty="0"/>
          </a:p>
        </p:txBody>
      </p:sp>
      <p:sp>
        <p:nvSpPr>
          <p:cNvPr id="17" name="Text 15"/>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出典：どうぶつ基金 2022年度実績（298行政）／堺市 猫の困りごとページ</a:t>
            </a:r>
            <a:endParaRPr lang="en-US" sz="800" dirty="0"/>
          </a:p>
        </p:txBody>
      </p:sp>
      <p:sp>
        <p:nvSpPr>
          <p:cNvPr id="18" name="Text 1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2743200"/>
            <a:ext cx="10817352" cy="1097280"/>
          </a:xfrm>
          <a:prstGeom prst="rect">
            <a:avLst/>
          </a:prstGeom>
          <a:noFill/>
          <a:ln/>
        </p:spPr>
        <p:txBody>
          <a:bodyPr wrap="square" lIns="0" tIns="0" rIns="0" bIns="0" rtlCol="0" anchor="ctr"/>
          <a:lstStyle/>
          <a:p>
            <a:pPr algn="ctr" indent="0" marL="0">
              <a:lnSpc>
                <a:spcPct val="125000"/>
              </a:lnSpc>
              <a:buNone/>
            </a:pPr>
            <a:r>
              <a:rPr lang="en-US" sz="3400" b="1" dirty="0">
                <a:solidFill>
                  <a:srgbClr val="FFFFFF"/>
                </a:solidFill>
                <a:latin typeface="Meiryo" pitchFamily="34" charset="0"/>
                <a:ea typeface="Meiryo" pitchFamily="34" charset="-122"/>
                <a:cs typeface="Meiryo" pitchFamily="34" charset="-120"/>
              </a:rPr>
              <a:t>限られた人手のなかで、この過重な事務負担を解消できるか</a:t>
            </a:r>
            <a:endParaRPr lang="en-US" sz="3400" dirty="0"/>
          </a:p>
        </p:txBody>
      </p:sp>
      <p:sp>
        <p:nvSpPr>
          <p:cNvPr id="3" name="Text 1"/>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82296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AIが自然言語の規則を直接読み解き、個別の状況に合わせて整理し、期日を追跡</a:t>
            </a:r>
            <a:endParaRPr lang="en-US" sz="2400" dirty="0"/>
          </a:p>
        </p:txBody>
      </p:sp>
      <p:sp>
        <p:nvSpPr>
          <p:cNvPr id="3" name="Shape 1"/>
          <p:cNvSpPr/>
          <p:nvPr/>
        </p:nvSpPr>
        <p:spPr>
          <a:xfrm>
            <a:off x="685800" y="1463040"/>
            <a:ext cx="2560320" cy="2286000"/>
          </a:xfrm>
          <a:prstGeom prst="roundRect">
            <a:avLst>
              <a:gd name="adj" fmla="val 3200"/>
            </a:avLst>
          </a:prstGeom>
          <a:solidFill>
            <a:srgbClr val="F1F4F7"/>
          </a:solidFill>
          <a:ln w="12700">
            <a:solidFill>
              <a:srgbClr val="F1F4F7"/>
            </a:solidFill>
            <a:prstDash val="solid"/>
          </a:ln>
        </p:spPr>
      </p:sp>
      <p:sp>
        <p:nvSpPr>
          <p:cNvPr id="4" name="Text 2"/>
          <p:cNvSpPr txBox="1"/>
          <p:nvPr/>
        </p:nvSpPr>
        <p:spPr>
          <a:xfrm>
            <a:off x="868680" y="160020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読める</a:t>
            </a:r>
            <a:endParaRPr lang="en-US" sz="1500" dirty="0"/>
          </a:p>
        </p:txBody>
      </p:sp>
      <p:sp>
        <p:nvSpPr>
          <p:cNvPr id="5" name="Text 3"/>
          <p:cNvSpPr txBox="1"/>
          <p:nvPr/>
        </p:nvSpPr>
        <p:spPr>
          <a:xfrm>
            <a:off x="868680" y="2057400"/>
            <a:ext cx="2194560" cy="155448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要綱PDF・様式DOCX・FAQを構造化せずそのまま読み込み、適用条件と期限を抽出</a:t>
            </a:r>
            <a:endParaRPr lang="en-US" sz="1200" dirty="0"/>
          </a:p>
        </p:txBody>
      </p:sp>
      <p:sp>
        <p:nvSpPr>
          <p:cNvPr id="6" name="Shape 4"/>
          <p:cNvSpPr/>
          <p:nvPr/>
        </p:nvSpPr>
        <p:spPr>
          <a:xfrm>
            <a:off x="3429000" y="1463040"/>
            <a:ext cx="2560320" cy="2286000"/>
          </a:xfrm>
          <a:prstGeom prst="roundRect">
            <a:avLst>
              <a:gd name="adj" fmla="val 3200"/>
            </a:avLst>
          </a:prstGeom>
          <a:solidFill>
            <a:srgbClr val="F1F4F7"/>
          </a:solidFill>
          <a:ln w="12700">
            <a:solidFill>
              <a:srgbClr val="F1F4F7"/>
            </a:solidFill>
            <a:prstDash val="solid"/>
          </a:ln>
        </p:spPr>
      </p:sp>
      <p:sp>
        <p:nvSpPr>
          <p:cNvPr id="7" name="Text 5"/>
          <p:cNvSpPr txBox="1"/>
          <p:nvPr/>
        </p:nvSpPr>
        <p:spPr>
          <a:xfrm>
            <a:off x="3611880" y="160020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まとめ直せる</a:t>
            </a:r>
            <a:endParaRPr lang="en-US" sz="1500" dirty="0"/>
          </a:p>
        </p:txBody>
      </p:sp>
      <p:sp>
        <p:nvSpPr>
          <p:cNvPr id="8" name="Text 6"/>
          <p:cNvSpPr txBox="1"/>
          <p:nvPr/>
        </p:nvSpPr>
        <p:spPr>
          <a:xfrm>
            <a:off x="3611880" y="2057400"/>
            <a:ext cx="2194560" cy="155448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「活動場所・頭数・自治体・現在日」に合わせた必要情報へ再構成</a:t>
            </a:r>
            <a:endParaRPr lang="en-US" sz="1200" dirty="0"/>
          </a:p>
        </p:txBody>
      </p:sp>
      <p:sp>
        <p:nvSpPr>
          <p:cNvPr id="9" name="Shape 7"/>
          <p:cNvSpPr/>
          <p:nvPr/>
        </p:nvSpPr>
        <p:spPr>
          <a:xfrm>
            <a:off x="6172200" y="1463040"/>
            <a:ext cx="2560320" cy="2286000"/>
          </a:xfrm>
          <a:prstGeom prst="roundRect">
            <a:avLst>
              <a:gd name="adj" fmla="val 3200"/>
            </a:avLst>
          </a:prstGeom>
          <a:solidFill>
            <a:srgbClr val="F1F4F7"/>
          </a:solidFill>
          <a:ln w="12700">
            <a:solidFill>
              <a:srgbClr val="F1F4F7"/>
            </a:solidFill>
            <a:prstDash val="solid"/>
          </a:ln>
        </p:spPr>
      </p:sp>
      <p:sp>
        <p:nvSpPr>
          <p:cNvPr id="10" name="Text 8"/>
          <p:cNvSpPr txBox="1"/>
          <p:nvPr/>
        </p:nvSpPr>
        <p:spPr>
          <a:xfrm>
            <a:off x="6355080" y="160020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追い続ける</a:t>
            </a:r>
            <a:endParaRPr lang="en-US" sz="1500" dirty="0"/>
          </a:p>
        </p:txBody>
      </p:sp>
      <p:sp>
        <p:nvSpPr>
          <p:cNvPr id="11" name="Text 9"/>
          <p:cNvSpPr txBox="1"/>
          <p:nvPr/>
        </p:nvSpPr>
        <p:spPr>
          <a:xfrm>
            <a:off x="6355080" y="2057400"/>
            <a:ext cx="2194560" cy="155448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登録日から期限を自動計算し、適切なタイミングで申請を促す</a:t>
            </a:r>
            <a:endParaRPr lang="en-US" sz="1200" dirty="0"/>
          </a:p>
        </p:txBody>
      </p:sp>
      <p:sp>
        <p:nvSpPr>
          <p:cNvPr id="12" name="Shape 10"/>
          <p:cNvSpPr/>
          <p:nvPr/>
        </p:nvSpPr>
        <p:spPr>
          <a:xfrm>
            <a:off x="8915400" y="1463040"/>
            <a:ext cx="2560320" cy="2286000"/>
          </a:xfrm>
          <a:prstGeom prst="roundRect">
            <a:avLst>
              <a:gd name="adj" fmla="val 3200"/>
            </a:avLst>
          </a:prstGeom>
          <a:solidFill>
            <a:srgbClr val="F1F4F7"/>
          </a:solidFill>
          <a:ln w="12700">
            <a:solidFill>
              <a:srgbClr val="F1F4F7"/>
            </a:solidFill>
            <a:prstDash val="solid"/>
          </a:ln>
        </p:spPr>
      </p:sp>
      <p:sp>
        <p:nvSpPr>
          <p:cNvPr id="13" name="Text 11"/>
          <p:cNvSpPr txBox="1"/>
          <p:nvPr/>
        </p:nvSpPr>
        <p:spPr>
          <a:xfrm>
            <a:off x="9098280" y="160020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作り直さない</a:t>
            </a:r>
            <a:endParaRPr lang="en-US" sz="1500" dirty="0"/>
          </a:p>
        </p:txBody>
      </p:sp>
      <p:sp>
        <p:nvSpPr>
          <p:cNvPr id="14" name="Text 12"/>
          <p:cNvSpPr txBox="1"/>
          <p:nvPr/>
        </p:nvSpPr>
        <p:spPr>
          <a:xfrm>
            <a:off x="9098280" y="2057400"/>
            <a:ext cx="2194560" cy="155448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規則をコードに持たず、要綱資料を差し替えるだけで他自治体に対応</a:t>
            </a:r>
            <a:endParaRPr lang="en-US" sz="1200" dirty="0"/>
          </a:p>
        </p:txBody>
      </p:sp>
      <p:sp>
        <p:nvSpPr>
          <p:cNvPr id="15" name="Shape 13"/>
          <p:cNvSpPr/>
          <p:nvPr/>
        </p:nvSpPr>
        <p:spPr>
          <a:xfrm>
            <a:off x="685800" y="4114800"/>
            <a:ext cx="10817352" cy="1188720"/>
          </a:xfrm>
          <a:prstGeom prst="roundRect">
            <a:avLst>
              <a:gd name="adj" fmla="val 6154"/>
            </a:avLst>
          </a:prstGeom>
          <a:solidFill>
            <a:srgbClr val="F1F4F7"/>
          </a:solidFill>
          <a:ln w="12700">
            <a:solidFill>
              <a:srgbClr val="F1F4F7"/>
            </a:solidFill>
            <a:prstDash val="solid"/>
          </a:ln>
        </p:spPr>
      </p:sp>
      <p:sp>
        <p:nvSpPr>
          <p:cNvPr id="16" name="Text 14"/>
          <p:cNvSpPr txBox="1"/>
          <p:nvPr/>
        </p:nvSpPr>
        <p:spPr>
          <a:xfrm>
            <a:off x="914400" y="4206240"/>
            <a:ext cx="10360152" cy="1005840"/>
          </a:xfrm>
          <a:prstGeom prst="rect">
            <a:avLst/>
          </a:prstGeom>
          <a:noFill/>
          <a:ln/>
        </p:spPr>
        <p:txBody>
          <a:bodyPr wrap="square" lIns="0" tIns="0" rIns="0" bIns="0" rtlCol="0" anchor="ctr"/>
          <a:lstStyle/>
          <a:p>
            <a:pPr indent="0" marL="0">
              <a:lnSpc>
                <a:spcPct val="130000"/>
              </a:lnSpc>
              <a:buNone/>
            </a:pPr>
            <a:r>
              <a:rPr lang="en-US" sz="1500" dirty="0">
                <a:solidFill>
                  <a:srgbClr val="000000"/>
                </a:solidFill>
                <a:latin typeface="Meiryo" pitchFamily="34" charset="0"/>
                <a:ea typeface="Meiryo" pitchFamily="34" charset="-122"/>
                <a:cs typeface="Meiryo" pitchFamily="34" charset="-120"/>
              </a:rPr>
              <a:t>4枚目の工程のうち、事務手続きに関わる7つ（</a:t>
            </a:r>
            <a:pPr indent="0" marL="0">
              <a:lnSpc>
                <a:spcPct val="130000"/>
              </a:lnSpc>
              <a:buNone/>
            </a:pPr>
            <a:r>
              <a:rPr lang="en-US" sz="1500" b="1" dirty="0">
                <a:solidFill>
                  <a:srgbClr val="B5442D"/>
                </a:solidFill>
                <a:latin typeface="Meiryo" pitchFamily="34" charset="0"/>
                <a:ea typeface="Meiryo" pitchFamily="34" charset="-122"/>
                <a:cs typeface="Meiryo" pitchFamily="34" charset="-120"/>
              </a:rPr>
              <a:t>①④⑥⑦⑨⑩⑪</a:t>
            </a:r>
            <a:pPr indent="0" marL="0">
              <a:lnSpc>
                <a:spcPct val="130000"/>
              </a:lnSpc>
              <a:buNone/>
            </a:pPr>
            <a:r>
              <a:rPr lang="en-US" sz="1500" dirty="0">
                <a:solidFill>
                  <a:srgbClr val="000000"/>
                </a:solidFill>
                <a:latin typeface="Meiryo" pitchFamily="34" charset="0"/>
                <a:ea typeface="Meiryo" pitchFamily="34" charset="-122"/>
                <a:cs typeface="Meiryo" pitchFamily="34" charset="-120"/>
              </a:rPr>
              <a:t>）と不備の差し戻し（⑤）をAIで代替。</a:t>
            </a:r>
            <a:endParaRPr lang="en-US" sz="1500" dirty="0"/>
          </a:p>
          <a:p>
            <a:pPr indent="0" marL="0">
              <a:lnSpc>
                <a:spcPct val="130000"/>
              </a:lnSpc>
              <a:buNone/>
            </a:pPr>
            <a:r>
              <a:rPr lang="en-US" sz="1250" dirty="0">
                <a:solidFill>
                  <a:srgbClr val="5B6570"/>
                </a:solidFill>
                <a:latin typeface="Meiryo" pitchFamily="34" charset="0"/>
                <a:ea typeface="Meiryo" pitchFamily="34" charset="-122"/>
                <a:cs typeface="Meiryo" pitchFamily="34" charset="-120"/>
              </a:rPr>
              <a:t>対人折衝や捕獲（②③⑧）など人が向き合うべき実務に集中できる環境をつくる。</a:t>
            </a:r>
            <a:endParaRPr lang="en-US" sz="1500" dirty="0"/>
          </a:p>
        </p:txBody>
      </p:sp>
      <p:sp>
        <p:nvSpPr>
          <p:cNvPr id="17" name="Text 15"/>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8" name="Text 1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82296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地域猫活動に特化したプロトタイプ：対話入力からタスク提示・書類作成・台帳連携までを一貫処理</a:t>
            </a:r>
            <a:endParaRPr lang="en-US" sz="2400" dirty="0"/>
          </a:p>
        </p:txBody>
      </p:sp>
      <p:sp>
        <p:nvSpPr>
          <p:cNvPr id="3" name="Text 1"/>
          <p:cNvSpPr txBox="1"/>
          <p:nvPr/>
        </p:nvSpPr>
        <p:spPr>
          <a:xfrm>
            <a:off x="685800" y="150876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① </a:t>
            </a:r>
            <a:pPr indent="0" marL="0">
              <a:buNone/>
            </a:pPr>
            <a:r>
              <a:rPr lang="en-US" sz="1000" dirty="0">
                <a:solidFill>
                  <a:srgbClr val="5B6570"/>
                </a:solidFill>
                <a:latin typeface="Meiryo" pitchFamily="34" charset="0"/>
                <a:ea typeface="Meiryo" pitchFamily="34" charset="-122"/>
                <a:cs typeface="Meiryo" pitchFamily="34" charset="-120"/>
              </a:rPr>
              <a:t>対話による自然な情報入力</a:t>
            </a:r>
            <a:endParaRPr lang="en-US" sz="1100" dirty="0"/>
          </a:p>
        </p:txBody>
      </p:sp>
      <p:pic>
        <p:nvPicPr>
          <p:cNvPr id="4" name="Image 0" descr="/home/user/VORN/docs/deck3/chat_s.jpg">    </p:cNvPr>
          <p:cNvPicPr>
            <a:picLocks noChangeAspect="1"/>
          </p:cNvPicPr>
          <p:nvPr/>
        </p:nvPicPr>
        <p:blipFill>
          <a:blip r:embed="rId1"/>
          <a:srcRect l="0" r="99974" t="0" b="99974"/>
          <a:stretch/>
        </p:blipFill>
        <p:spPr>
          <a:xfrm>
            <a:off x="685800" y="1783080"/>
            <a:ext cx="900" cy="1008"/>
          </a:xfrm>
          <a:prstGeom prst="rect">
            <a:avLst/>
          </a:prstGeom>
        </p:spPr>
      </p:pic>
      <p:sp>
        <p:nvSpPr>
          <p:cNvPr id="5" name="Shape 2"/>
          <p:cNvSpPr/>
          <p:nvPr/>
        </p:nvSpPr>
        <p:spPr>
          <a:xfrm>
            <a:off x="685800" y="1783080"/>
            <a:ext cx="3429000" cy="3840480"/>
          </a:xfrm>
          <a:prstGeom prst="rect">
            <a:avLst/>
          </a:prstGeom>
          <a:ln w="9525">
            <a:solidFill>
              <a:srgbClr val="D5DBE1"/>
            </a:solidFill>
            <a:prstDash val="solid"/>
          </a:ln>
        </p:spPr>
      </p:sp>
      <p:sp>
        <p:nvSpPr>
          <p:cNvPr id="6" name="Text 3"/>
          <p:cNvSpPr txBox="1"/>
          <p:nvPr/>
        </p:nvSpPr>
        <p:spPr>
          <a:xfrm>
            <a:off x="4398264" y="150876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② </a:t>
            </a:r>
            <a:pPr indent="0" marL="0">
              <a:buNone/>
            </a:pPr>
            <a:r>
              <a:rPr lang="en-US" sz="1000" dirty="0">
                <a:solidFill>
                  <a:srgbClr val="5B6570"/>
                </a:solidFill>
                <a:latin typeface="Meiryo" pitchFamily="34" charset="0"/>
                <a:ea typeface="Meiryo" pitchFamily="34" charset="-122"/>
                <a:cs typeface="Meiryo" pitchFamily="34" charset="-120"/>
              </a:rPr>
              <a:t>次のタスク案内と指定様式の自動出力</a:t>
            </a:r>
            <a:endParaRPr lang="en-US" sz="1100" dirty="0"/>
          </a:p>
        </p:txBody>
      </p:sp>
      <p:pic>
        <p:nvPicPr>
          <p:cNvPr id="7" name="Image 1" descr="/home/user/VORN/docs/deck3/next.jpg">    </p:cNvPr>
          <p:cNvPicPr>
            <a:picLocks noChangeAspect="1"/>
          </p:cNvPicPr>
          <p:nvPr/>
        </p:nvPicPr>
        <p:blipFill>
          <a:blip r:embed="rId2"/>
          <a:srcRect l="0" r="99959" t="0" b="99959"/>
          <a:stretch/>
        </p:blipFill>
        <p:spPr>
          <a:xfrm>
            <a:off x="4398264" y="1783080"/>
            <a:ext cx="1396" cy="588"/>
          </a:xfrm>
          <a:prstGeom prst="rect">
            <a:avLst/>
          </a:prstGeom>
        </p:spPr>
      </p:pic>
      <p:sp>
        <p:nvSpPr>
          <p:cNvPr id="8" name="Shape 4"/>
          <p:cNvSpPr/>
          <p:nvPr/>
        </p:nvSpPr>
        <p:spPr>
          <a:xfrm>
            <a:off x="4398264" y="1783080"/>
            <a:ext cx="3429000" cy="1444752"/>
          </a:xfrm>
          <a:prstGeom prst="rect">
            <a:avLst/>
          </a:prstGeom>
          <a:ln w="9525">
            <a:solidFill>
              <a:srgbClr val="D5DBE1"/>
            </a:solidFill>
            <a:prstDash val="solid"/>
          </a:ln>
        </p:spPr>
      </p:sp>
      <p:pic>
        <p:nvPicPr>
          <p:cNvPr id="9" name="Image 2" descr="/home/user/VORN/docs/deck3/form1.jpg">    </p:cNvPr>
          <p:cNvPicPr>
            <a:picLocks noChangeAspect="1"/>
          </p:cNvPicPr>
          <p:nvPr/>
        </p:nvPicPr>
        <p:blipFill>
          <a:blip r:embed="rId3"/>
          <a:srcRect l="0" r="99965" t="0" b="99965"/>
          <a:stretch/>
        </p:blipFill>
        <p:spPr>
          <a:xfrm>
            <a:off x="4398264" y="3337560"/>
            <a:ext cx="1215" cy="810"/>
          </a:xfrm>
          <a:prstGeom prst="rect">
            <a:avLst/>
          </a:prstGeom>
        </p:spPr>
      </p:pic>
      <p:sp>
        <p:nvSpPr>
          <p:cNvPr id="10" name="Shape 5"/>
          <p:cNvSpPr/>
          <p:nvPr/>
        </p:nvSpPr>
        <p:spPr>
          <a:xfrm>
            <a:off x="4398264" y="3337560"/>
            <a:ext cx="3429000" cy="2286000"/>
          </a:xfrm>
          <a:prstGeom prst="rect">
            <a:avLst/>
          </a:prstGeom>
          <a:ln w="9525">
            <a:solidFill>
              <a:srgbClr val="D5DBE1"/>
            </a:solidFill>
            <a:prstDash val="solid"/>
          </a:ln>
        </p:spPr>
      </p:sp>
      <p:sp>
        <p:nvSpPr>
          <p:cNvPr id="11" name="Text 6"/>
          <p:cNvSpPr txBox="1"/>
          <p:nvPr/>
        </p:nvSpPr>
        <p:spPr>
          <a:xfrm>
            <a:off x="8110728" y="150876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③ </a:t>
            </a:r>
            <a:pPr indent="0" marL="0">
              <a:buNone/>
            </a:pPr>
            <a:r>
              <a:rPr lang="en-US" sz="1000" dirty="0">
                <a:solidFill>
                  <a:srgbClr val="5B6570"/>
                </a:solidFill>
                <a:latin typeface="Meiryo" pitchFamily="34" charset="0"/>
                <a:ea typeface="Meiryo" pitchFamily="34" charset="-122"/>
                <a:cs typeface="Meiryo" pitchFamily="34" charset="-120"/>
              </a:rPr>
              <a:t>台帳への自動反映</a:t>
            </a:r>
            <a:endParaRPr lang="en-US" sz="1100" dirty="0"/>
          </a:p>
        </p:txBody>
      </p:sp>
      <p:pic>
        <p:nvPicPr>
          <p:cNvPr id="12" name="Image 3" descr="/home/user/VORN/docs/deck3/city_list.jpg">    </p:cNvPr>
          <p:cNvPicPr>
            <a:picLocks noChangeAspect="1"/>
          </p:cNvPicPr>
          <p:nvPr/>
        </p:nvPicPr>
        <p:blipFill>
          <a:blip r:embed="rId4"/>
          <a:srcRect l="0" r="99959" t="0" b="99959"/>
          <a:stretch/>
        </p:blipFill>
        <p:spPr>
          <a:xfrm>
            <a:off x="8110728" y="1783080"/>
            <a:ext cx="1400" cy="448"/>
          </a:xfrm>
          <a:prstGeom prst="rect">
            <a:avLst/>
          </a:prstGeom>
        </p:spPr>
      </p:pic>
      <p:sp>
        <p:nvSpPr>
          <p:cNvPr id="13" name="Shape 7"/>
          <p:cNvSpPr/>
          <p:nvPr/>
        </p:nvSpPr>
        <p:spPr>
          <a:xfrm>
            <a:off x="8110728" y="1783080"/>
            <a:ext cx="3429000" cy="1097280"/>
          </a:xfrm>
          <a:prstGeom prst="rect">
            <a:avLst/>
          </a:prstGeom>
          <a:ln w="9525">
            <a:solidFill>
              <a:srgbClr val="D5DBE1"/>
            </a:solidFill>
            <a:prstDash val="solid"/>
          </a:ln>
        </p:spPr>
      </p:sp>
      <p:pic>
        <p:nvPicPr>
          <p:cNvPr id="14" name="Image 4" descr="/home/user/VORN/docs/deck3/city_pending.jpg">    </p:cNvPr>
          <p:cNvPicPr>
            <a:picLocks noChangeAspect="1"/>
          </p:cNvPicPr>
          <p:nvPr/>
        </p:nvPicPr>
        <p:blipFill>
          <a:blip r:embed="rId5"/>
          <a:srcRect l="0" r="99959" t="0" b="99959"/>
          <a:stretch/>
        </p:blipFill>
        <p:spPr>
          <a:xfrm>
            <a:off x="8110728" y="2990088"/>
            <a:ext cx="1400" cy="317"/>
          </a:xfrm>
          <a:prstGeom prst="rect">
            <a:avLst/>
          </a:prstGeom>
        </p:spPr>
      </p:pic>
      <p:sp>
        <p:nvSpPr>
          <p:cNvPr id="15" name="Shape 8"/>
          <p:cNvSpPr/>
          <p:nvPr/>
        </p:nvSpPr>
        <p:spPr>
          <a:xfrm>
            <a:off x="8110728" y="2990088"/>
            <a:ext cx="3429000" cy="777240"/>
          </a:xfrm>
          <a:prstGeom prst="rect">
            <a:avLst/>
          </a:prstGeom>
          <a:ln w="9525">
            <a:solidFill>
              <a:srgbClr val="D5DBE1"/>
            </a:solidFill>
            <a:prstDash val="solid"/>
          </a:ln>
        </p:spPr>
      </p:sp>
      <p:sp>
        <p:nvSpPr>
          <p:cNvPr id="16" name="Text 9"/>
          <p:cNvSpPr txBox="1"/>
          <p:nvPr/>
        </p:nvSpPr>
        <p:spPr>
          <a:xfrm>
            <a:off x="8110728" y="3840480"/>
            <a:ext cx="3429000" cy="54864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K-2026-010 が「申請中」で載り、報告後に「報告済」になる</a:t>
            </a:r>
            <a:endParaRPr lang="en-US" sz="950" dirty="0"/>
          </a:p>
        </p:txBody>
      </p:sp>
      <p:sp>
        <p:nvSpPr>
          <p:cNvPr id="17" name="Text 10"/>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プロトタイプ（Streamlit／Anthropic API）。京都市・高島市で動作。画面はプロトタイプの実画面、会話と判定の応答はモック（実APIは未検証）。</a:t>
            </a:r>
            <a:endParaRPr lang="en-US" sz="800" dirty="0"/>
          </a:p>
        </p:txBody>
      </p:sp>
      <p:sp>
        <p:nvSpPr>
          <p:cNvPr id="18" name="Text 11"/>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要綱の読み込みは不要、活動場所と頭数を伝えるだけで手続きが進行</a:t>
            </a:r>
            <a:endParaRPr lang="en-US" sz="2400" dirty="0"/>
          </a:p>
        </p:txBody>
      </p:sp>
      <p:pic>
        <p:nvPicPr>
          <p:cNvPr id="3" name="Image 0" descr="/home/user/VORN/docs/deck3/chat.jpg">    </p:cNvPr>
          <p:cNvPicPr>
            <a:picLocks noChangeAspect="1"/>
          </p:cNvPicPr>
          <p:nvPr/>
        </p:nvPicPr>
        <p:blipFill>
          <a:blip r:embed="rId1"/>
          <a:srcRect l="0" r="99982" t="0" b="99982"/>
          <a:stretch/>
        </p:blipFill>
        <p:spPr>
          <a:xfrm>
            <a:off x="685800" y="1325880"/>
            <a:ext cx="910" cy="404"/>
          </a:xfrm>
          <a:prstGeom prst="rect">
            <a:avLst/>
          </a:prstGeom>
        </p:spPr>
      </p:pic>
      <p:sp>
        <p:nvSpPr>
          <p:cNvPr id="4" name="Shape 1"/>
          <p:cNvSpPr/>
          <p:nvPr/>
        </p:nvSpPr>
        <p:spPr>
          <a:xfrm>
            <a:off x="685800" y="1325880"/>
            <a:ext cx="4937760" cy="2194560"/>
          </a:xfrm>
          <a:prstGeom prst="rect">
            <a:avLst/>
          </a:prstGeom>
          <a:ln w="9525">
            <a:solidFill>
              <a:srgbClr val="D5DBE1"/>
            </a:solidFill>
            <a:prstDash val="solid"/>
          </a:ln>
        </p:spPr>
      </p:sp>
      <p:pic>
        <p:nvPicPr>
          <p:cNvPr id="5" name="Image 1" descr="/home/user/VORN/docs/deck3/chat2.jpg">    </p:cNvPr>
          <p:cNvPicPr>
            <a:picLocks noChangeAspect="1"/>
          </p:cNvPicPr>
          <p:nvPr/>
        </p:nvPicPr>
        <p:blipFill>
          <a:blip r:embed="rId2"/>
          <a:stretch>
            <a:fillRect/>
          </a:stretch>
        </p:blipFill>
        <p:spPr>
          <a:xfrm>
            <a:off x="685800" y="3657600"/>
            <a:ext cx="4937760" cy="914400"/>
          </a:xfrm>
          <a:prstGeom prst="rect">
            <a:avLst/>
          </a:prstGeom>
        </p:spPr>
      </p:pic>
      <p:sp>
        <p:nvSpPr>
          <p:cNvPr id="6" name="Shape 2"/>
          <p:cNvSpPr/>
          <p:nvPr/>
        </p:nvSpPr>
        <p:spPr>
          <a:xfrm>
            <a:off x="685800" y="3657600"/>
            <a:ext cx="4937760" cy="2441448"/>
          </a:xfrm>
          <a:prstGeom prst="rect">
            <a:avLst/>
          </a:prstGeom>
          <a:ln w="9525">
            <a:solidFill>
              <a:srgbClr val="D5DBE1"/>
            </a:solidFill>
            <a:prstDash val="solid"/>
          </a:ln>
        </p:spPr>
      </p:sp>
      <p:sp>
        <p:nvSpPr>
          <p:cNvPr id="7" name="Shape 3"/>
          <p:cNvSpPr/>
          <p:nvPr/>
        </p:nvSpPr>
        <p:spPr>
          <a:xfrm>
            <a:off x="6035040" y="1737360"/>
            <a:ext cx="5486400" cy="1005840"/>
          </a:xfrm>
          <a:prstGeom prst="roundRect">
            <a:avLst>
              <a:gd name="adj" fmla="val 5455"/>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8" name="Text 4"/>
          <p:cNvSpPr txBox="1"/>
          <p:nvPr/>
        </p:nvSpPr>
        <p:spPr>
          <a:xfrm>
            <a:off x="6144768" y="1810512"/>
            <a:ext cx="5266944" cy="85953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この後、町内会の同意を伝えると記録し、続けて「頭数が11頭（10頭以上）なので、同一世帯でない地域住民2名を含む京都市民3名以上が必要」と要綱第2条⑵の条件を返してから、活動者の入力へ進む。</a:t>
            </a:r>
            <a:endParaRPr lang="en-US" sz="1100" dirty="0"/>
          </a:p>
        </p:txBody>
      </p:sp>
      <p:sp>
        <p:nvSpPr>
          <p:cNvPr id="9" name="Text 5"/>
          <p:cNvSpPr txBox="1"/>
          <p:nvPr/>
        </p:nvSpPr>
        <p:spPr>
          <a:xfrm>
            <a:off x="6035040" y="3017520"/>
            <a:ext cx="5486400" cy="1828800"/>
          </a:xfrm>
          <a:prstGeom prst="rect">
            <a:avLst/>
          </a:prstGeom>
          <a:noFill/>
          <a:ln/>
        </p:spPr>
        <p:txBody>
          <a:bodyPr wrap="square" lIns="0" tIns="0" rIns="0" bIns="0" rtlCol="0" anchor="t"/>
          <a:lstStyle/>
          <a:p>
            <a:pPr algn="l" indent="0" marL="0">
              <a:lnSpc>
                <a:spcPct val="125000"/>
              </a:lnSpc>
              <a:buNone/>
            </a:pPr>
            <a:r>
              <a:rPr lang="en-US" sz="1200" dirty="0">
                <a:solidFill>
                  <a:srgbClr val="5B6570"/>
                </a:solidFill>
                <a:latin typeface="Meiryo" pitchFamily="34" charset="0"/>
                <a:ea typeface="Meiryo" pitchFamily="34" charset="-122"/>
                <a:cs typeface="Meiryo" pitchFamily="34" charset="-120"/>
              </a:rPr>
              <a:t>入力は自然文。要綱の条件はAI側が持つ。集めるのは第1号様式・第6号様式に必要な項目だけ。</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5B6570"/>
                </a:solidFill>
                <a:latin typeface="Meiryo" pitchFamily="34" charset="0"/>
                <a:ea typeface="Meiryo" pitchFamily="34" charset="-122"/>
                <a:cs typeface="Meiryo" pitchFamily="34" charset="-120"/>
              </a:rPr>
              <a:t>捕獲手順や自治会折衝、里親探しなどの相談には踏み込まず、事務手続きの支援に特化する安全設計。</a:t>
            </a:r>
            <a:endParaRPr lang="en-US" sz="1200" dirty="0"/>
          </a:p>
        </p:txBody>
      </p:sp>
      <p:sp>
        <p:nvSpPr>
          <p:cNvPr id="10" name="Text 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画面はプロトタイプ。デモ用の架空コロニー（左京区・11頭・活動者3名）。会話の応答はモック。</a:t>
            </a:r>
            <a:endParaRPr lang="en-US" sz="800" dirty="0"/>
          </a:p>
        </p:txBody>
      </p:sp>
      <p:sp>
        <p:nvSpPr>
          <p:cNvPr id="11"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提出前に不足要件を根拠条文付きで可視化、画面を開くだけで次のタスクを提示</a:t>
            </a:r>
            <a:endParaRPr lang="en-US" sz="2400" dirty="0"/>
          </a:p>
        </p:txBody>
      </p:sp>
      <p:pic>
        <p:nvPicPr>
          <p:cNvPr id="3" name="Image 0" descr="/home/user/VORN/docs/deck3/rules.jpg">    </p:cNvPr>
          <p:cNvPicPr>
            <a:picLocks noChangeAspect="1"/>
          </p:cNvPicPr>
          <p:nvPr/>
        </p:nvPicPr>
        <p:blipFill>
          <a:blip r:embed="rId1"/>
          <a:stretch>
            <a:fillRect/>
          </a:stretch>
        </p:blipFill>
        <p:spPr>
          <a:xfrm>
            <a:off x="685800" y="1325880"/>
            <a:ext cx="5394960" cy="914400"/>
          </a:xfrm>
          <a:prstGeom prst="rect">
            <a:avLst/>
          </a:prstGeom>
        </p:spPr>
      </p:pic>
      <p:sp>
        <p:nvSpPr>
          <p:cNvPr id="4" name="Shape 1"/>
          <p:cNvSpPr/>
          <p:nvPr/>
        </p:nvSpPr>
        <p:spPr>
          <a:xfrm>
            <a:off x="685800" y="1325880"/>
            <a:ext cx="5394960" cy="3094395"/>
          </a:xfrm>
          <a:prstGeom prst="rect">
            <a:avLst/>
          </a:prstGeom>
          <a:ln w="9525">
            <a:solidFill>
              <a:srgbClr val="D5DBE1"/>
            </a:solidFill>
            <a:prstDash val="solid"/>
          </a:ln>
        </p:spPr>
      </p:sp>
      <p:sp>
        <p:nvSpPr>
          <p:cNvPr id="5" name="Text 2"/>
          <p:cNvSpPr txBox="1"/>
          <p:nvPr/>
        </p:nvSpPr>
        <p:spPr>
          <a:xfrm>
            <a:off x="685800" y="5394960"/>
            <a:ext cx="539496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判定。「周辺地図は別途添付」は要綱第5条、「登録後に第4号様式」は第9条から。規則ごとに出典と引用が付く。</a:t>
            </a:r>
            <a:endParaRPr lang="en-US" sz="950" dirty="0"/>
          </a:p>
        </p:txBody>
      </p:sp>
      <p:pic>
        <p:nvPicPr>
          <p:cNvPr id="6" name="Image 1" descr="/home/user/VORN/docs/deck3/next.jpg">    </p:cNvPr>
          <p:cNvPicPr>
            <a:picLocks noChangeAspect="1"/>
          </p:cNvPicPr>
          <p:nvPr/>
        </p:nvPicPr>
        <p:blipFill>
          <a:blip r:embed="rId2"/>
          <a:stretch>
            <a:fillRect/>
          </a:stretch>
        </p:blipFill>
        <p:spPr>
          <a:xfrm>
            <a:off x="6309360" y="1325880"/>
            <a:ext cx="5212080" cy="914400"/>
          </a:xfrm>
          <a:prstGeom prst="rect">
            <a:avLst/>
          </a:prstGeom>
        </p:spPr>
      </p:pic>
      <p:sp>
        <p:nvSpPr>
          <p:cNvPr id="7" name="Shape 3"/>
          <p:cNvSpPr/>
          <p:nvPr/>
        </p:nvSpPr>
        <p:spPr>
          <a:xfrm>
            <a:off x="6309360" y="1325880"/>
            <a:ext cx="5212080" cy="2189074"/>
          </a:xfrm>
          <a:prstGeom prst="rect">
            <a:avLst/>
          </a:prstGeom>
          <a:ln w="9525">
            <a:solidFill>
              <a:srgbClr val="D5DBE1"/>
            </a:solidFill>
            <a:prstDash val="solid"/>
          </a:ln>
        </p:spPr>
      </p:sp>
      <p:sp>
        <p:nvSpPr>
          <p:cNvPr id="8" name="Shape 4"/>
          <p:cNvSpPr/>
          <p:nvPr/>
        </p:nvSpPr>
        <p:spPr>
          <a:xfrm>
            <a:off x="8138160" y="1417320"/>
            <a:ext cx="3291840" cy="868680"/>
          </a:xfrm>
          <a:prstGeom prst="roundRect">
            <a:avLst>
              <a:gd name="adj" fmla="val 6316"/>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9" name="Text 5"/>
          <p:cNvSpPr txBox="1"/>
          <p:nvPr/>
        </p:nvSpPr>
        <p:spPr>
          <a:xfrm>
            <a:off x="8247888" y="1490472"/>
            <a:ext cx="3072384" cy="72237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期限は登録日から要綱の期日ルールで自動計算。報告は同月日から30日以内、更新は満了30日前から。</a:t>
            </a:r>
            <a:endParaRPr lang="en-US" sz="1100" dirty="0"/>
          </a:p>
        </p:txBody>
      </p:sp>
      <p:sp>
        <p:nvSpPr>
          <p:cNvPr id="10" name="Text 6"/>
          <p:cNvSpPr txBox="1"/>
          <p:nvPr/>
        </p:nvSpPr>
        <p:spPr>
          <a:xfrm>
            <a:off x="6309360" y="3560674"/>
            <a:ext cx="5212080" cy="27432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次にやること。台帳の状態が変わると項目が入れ替わる。</a:t>
            </a:r>
            <a:endParaRPr lang="en-US" sz="950" dirty="0"/>
          </a:p>
        </p:txBody>
      </p:sp>
      <p:sp>
        <p:nvSpPr>
          <p:cNvPr id="11" name="Shape 7"/>
          <p:cNvSpPr/>
          <p:nvPr/>
        </p:nvSpPr>
        <p:spPr>
          <a:xfrm>
            <a:off x="6309360" y="4023360"/>
            <a:ext cx="5212080" cy="1097280"/>
          </a:xfrm>
          <a:prstGeom prst="roundRect">
            <a:avLst>
              <a:gd name="adj" fmla="val 6667"/>
            </a:avLst>
          </a:prstGeom>
          <a:solidFill>
            <a:srgbClr val="F1F4F7"/>
          </a:solidFill>
          <a:ln w="12700">
            <a:solidFill>
              <a:srgbClr val="F1F4F7"/>
            </a:solidFill>
            <a:prstDash val="solid"/>
          </a:ln>
        </p:spPr>
      </p:sp>
      <p:sp>
        <p:nvSpPr>
          <p:cNvPr id="12" name="Text 8"/>
          <p:cNvSpPr txBox="1"/>
          <p:nvPr/>
        </p:nvSpPr>
        <p:spPr>
          <a:xfrm>
            <a:off x="6492240" y="4114800"/>
            <a:ext cx="4846320" cy="91440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申請前は「提出」、登録後は「周知」「手術申請」「報告期限」「満了日」へと自動で切り替わる。担い手が要綱の細則や期限を記憶し続ける負担を解消する。</a:t>
            </a:r>
            <a:endParaRPr lang="en-US" sz="1200" dirty="0"/>
          </a:p>
        </p:txBody>
      </p:sp>
      <p:sp>
        <p:nvSpPr>
          <p:cNvPr id="13" name="Text 9"/>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画面はプロトタイプ（京都市プロファイル）。判定の応答はモック。本番経路では規則を要綱から毎回抽出する設計で、コードに規則を持たない。</a:t>
            </a:r>
            <a:endParaRPr lang="en-US" sz="800" dirty="0"/>
          </a:p>
        </p:txBody>
      </p:sp>
      <p:sp>
        <p:nvSpPr>
          <p:cNvPr id="14" name="Text 10"/>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配布されている指定DOCXファイルのレイアウトを維持したまま自動転記</a:t>
            </a:r>
            <a:endParaRPr lang="en-US" sz="2400" dirty="0"/>
          </a:p>
        </p:txBody>
      </p:sp>
      <p:pic>
        <p:nvPicPr>
          <p:cNvPr id="3" name="Image 0" descr="/home/user/VORN/docs/deck3/form1.jpg">    </p:cNvPr>
          <p:cNvPicPr>
            <a:picLocks noChangeAspect="1"/>
          </p:cNvPicPr>
          <p:nvPr/>
        </p:nvPicPr>
        <p:blipFill>
          <a:blip r:embed="rId1"/>
          <a:stretch>
            <a:fillRect/>
          </a:stretch>
        </p:blipFill>
        <p:spPr>
          <a:xfrm>
            <a:off x="685800" y="1280160"/>
            <a:ext cx="5212080" cy="914400"/>
          </a:xfrm>
          <a:prstGeom prst="rect">
            <a:avLst/>
          </a:prstGeom>
        </p:spPr>
      </p:pic>
      <p:sp>
        <p:nvSpPr>
          <p:cNvPr id="4" name="Shape 1"/>
          <p:cNvSpPr/>
          <p:nvPr/>
        </p:nvSpPr>
        <p:spPr>
          <a:xfrm>
            <a:off x="685800" y="1280160"/>
            <a:ext cx="5212080" cy="4804551"/>
          </a:xfrm>
          <a:prstGeom prst="rect">
            <a:avLst/>
          </a:prstGeom>
          <a:ln w="9525">
            <a:solidFill>
              <a:srgbClr val="D5DBE1"/>
            </a:solidFill>
            <a:prstDash val="solid"/>
          </a:ln>
        </p:spPr>
      </p:sp>
      <p:sp>
        <p:nvSpPr>
          <p:cNvPr id="5" name="Shape 2"/>
          <p:cNvSpPr/>
          <p:nvPr/>
        </p:nvSpPr>
        <p:spPr>
          <a:xfrm>
            <a:off x="6217920" y="1325880"/>
            <a:ext cx="5303520" cy="731520"/>
          </a:xfrm>
          <a:prstGeom prst="roundRect">
            <a:avLst>
              <a:gd name="adj" fmla="val 7500"/>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6327648" y="1399032"/>
            <a:ext cx="5084064" cy="58521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様式のセル構造（表・行・列）をAIが読み、どのセルに何を書くかを決めて転記する。</a:t>
            </a:r>
            <a:endParaRPr lang="en-US" sz="1100" dirty="0"/>
          </a:p>
        </p:txBody>
      </p:sp>
      <p:sp>
        <p:nvSpPr>
          <p:cNvPr id="7" name="Text 4"/>
          <p:cNvSpPr txBox="1"/>
          <p:nvPr/>
        </p:nvSpPr>
        <p:spPr>
          <a:xfrm>
            <a:off x="6217920" y="2240280"/>
            <a:ext cx="5303520" cy="640080"/>
          </a:xfrm>
          <a:prstGeom prst="rect">
            <a:avLst/>
          </a:prstGeom>
          <a:noFill/>
          <a:ln/>
        </p:spPr>
        <p:txBody>
          <a:bodyPr wrap="square" lIns="0" tIns="0" rIns="0" bIns="0" rtlCol="0" anchor="t"/>
          <a:lstStyle/>
          <a:p>
            <a:pPr algn="l" indent="0" marL="0">
              <a:lnSpc>
                <a:spcPct val="125000"/>
              </a:lnSpc>
              <a:buNone/>
            </a:pPr>
            <a:r>
              <a:rPr lang="en-US" sz="1350" dirty="0">
                <a:solidFill>
                  <a:srgbClr val="1F2A37"/>
                </a:solidFill>
                <a:latin typeface="Meiryo" pitchFamily="34" charset="0"/>
                <a:ea typeface="Meiryo" pitchFamily="34" charset="-122"/>
                <a:cs typeface="Meiryo" pitchFamily="34" charset="-120"/>
              </a:rPr>
              <a:t>登録申請書（第1号）に加え、実施計画書（第6号）、手術申請書（第4号）、活動報告書（第5号）にも対応。出力書類を印刷して提出するだけの状態に整える。</a:t>
            </a:r>
            <a:endParaRPr lang="en-US" sz="1350" dirty="0"/>
          </a:p>
        </p:txBody>
      </p:sp>
      <p:pic>
        <p:nvPicPr>
          <p:cNvPr id="8" name="Image 1" descr="/home/user/VORN/docs/deck3/docs.jpg">    </p:cNvPr>
          <p:cNvPicPr>
            <a:picLocks noChangeAspect="1"/>
          </p:cNvPicPr>
          <p:nvPr/>
        </p:nvPicPr>
        <p:blipFill>
          <a:blip r:embed="rId2"/>
          <a:srcRect l="0" r="99974" t="0" b="99974"/>
          <a:stretch/>
        </p:blipFill>
        <p:spPr>
          <a:xfrm>
            <a:off x="6217920" y="3017520"/>
            <a:ext cx="1400" cy="531"/>
          </a:xfrm>
          <a:prstGeom prst="rect">
            <a:avLst/>
          </a:prstGeom>
        </p:spPr>
      </p:pic>
      <p:sp>
        <p:nvSpPr>
          <p:cNvPr id="9" name="Shape 5"/>
          <p:cNvSpPr/>
          <p:nvPr/>
        </p:nvSpPr>
        <p:spPr>
          <a:xfrm>
            <a:off x="6217920" y="3017520"/>
            <a:ext cx="5303520" cy="2011680"/>
          </a:xfrm>
          <a:prstGeom prst="rect">
            <a:avLst/>
          </a:prstGeom>
          <a:ln w="9525">
            <a:solidFill>
              <a:srgbClr val="D5DBE1"/>
            </a:solidFill>
            <a:prstDash val="solid"/>
          </a:ln>
        </p:spPr>
      </p:sp>
      <p:sp>
        <p:nvSpPr>
          <p:cNvPr id="10" name="Text 6"/>
          <p:cNvSpPr txBox="1"/>
          <p:nvPr/>
        </p:nvSpPr>
        <p:spPr>
          <a:xfrm>
            <a:off x="6217920" y="5074920"/>
            <a:ext cx="5303520" cy="36576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画面上の項目一覧。「要確認」は記載例と照らして確認が要る欄。</a:t>
            </a:r>
            <a:endParaRPr lang="en-US" sz="950" dirty="0"/>
          </a:p>
        </p:txBody>
      </p:sp>
      <p:sp>
        <p:nvSpPr>
          <p:cNvPr id="11" name="Text 7"/>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左：第1号様式 まちねこ活動登録申請書（配布 touroku.docx）に転記した結果。掲載画面の転記（セル判定）の応答はモック。本番経路ではAIが行う設計だが実APIは未検証。</a:t>
            </a:r>
            <a:endParaRPr lang="en-US" sz="800" dirty="0"/>
          </a:p>
        </p:txBody>
      </p:sp>
      <p:sp>
        <p:nvSpPr>
          <p:cNvPr id="12" name="Text 8"/>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更新期限が迫る活動地域を失効前に把握、未届による脱落を防止</a:t>
            </a:r>
            <a:endParaRPr lang="en-US" sz="2400" dirty="0"/>
          </a:p>
        </p:txBody>
      </p:sp>
      <p:pic>
        <p:nvPicPr>
          <p:cNvPr id="3" name="Image 0" descr="/home/user/VORN/docs/deck3/city_list.jpg">    </p:cNvPr>
          <p:cNvPicPr>
            <a:picLocks noChangeAspect="1"/>
          </p:cNvPicPr>
          <p:nvPr/>
        </p:nvPicPr>
        <p:blipFill>
          <a:blip r:embed="rId1"/>
          <a:stretch>
            <a:fillRect/>
          </a:stretch>
        </p:blipFill>
        <p:spPr>
          <a:xfrm>
            <a:off x="685800" y="1280160"/>
            <a:ext cx="6766560" cy="914400"/>
          </a:xfrm>
          <a:prstGeom prst="rect">
            <a:avLst/>
          </a:prstGeom>
        </p:spPr>
      </p:pic>
      <p:sp>
        <p:nvSpPr>
          <p:cNvPr id="4" name="Shape 1"/>
          <p:cNvSpPr/>
          <p:nvPr/>
        </p:nvSpPr>
        <p:spPr>
          <a:xfrm>
            <a:off x="685800" y="1280160"/>
            <a:ext cx="6766560" cy="2165299"/>
          </a:xfrm>
          <a:prstGeom prst="rect">
            <a:avLst/>
          </a:prstGeom>
          <a:ln w="9525">
            <a:solidFill>
              <a:srgbClr val="D5DBE1"/>
            </a:solidFill>
            <a:prstDash val="solid"/>
          </a:ln>
        </p:spPr>
      </p:sp>
      <p:sp>
        <p:nvSpPr>
          <p:cNvPr id="5" name="Shape 2"/>
          <p:cNvSpPr/>
          <p:nvPr/>
        </p:nvSpPr>
        <p:spPr>
          <a:xfrm>
            <a:off x="4754880" y="2057400"/>
            <a:ext cx="2651760" cy="640080"/>
          </a:xfrm>
          <a:prstGeom prst="roundRect">
            <a:avLst>
              <a:gd name="adj" fmla="val 8571"/>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4864608" y="2130552"/>
            <a:ext cx="2432304" cy="49377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更新待ち → 期限超過。届出なしで切れる地域が見える。</a:t>
            </a:r>
            <a:endParaRPr lang="en-US" sz="1100" dirty="0"/>
          </a:p>
        </p:txBody>
      </p:sp>
      <p:pic>
        <p:nvPicPr>
          <p:cNvPr id="7" name="Image 1" descr="/home/user/VORN/docs/deck3/city_detail.jpg">    </p:cNvPr>
          <p:cNvPicPr>
            <a:picLocks noChangeAspect="1"/>
          </p:cNvPicPr>
          <p:nvPr/>
        </p:nvPicPr>
        <p:blipFill>
          <a:blip r:embed="rId2"/>
          <a:srcRect l="0" r="99979" t="0" b="99979"/>
          <a:stretch/>
        </p:blipFill>
        <p:spPr>
          <a:xfrm>
            <a:off x="685800" y="3582619"/>
            <a:ext cx="1400" cy="454"/>
          </a:xfrm>
          <a:prstGeom prst="rect">
            <a:avLst/>
          </a:prstGeom>
        </p:spPr>
      </p:pic>
      <p:sp>
        <p:nvSpPr>
          <p:cNvPr id="8" name="Shape 4"/>
          <p:cNvSpPr/>
          <p:nvPr/>
        </p:nvSpPr>
        <p:spPr>
          <a:xfrm>
            <a:off x="685800" y="3582619"/>
            <a:ext cx="6766560" cy="2194560"/>
          </a:xfrm>
          <a:prstGeom prst="rect">
            <a:avLst/>
          </a:prstGeom>
          <a:ln w="9525">
            <a:solidFill>
              <a:srgbClr val="D5DBE1"/>
            </a:solidFill>
            <a:prstDash val="solid"/>
          </a:ln>
        </p:spPr>
      </p:sp>
      <p:sp>
        <p:nvSpPr>
          <p:cNvPr id="9" name="Shape 5"/>
          <p:cNvSpPr/>
          <p:nvPr/>
        </p:nvSpPr>
        <p:spPr>
          <a:xfrm>
            <a:off x="7772400" y="1280160"/>
            <a:ext cx="3749040" cy="2743200"/>
          </a:xfrm>
          <a:prstGeom prst="roundRect">
            <a:avLst>
              <a:gd name="adj" fmla="val 2667"/>
            </a:avLst>
          </a:prstGeom>
          <a:solidFill>
            <a:srgbClr val="F1F4F7"/>
          </a:solidFill>
          <a:ln w="12700">
            <a:solidFill>
              <a:srgbClr val="F1F4F7"/>
            </a:solidFill>
            <a:prstDash val="solid"/>
          </a:ln>
        </p:spPr>
      </p:sp>
      <p:sp>
        <p:nvSpPr>
          <p:cNvPr id="10" name="Text 6"/>
          <p:cNvSpPr txBox="1"/>
          <p:nvPr/>
        </p:nvSpPr>
        <p:spPr>
          <a:xfrm>
            <a:off x="7955280" y="1417320"/>
            <a:ext cx="3383280" cy="2468880"/>
          </a:xfrm>
          <a:prstGeom prst="rect">
            <a:avLst/>
          </a:prstGeom>
          <a:noFill/>
          <a:ln/>
        </p:spPr>
        <p:txBody>
          <a:bodyPr wrap="square" lIns="0" tIns="0" rIns="0" bIns="0" rtlCol="0" anchor="t"/>
          <a:lstStyle/>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事前チェックを経た不備のない申請データを受理でき、差し戻し対応を削減。</a:t>
            </a:r>
            <a:endParaRPr lang="en-US" sz="1250" dirty="0"/>
          </a:p>
          <a:p>
            <a:pPr algn="l" indent="0" marL="0">
              <a:lnSpc>
                <a:spcPct val="125000"/>
              </a:lnSpc>
              <a:buNone/>
            </a:pPr>
            <a:endParaRPr lang="en-US" sz="1250" dirty="0"/>
          </a:p>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活動地域数の推移について、正常終了なのか未更新による脱落なのか実態を正確に把握可能。</a:t>
            </a:r>
            <a:endParaRPr lang="en-US" sz="1250" dirty="0"/>
          </a:p>
          <a:p>
            <a:pPr algn="l" indent="0" marL="0">
              <a:lnSpc>
                <a:spcPct val="125000"/>
              </a:lnSpc>
              <a:buNone/>
            </a:pPr>
            <a:endParaRPr lang="en-US" sz="1250" dirty="0"/>
          </a:p>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台帳データは日々の申請・報告から自動集約されるため、引き継ぎ用の追加手入力は不要。</a:t>
            </a:r>
            <a:endParaRPr lang="en-US" sz="1250" dirty="0"/>
          </a:p>
        </p:txBody>
      </p:sp>
      <p:sp>
        <p:nvSpPr>
          <p:cNvPr id="11" name="Text 7"/>
          <p:cNvSpPr txBox="1"/>
          <p:nvPr/>
        </p:nvSpPr>
        <p:spPr>
          <a:xfrm>
            <a:off x="7772400" y="4160520"/>
            <a:ext cx="3749040" cy="64008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状態は要綱の期日ルール（報告は登録日と同月日から30日以内、更新は満了日の30日前から）と報告履歴から計算。</a:t>
            </a:r>
            <a:endParaRPr lang="en-US" sz="950" dirty="0"/>
          </a:p>
        </p:txBody>
      </p:sp>
      <p:sp>
        <p:nvSpPr>
          <p:cNvPr id="12" name="Text 8"/>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画面はプロトタイプ（自治体面：京都市医療衛生センター）。台帳の他4件はダミー。出典：京都市要綱 第7条3項</a:t>
            </a:r>
            <a:endParaRPr lang="en-US" sz="800" dirty="0"/>
          </a:p>
        </p:txBody>
      </p:sp>
      <p:sp>
        <p:nvSpPr>
          <p:cNvPr id="13" name="Text 9"/>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担い手の業務負荷はどう変わるか（導入前後の対比）</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280160"/>
          <a:ext cx="10817352" cy="914400"/>
        </p:xfrm>
        <a:graphic>
          <a:graphicData uri="http://schemas.openxmlformats.org/drawingml/2006/table">
            <a:tbl>
              <a:tblPr/>
              <a:tblGrid>
                <a:gridCol w="4754880"/>
                <a:gridCol w="6062472"/>
              </a:tblGrid>
              <a:tr h="420624">
                <a:tc>
                  <a:txBody>
                    <a:bodyPr/>
                    <a:lstStyle/>
                    <a:p>
                      <a:pPr indent="0" marL="0">
                        <a:buNone/>
                      </a:pPr>
                      <a:r>
                        <a:rPr lang="en-US" sz="1250" b="1" dirty="0">
                          <a:solidFill>
                            <a:srgbClr val="1F2A37"/>
                          </a:solidFill>
                          <a:latin typeface="Meiryo" pitchFamily="34" charset="0"/>
                          <a:ea typeface="Meiryo" pitchFamily="34" charset="-122"/>
                          <a:cs typeface="Meiryo" pitchFamily="34" charset="-120"/>
                        </a:rPr>
                        <a:t>以前</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4F7"/>
                    </a:solidFill>
                  </a:tcPr>
                </a:tc>
                <a:tc>
                  <a:txBody>
                    <a:bodyPr/>
                    <a:lstStyle/>
                    <a:p>
                      <a:pPr indent="0" marL="0">
                        <a:buNone/>
                      </a:pPr>
                      <a:r>
                        <a:rPr lang="en-US" sz="1250" b="1" dirty="0">
                          <a:solidFill>
                            <a:srgbClr val="1F2A37"/>
                          </a:solidFill>
                          <a:latin typeface="Meiryo" pitchFamily="34" charset="0"/>
                          <a:ea typeface="Meiryo" pitchFamily="34" charset="-122"/>
                          <a:cs typeface="Meiryo" pitchFamily="34" charset="-120"/>
                        </a:rPr>
                        <a:t>今</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4F7"/>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①要綱の読解に苦慮</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対話を通じて該当条文と要件を提示</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④指定様式への手書き作成</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配布DOCXフォーマットへ自動転記</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⑤不備による差し戻し</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提出前の事前チェックで不備を解消</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⑥開庁時間内の電話問い合わせ</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24時間いつでも対話形式で確認可能</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⑦受付日・有効期限の自己管理</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自動計算により期日に促す（高島市：逃すと+30日、を事前に可視化）</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⑨⑩報告・更新忘れによる職権抹消</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期日前の通知と簡単な対話で報告様式を生成</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r h="420624">
                <a:tc>
                  <a:txBody>
                    <a:bodyPr/>
                    <a:lstStyle/>
                    <a:p>
                      <a:pPr indent="0" marL="0">
                        <a:buNone/>
                      </a:pPr>
                      <a:r>
                        <a:rPr lang="en-US" sz="1250" dirty="0">
                          <a:solidFill>
                            <a:srgbClr val="1F2A37"/>
                          </a:solidFill>
                          <a:latin typeface="Meiryo" pitchFamily="34" charset="0"/>
                          <a:ea typeface="Meiryo" pitchFamily="34" charset="-122"/>
                          <a:cs typeface="Meiryo" pitchFamily="34" charset="-120"/>
                        </a:rPr>
                        <a:t>⑪担い手の離脱による活動記録の喪失</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250" dirty="0">
                          <a:solidFill>
                            <a:srgbClr val="1F2A37"/>
                          </a:solidFill>
                          <a:latin typeface="Meiryo" pitchFamily="34" charset="0"/>
                          <a:ea typeface="Meiryo" pitchFamily="34" charset="-122"/>
                          <a:cs typeface="Meiryo" pitchFamily="34" charset="-120"/>
                        </a:rPr>
                        <a:t>行政台帳へデータが蓄積され確実に引き継がれる</a:t>
                      </a:r>
                      <a:endParaRPr lang="en-US" sz="1250" dirty="0">
                        <a:latin typeface="Meiryo" charset="0"/>
                        <a:ea typeface="Meiryo" charset="0"/>
                        <a:cs typeface="Meiryo" charset="0"/>
                      </a:endParaRPr>
                    </a:p>
                  </a:txBody>
                  <a:tcPr marL="73152" marR="73152" marT="73152" marB="73152"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9F3"/>
                    </a:solidFill>
                  </a:tcPr>
                </a:tc>
              </a:tr>
            </a:tbl>
          </a:graphicData>
        </a:graphic>
      </p:graphicFrame>
      <p:sp>
        <p:nvSpPr>
          <p:cNvPr id="4" name="Text 1"/>
          <p:cNvSpPr txBox="1"/>
          <p:nvPr/>
        </p:nvSpPr>
        <p:spPr>
          <a:xfrm>
            <a:off x="685800" y="4846320"/>
            <a:ext cx="10817352" cy="365760"/>
          </a:xfrm>
          <a:prstGeom prst="rect">
            <a:avLst/>
          </a:prstGeom>
          <a:noFill/>
          <a:ln/>
        </p:spPr>
        <p:txBody>
          <a:bodyPr wrap="square" lIns="0" tIns="0" rIns="0" bIns="0" rtlCol="0" anchor="t"/>
          <a:lstStyle/>
          <a:p>
            <a:pPr algn="l" indent="0" marL="0">
              <a:lnSpc>
                <a:spcPct val="125000"/>
              </a:lnSpc>
              <a:buNone/>
            </a:pPr>
            <a:r>
              <a:rPr lang="en-US" sz="1300" dirty="0">
                <a:solidFill>
                  <a:srgbClr val="5B6570"/>
                </a:solidFill>
                <a:latin typeface="Meiryo" pitchFamily="34" charset="0"/>
                <a:ea typeface="Meiryo" pitchFamily="34" charset="-122"/>
                <a:cs typeface="Meiryo" pitchFamily="34" charset="-120"/>
              </a:rPr>
              <a:t>システムで代替せず人が担うべき領域：合意形成と捕獲実務（②人集め ③町内会への説明 ⑧捕獲）</a:t>
            </a:r>
            <a:endParaRPr lang="en-US" sz="1300" dirty="0"/>
          </a:p>
        </p:txBody>
      </p:sp>
      <p:sp>
        <p:nvSpPr>
          <p:cNvPr id="5" name="Text 2"/>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右列は規則から導ける変化のみ。審査・手術日の待ちは消えない。</a:t>
            </a:r>
            <a:endParaRPr lang="en-US" sz="800" dirty="0"/>
          </a:p>
        </p:txBody>
      </p:sp>
      <p:sp>
        <p:nvSpPr>
          <p:cNvPr id="6" name="Text 3"/>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82296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要綱データの差し替えのみで他自治体へ展開可能、規則をコードに依存させない構造</a:t>
            </a:r>
            <a:endParaRPr lang="en-US" sz="2400" dirty="0"/>
          </a:p>
        </p:txBody>
      </p:sp>
      <p:pic>
        <p:nvPicPr>
          <p:cNvPr id="3" name="Image 0" descr="/home/user/VORN/docs/deck3/tk_sim_tiles.jpg">    </p:cNvPr>
          <p:cNvPicPr>
            <a:picLocks noChangeAspect="1"/>
          </p:cNvPicPr>
          <p:nvPr/>
        </p:nvPicPr>
        <p:blipFill>
          <a:blip r:embed="rId1"/>
          <a:stretch>
            <a:fillRect/>
          </a:stretch>
        </p:blipFill>
        <p:spPr>
          <a:xfrm>
            <a:off x="685800" y="1463040"/>
            <a:ext cx="7863840" cy="914400"/>
          </a:xfrm>
          <a:prstGeom prst="rect">
            <a:avLst/>
          </a:prstGeom>
        </p:spPr>
      </p:pic>
      <p:sp>
        <p:nvSpPr>
          <p:cNvPr id="4" name="Shape 1"/>
          <p:cNvSpPr/>
          <p:nvPr/>
        </p:nvSpPr>
        <p:spPr>
          <a:xfrm>
            <a:off x="685800" y="1463040"/>
            <a:ext cx="7863840" cy="1471661"/>
          </a:xfrm>
          <a:prstGeom prst="rect">
            <a:avLst/>
          </a:prstGeom>
          <a:ln w="9525">
            <a:solidFill>
              <a:srgbClr val="D5DBE1"/>
            </a:solidFill>
            <a:prstDash val="solid"/>
          </a:ln>
        </p:spPr>
      </p:sp>
      <p:sp>
        <p:nvSpPr>
          <p:cNvPr id="5" name="Shape 2"/>
          <p:cNvSpPr/>
          <p:nvPr/>
        </p:nvSpPr>
        <p:spPr>
          <a:xfrm>
            <a:off x="8778240" y="1554480"/>
            <a:ext cx="2743200" cy="1005840"/>
          </a:xfrm>
          <a:prstGeom prst="roundRect">
            <a:avLst>
              <a:gd name="adj" fmla="val 5455"/>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8887968" y="1627632"/>
            <a:ext cx="2523744" cy="85953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+30日。この受付（毎月6日〜末日）を逃すと、チケットの有効月が1か月遅れる。</a:t>
            </a:r>
            <a:endParaRPr lang="en-US" sz="1100" dirty="0"/>
          </a:p>
        </p:txBody>
      </p:sp>
      <p:pic>
        <p:nvPicPr>
          <p:cNvPr id="7" name="Image 1" descr="/home/user/VORN/docs/deck3/tk_rules.jpg">    </p:cNvPr>
          <p:cNvPicPr>
            <a:picLocks noChangeAspect="1"/>
          </p:cNvPicPr>
          <p:nvPr/>
        </p:nvPicPr>
        <p:blipFill>
          <a:blip r:embed="rId2"/>
          <a:srcRect l="0" r="99976" t="0" b="99976"/>
          <a:stretch/>
        </p:blipFill>
        <p:spPr>
          <a:xfrm>
            <a:off x="685800" y="3840480"/>
            <a:ext cx="1400" cy="350"/>
          </a:xfrm>
          <a:prstGeom prst="rect">
            <a:avLst/>
          </a:prstGeom>
        </p:spPr>
      </p:pic>
      <p:sp>
        <p:nvSpPr>
          <p:cNvPr id="8" name="Shape 4"/>
          <p:cNvSpPr/>
          <p:nvPr/>
        </p:nvSpPr>
        <p:spPr>
          <a:xfrm>
            <a:off x="685800" y="3840480"/>
            <a:ext cx="5852160" cy="1463040"/>
          </a:xfrm>
          <a:prstGeom prst="rect">
            <a:avLst/>
          </a:prstGeom>
          <a:ln w="9525">
            <a:solidFill>
              <a:srgbClr val="D5DBE1"/>
            </a:solidFill>
            <a:prstDash val="solid"/>
          </a:ln>
        </p:spPr>
      </p:sp>
      <p:sp>
        <p:nvSpPr>
          <p:cNvPr id="9" name="Text 5"/>
          <p:cNvSpPr txBox="1"/>
          <p:nvPr/>
        </p:nvSpPr>
        <p:spPr>
          <a:xfrm>
            <a:off x="685800" y="5349240"/>
            <a:ext cx="585216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高島市の資料から抽出した規則に照らした判定。受付の値は市HP本文から抽出。交付要綱PDFは未取得。</a:t>
            </a:r>
            <a:endParaRPr lang="en-US" sz="950" dirty="0"/>
          </a:p>
        </p:txBody>
      </p:sp>
      <p:sp>
        <p:nvSpPr>
          <p:cNvPr id="10" name="Text 6"/>
          <p:cNvSpPr txBox="1"/>
          <p:nvPr/>
        </p:nvSpPr>
        <p:spPr>
          <a:xfrm>
            <a:off x="6766560" y="3840480"/>
            <a:ext cx="4754880" cy="1828800"/>
          </a:xfrm>
          <a:prstGeom prst="rect">
            <a:avLst/>
          </a:prstGeom>
          <a:noFill/>
          <a:ln/>
        </p:spPr>
        <p:txBody>
          <a:bodyPr wrap="square" lIns="0" tIns="0" rIns="0" bIns="0" rtlCol="0" anchor="t"/>
          <a:lstStyle/>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京都市（登録型）と高島市（基金チケット型）は仕組みが違うが、同じ画面・同じコード。</a:t>
            </a:r>
            <a:endParaRPr lang="en-US" sz="1250" dirty="0"/>
          </a:p>
          <a:p>
            <a:pPr algn="l" indent="0" marL="0">
              <a:lnSpc>
                <a:spcPct val="125000"/>
              </a:lnSpc>
              <a:buNone/>
            </a:pPr>
            <a:endParaRPr lang="en-US" sz="1250" dirty="0"/>
          </a:p>
          <a:p>
            <a:pPr algn="l" indent="0" marL="0">
              <a:lnSpc>
                <a:spcPct val="125000"/>
              </a:lnSpc>
              <a:buNone/>
            </a:pPr>
            <a:r>
              <a:rPr lang="en-US" sz="1250" dirty="0">
                <a:solidFill>
                  <a:srgbClr val="1F2A37"/>
                </a:solidFill>
                <a:latin typeface="Meiryo" pitchFamily="34" charset="0"/>
                <a:ea typeface="Meiryo" pitchFamily="34" charset="-122"/>
                <a:cs typeface="Meiryo" pitchFamily="34" charset="-120"/>
              </a:rPr>
              <a:t>「住民申請・厳密な期限管理・定期報告と更新・ボランティアへの依存」という構造を持つ行政手続きは、地域猫活動以外にも幅広く存在する。</a:t>
            </a:r>
            <a:endParaRPr lang="en-US" sz="1250" dirty="0"/>
          </a:p>
        </p:txBody>
      </p:sp>
      <p:sp>
        <p:nvSpPr>
          <p:cNvPr id="11" name="Text 7"/>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画面はプロトタイプ（高島市プロファイル）。掲載画面の規則・受付期間の抽出の応答はモック。本番経路ではAIが行う設計だが実APIは未検証。出典：高島市 環境政策課ページ／どうぶつ基金 チケットFAQ・登録規約</a:t>
            </a:r>
            <a:endParaRPr lang="en-US" sz="800" dirty="0"/>
          </a:p>
        </p:txBody>
      </p:sp>
      <p:sp>
        <p:nvSpPr>
          <p:cNvPr id="12" name="Text 8"/>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82296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自治体ごとに異なる自然言語のルールを、AIが利用者に代わって読解・追跡</a:t>
            </a:r>
            <a:endParaRPr lang="en-US" sz="2400" dirty="0"/>
          </a:p>
        </p:txBody>
      </p:sp>
      <p:sp>
        <p:nvSpPr>
          <p:cNvPr id="3" name="Text 1"/>
          <p:cNvSpPr txBox="1"/>
          <p:nvPr/>
        </p:nvSpPr>
        <p:spPr>
          <a:xfrm>
            <a:off x="685800" y="1554480"/>
            <a:ext cx="5852160" cy="2743200"/>
          </a:xfrm>
          <a:prstGeom prst="rect">
            <a:avLst/>
          </a:prstGeom>
          <a:noFill/>
          <a:ln/>
        </p:spPr>
        <p:txBody>
          <a:bodyPr wrap="square" lIns="0" tIns="0" rIns="0" bIns="0" rtlCol="0" anchor="t"/>
          <a:lstStyle/>
          <a:p>
            <a:pPr algn="l" indent="0" marL="0">
              <a:lnSpc>
                <a:spcPct val="125000"/>
              </a:lnSpc>
              <a:buNone/>
            </a:pPr>
            <a:r>
              <a:rPr lang="en-US" sz="1500" dirty="0">
                <a:solidFill>
                  <a:srgbClr val="1F2A37"/>
                </a:solidFill>
                <a:latin typeface="Meiryo" pitchFamily="34" charset="0"/>
                <a:ea typeface="Meiryo" pitchFamily="34" charset="-122"/>
                <a:cs typeface="Meiryo" pitchFamily="34" charset="-120"/>
              </a:rPr>
              <a:t>本エンジンが処理する対象は「猫の要綱」に限定されず、「自治体が自然言語で公開する要綱と様式そのもの」。</a:t>
            </a:r>
            <a:endParaRPr lang="en-US" sz="1500" dirty="0"/>
          </a:p>
          <a:p>
            <a:pPr algn="l" indent="0" marL="0">
              <a:lnSpc>
                <a:spcPct val="125000"/>
              </a:lnSpc>
              <a:buNone/>
            </a:pPr>
            <a:endParaRPr lang="en-US" sz="1500" dirty="0"/>
          </a:p>
          <a:p>
            <a:pPr algn="l" indent="0" marL="0">
              <a:lnSpc>
                <a:spcPct val="125000"/>
              </a:lnSpc>
              <a:buNone/>
            </a:pPr>
            <a:r>
              <a:rPr lang="en-US" sz="1500" dirty="0">
                <a:solidFill>
                  <a:srgbClr val="1F2A37"/>
                </a:solidFill>
                <a:latin typeface="Meiryo" pitchFamily="34" charset="0"/>
                <a:ea typeface="Meiryo" pitchFamily="34" charset="-122"/>
                <a:cs typeface="Meiryo" pitchFamily="34" charset="-120"/>
              </a:rPr>
              <a:t>地域猫活動は、施策効果が実証されている一方で担い手不足が深刻であり、行政側も手続きの複雑さを課題視しているため、最初の適用対象として着手。</a:t>
            </a:r>
            <a:endParaRPr lang="en-US" sz="1500" dirty="0"/>
          </a:p>
        </p:txBody>
      </p:sp>
      <p:sp>
        <p:nvSpPr>
          <p:cNvPr id="4" name="Shape 2"/>
          <p:cNvSpPr/>
          <p:nvPr/>
        </p:nvSpPr>
        <p:spPr>
          <a:xfrm>
            <a:off x="8229600" y="1737360"/>
            <a:ext cx="2194560" cy="822960"/>
          </a:xfrm>
          <a:prstGeom prst="roundRect">
            <a:avLst>
              <a:gd name="adj" fmla="val 6667"/>
            </a:avLst>
          </a:prstGeom>
          <a:solidFill>
            <a:srgbClr val="1F2A37"/>
          </a:solidFill>
          <a:ln w="12700">
            <a:solidFill>
              <a:srgbClr val="1F2A37"/>
            </a:solidFill>
            <a:prstDash val="solid"/>
          </a:ln>
        </p:spPr>
      </p:sp>
      <p:sp>
        <p:nvSpPr>
          <p:cNvPr id="5" name="Text 3"/>
          <p:cNvSpPr txBox="1"/>
          <p:nvPr/>
        </p:nvSpPr>
        <p:spPr>
          <a:xfrm>
            <a:off x="8229600" y="1737360"/>
            <a:ext cx="2194560" cy="822960"/>
          </a:xfrm>
          <a:prstGeom prst="rect">
            <a:avLst/>
          </a:prstGeom>
          <a:noFill/>
          <a:ln/>
        </p:spPr>
        <p:txBody>
          <a:bodyPr wrap="square" lIns="635" tIns="635" rIns="635" bIns="635" rtlCol="0" anchor="ctr"/>
          <a:lstStyle/>
          <a:p>
            <a:pPr algn="ctr" indent="0" marL="0">
              <a:buNone/>
            </a:pPr>
            <a:r>
              <a:rPr lang="en-US" sz="1400" dirty="0">
                <a:solidFill>
                  <a:srgbClr val="FFFFFF"/>
                </a:solidFill>
                <a:latin typeface="Meiryo" pitchFamily="34" charset="0"/>
                <a:ea typeface="Meiryo" pitchFamily="34" charset="-122"/>
                <a:cs typeface="Meiryo" pitchFamily="34" charset="-120"/>
              </a:rPr>
              <a:t>同じエンジン</a:t>
            </a:r>
            <a:endParaRPr lang="en-US" sz="1400" dirty="0"/>
          </a:p>
        </p:txBody>
      </p:sp>
      <p:sp>
        <p:nvSpPr>
          <p:cNvPr id="6" name="Shape 4"/>
          <p:cNvSpPr/>
          <p:nvPr/>
        </p:nvSpPr>
        <p:spPr>
          <a:xfrm>
            <a:off x="7315200" y="3474720"/>
            <a:ext cx="1371600" cy="640080"/>
          </a:xfrm>
          <a:prstGeom prst="roundRect">
            <a:avLst>
              <a:gd name="adj" fmla="val 8571"/>
            </a:avLst>
          </a:prstGeom>
          <a:solidFill>
            <a:srgbClr val="F1F4F7"/>
          </a:solidFill>
          <a:ln w="12700">
            <a:solidFill>
              <a:srgbClr val="C9D1D9"/>
            </a:solidFill>
            <a:prstDash val="solid"/>
          </a:ln>
        </p:spPr>
      </p:sp>
      <p:sp>
        <p:nvSpPr>
          <p:cNvPr id="7" name="Text 5"/>
          <p:cNvSpPr txBox="1"/>
          <p:nvPr/>
        </p:nvSpPr>
        <p:spPr>
          <a:xfrm>
            <a:off x="7315200" y="3474720"/>
            <a:ext cx="1371600" cy="640080"/>
          </a:xfrm>
          <a:prstGeom prst="rect">
            <a:avLst/>
          </a:prstGeom>
          <a:noFill/>
          <a:ln/>
        </p:spPr>
        <p:txBody>
          <a:bodyPr wrap="square" lIns="635" tIns="635" rIns="635" bIns="635" rtlCol="0" anchor="ctr"/>
          <a:lstStyle/>
          <a:p>
            <a:pPr algn="ctr" indent="0" marL="0">
              <a:buNone/>
            </a:pPr>
            <a:r>
              <a:rPr lang="en-US" sz="1200" dirty="0">
                <a:solidFill>
                  <a:srgbClr val="1F2A37"/>
                </a:solidFill>
                <a:latin typeface="Meiryo" pitchFamily="34" charset="0"/>
                <a:ea typeface="Meiryo" pitchFamily="34" charset="-122"/>
                <a:cs typeface="Meiryo" pitchFamily="34" charset="-120"/>
              </a:rPr>
              <a:t>京都市</a:t>
            </a:r>
            <a:endParaRPr lang="en-US" sz="1200" dirty="0"/>
          </a:p>
        </p:txBody>
      </p:sp>
      <p:sp>
        <p:nvSpPr>
          <p:cNvPr id="8" name="Shape 6"/>
          <p:cNvSpPr/>
          <p:nvPr/>
        </p:nvSpPr>
        <p:spPr>
          <a:xfrm>
            <a:off x="8686800" y="3474720"/>
            <a:ext cx="1371600" cy="640080"/>
          </a:xfrm>
          <a:prstGeom prst="roundRect">
            <a:avLst>
              <a:gd name="adj" fmla="val 8571"/>
            </a:avLst>
          </a:prstGeom>
          <a:solidFill>
            <a:srgbClr val="F1F4F7"/>
          </a:solidFill>
          <a:ln w="12700">
            <a:solidFill>
              <a:srgbClr val="C9D1D9"/>
            </a:solidFill>
            <a:prstDash val="solid"/>
          </a:ln>
        </p:spPr>
      </p:sp>
      <p:sp>
        <p:nvSpPr>
          <p:cNvPr id="9" name="Text 7"/>
          <p:cNvSpPr txBox="1"/>
          <p:nvPr/>
        </p:nvSpPr>
        <p:spPr>
          <a:xfrm>
            <a:off x="8686800" y="3474720"/>
            <a:ext cx="1371600" cy="640080"/>
          </a:xfrm>
          <a:prstGeom prst="rect">
            <a:avLst/>
          </a:prstGeom>
          <a:noFill/>
          <a:ln/>
        </p:spPr>
        <p:txBody>
          <a:bodyPr wrap="square" lIns="635" tIns="635" rIns="635" bIns="635" rtlCol="0" anchor="ctr"/>
          <a:lstStyle/>
          <a:p>
            <a:pPr algn="ctr" indent="0" marL="0">
              <a:buNone/>
            </a:pPr>
            <a:r>
              <a:rPr lang="en-US" sz="1200" dirty="0">
                <a:solidFill>
                  <a:srgbClr val="1F2A37"/>
                </a:solidFill>
                <a:latin typeface="Meiryo" pitchFamily="34" charset="0"/>
                <a:ea typeface="Meiryo" pitchFamily="34" charset="-122"/>
                <a:cs typeface="Meiryo" pitchFamily="34" charset="-120"/>
              </a:rPr>
              <a:t>高島市</a:t>
            </a:r>
            <a:endParaRPr lang="en-US" sz="1200" dirty="0"/>
          </a:p>
        </p:txBody>
      </p:sp>
      <p:sp>
        <p:nvSpPr>
          <p:cNvPr id="10" name="Shape 8"/>
          <p:cNvSpPr/>
          <p:nvPr/>
        </p:nvSpPr>
        <p:spPr>
          <a:xfrm>
            <a:off x="10058400" y="3474720"/>
            <a:ext cx="1188720" cy="640080"/>
          </a:xfrm>
          <a:prstGeom prst="roundRect">
            <a:avLst>
              <a:gd name="adj" fmla="val 8571"/>
            </a:avLst>
          </a:prstGeom>
          <a:solidFill>
            <a:srgbClr val="FFFFFF"/>
          </a:solidFill>
          <a:ln w="12700">
            <a:solidFill>
              <a:srgbClr val="C9D1D9"/>
            </a:solidFill>
            <a:prstDash val="dash"/>
          </a:ln>
        </p:spPr>
      </p:sp>
      <p:sp>
        <p:nvSpPr>
          <p:cNvPr id="11" name="Text 9"/>
          <p:cNvSpPr txBox="1"/>
          <p:nvPr/>
        </p:nvSpPr>
        <p:spPr>
          <a:xfrm>
            <a:off x="10058400" y="3474720"/>
            <a:ext cx="1188720" cy="640080"/>
          </a:xfrm>
          <a:prstGeom prst="rect">
            <a:avLst/>
          </a:prstGeom>
          <a:noFill/>
          <a:ln/>
        </p:spPr>
        <p:txBody>
          <a:bodyPr wrap="square" lIns="635" tIns="635" rIns="635" bIns="635" rtlCol="0" anchor="ctr"/>
          <a:lstStyle/>
          <a:p>
            <a:pPr algn="ctr" indent="0" marL="0">
              <a:buNone/>
            </a:pPr>
            <a:r>
              <a:rPr lang="en-US" sz="1200" dirty="0">
                <a:solidFill>
                  <a:srgbClr val="5B6570"/>
                </a:solidFill>
                <a:latin typeface="Meiryo" pitchFamily="34" charset="0"/>
                <a:ea typeface="Meiryo" pitchFamily="34" charset="-122"/>
                <a:cs typeface="Meiryo" pitchFamily="34" charset="-120"/>
              </a:rPr>
              <a:t>……</a:t>
            </a:r>
            <a:endParaRPr lang="en-US" sz="1200" dirty="0"/>
          </a:p>
        </p:txBody>
      </p:sp>
      <p:sp>
        <p:nvSpPr>
          <p:cNvPr id="12" name="Shape 10"/>
          <p:cNvSpPr/>
          <p:nvPr/>
        </p:nvSpPr>
        <p:spPr>
          <a:xfrm flipH="1">
            <a:off x="8001000" y="2560320"/>
            <a:ext cx="777240" cy="914400"/>
          </a:xfrm>
          <a:prstGeom prst="line">
            <a:avLst/>
          </a:prstGeom>
          <a:noFill/>
          <a:ln w="19050">
            <a:solidFill>
              <a:srgbClr val="5B6570"/>
            </a:solidFill>
            <a:prstDash val="solid"/>
          </a:ln>
        </p:spPr>
      </p:sp>
      <p:sp>
        <p:nvSpPr>
          <p:cNvPr id="13" name="Shape 11"/>
          <p:cNvSpPr/>
          <p:nvPr/>
        </p:nvSpPr>
        <p:spPr>
          <a:xfrm>
            <a:off x="9326880" y="2560320"/>
            <a:ext cx="45720" cy="914400"/>
          </a:xfrm>
          <a:prstGeom prst="line">
            <a:avLst/>
          </a:prstGeom>
          <a:noFill/>
          <a:ln w="19050">
            <a:solidFill>
              <a:srgbClr val="5B6570"/>
            </a:solidFill>
            <a:prstDash val="solid"/>
          </a:ln>
        </p:spPr>
      </p:sp>
      <p:sp>
        <p:nvSpPr>
          <p:cNvPr id="14" name="Shape 12"/>
          <p:cNvSpPr/>
          <p:nvPr/>
        </p:nvSpPr>
        <p:spPr>
          <a:xfrm>
            <a:off x="9875520" y="2560320"/>
            <a:ext cx="777240" cy="914400"/>
          </a:xfrm>
          <a:prstGeom prst="line">
            <a:avLst/>
          </a:prstGeom>
          <a:noFill/>
          <a:ln w="19050">
            <a:solidFill>
              <a:srgbClr val="5B6570"/>
            </a:solidFill>
            <a:prstDash val="solid"/>
          </a:ln>
        </p:spPr>
      </p:sp>
      <p:sp>
        <p:nvSpPr>
          <p:cNvPr id="15" name="Text 13"/>
          <p:cNvSpPr txBox="1"/>
          <p:nvPr/>
        </p:nvSpPr>
        <p:spPr>
          <a:xfrm>
            <a:off x="7315200" y="4297680"/>
            <a:ext cx="402336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要綱一式のフォルダを置くだけ</a:t>
            </a:r>
            <a:endParaRPr lang="en-US" sz="1000" dirty="0"/>
          </a:p>
        </p:txBody>
      </p:sp>
      <p:sp>
        <p:nvSpPr>
          <p:cNvPr id="16" name="Text 1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7" name="Text 1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京都市域から展開、動物病院と相談窓口を起点に利用者を支援</a:t>
            </a:r>
            <a:endParaRPr lang="en-US" sz="2400" dirty="0"/>
          </a:p>
        </p:txBody>
      </p:sp>
      <p:sp>
        <p:nvSpPr>
          <p:cNvPr id="3" name="Shape 1"/>
          <p:cNvSpPr/>
          <p:nvPr/>
        </p:nvSpPr>
        <p:spPr>
          <a:xfrm>
            <a:off x="685800" y="1371600"/>
            <a:ext cx="3474720" cy="2286000"/>
          </a:xfrm>
          <a:prstGeom prst="roundRect">
            <a:avLst>
              <a:gd name="adj" fmla="val 3200"/>
            </a:avLst>
          </a:prstGeom>
          <a:solidFill>
            <a:srgbClr val="F1F4F7"/>
          </a:solidFill>
          <a:ln w="12700">
            <a:solidFill>
              <a:srgbClr val="F1F4F7"/>
            </a:solidFill>
            <a:prstDash val="solid"/>
          </a:ln>
        </p:spPr>
      </p:sp>
      <p:sp>
        <p:nvSpPr>
          <p:cNvPr id="4" name="Text 2"/>
          <p:cNvSpPr txBox="1"/>
          <p:nvPr/>
        </p:nvSpPr>
        <p:spPr>
          <a:xfrm>
            <a:off x="868680" y="1508760"/>
            <a:ext cx="31089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展開経路</a:t>
            </a:r>
            <a:endParaRPr lang="en-US" sz="1500" dirty="0"/>
          </a:p>
        </p:txBody>
      </p:sp>
      <p:sp>
        <p:nvSpPr>
          <p:cNvPr id="5" name="Text 3"/>
          <p:cNvSpPr txBox="1"/>
          <p:nvPr/>
        </p:nvSpPr>
        <p:spPr>
          <a:xfrm>
            <a:off x="868680" y="1965960"/>
            <a:ext cx="3108960" cy="160020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京都市から立ち上げ。動物病院（京都市獣医師会）や行政の相談窓口を通じて案内。費用対効果として、自治体窓口の問い合わせ対応や不備対応に関わる事務コストを削減。</a:t>
            </a:r>
            <a:endParaRPr lang="en-US" sz="1200" dirty="0"/>
          </a:p>
        </p:txBody>
      </p:sp>
      <p:sp>
        <p:nvSpPr>
          <p:cNvPr id="6" name="Shape 4"/>
          <p:cNvSpPr/>
          <p:nvPr/>
        </p:nvSpPr>
        <p:spPr>
          <a:xfrm>
            <a:off x="4343400" y="1371600"/>
            <a:ext cx="3474720" cy="2286000"/>
          </a:xfrm>
          <a:prstGeom prst="roundRect">
            <a:avLst>
              <a:gd name="adj" fmla="val 3200"/>
            </a:avLst>
          </a:prstGeom>
          <a:solidFill>
            <a:srgbClr val="F1F4F7"/>
          </a:solidFill>
          <a:ln w="12700">
            <a:solidFill>
              <a:srgbClr val="F1F4F7"/>
            </a:solidFill>
            <a:prstDash val="solid"/>
          </a:ln>
        </p:spPr>
      </p:sp>
      <p:sp>
        <p:nvSpPr>
          <p:cNvPr id="7" name="Text 5"/>
          <p:cNvSpPr txBox="1"/>
          <p:nvPr/>
        </p:nvSpPr>
        <p:spPr>
          <a:xfrm>
            <a:off x="4526280" y="1508760"/>
            <a:ext cx="31089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指標</a:t>
            </a:r>
            <a:endParaRPr lang="en-US" sz="1500" dirty="0"/>
          </a:p>
        </p:txBody>
      </p:sp>
      <p:sp>
        <p:nvSpPr>
          <p:cNvPr id="8" name="Text 6"/>
          <p:cNvSpPr txBox="1"/>
          <p:nvPr/>
        </p:nvSpPr>
        <p:spPr>
          <a:xfrm>
            <a:off x="4526280" y="1965960"/>
            <a:ext cx="3108960" cy="160020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申請から手術までの日数／登録継続率（職権抹消の減少）／引継ぎ後に継続した地域数／センター収容の子猫数</a:t>
            </a:r>
            <a:endParaRPr lang="en-US" sz="1200" dirty="0"/>
          </a:p>
        </p:txBody>
      </p:sp>
      <p:sp>
        <p:nvSpPr>
          <p:cNvPr id="9" name="Shape 7"/>
          <p:cNvSpPr/>
          <p:nvPr/>
        </p:nvSpPr>
        <p:spPr>
          <a:xfrm>
            <a:off x="8001000" y="1371600"/>
            <a:ext cx="3474720" cy="2286000"/>
          </a:xfrm>
          <a:prstGeom prst="roundRect">
            <a:avLst>
              <a:gd name="adj" fmla="val 3200"/>
            </a:avLst>
          </a:prstGeom>
          <a:solidFill>
            <a:srgbClr val="F1F4F7"/>
          </a:solidFill>
          <a:ln w="12700">
            <a:solidFill>
              <a:srgbClr val="F1F4F7"/>
            </a:solidFill>
            <a:prstDash val="solid"/>
          </a:ln>
        </p:spPr>
      </p:sp>
      <p:sp>
        <p:nvSpPr>
          <p:cNvPr id="10" name="Text 8"/>
          <p:cNvSpPr txBox="1"/>
          <p:nvPr/>
        </p:nvSpPr>
        <p:spPr>
          <a:xfrm>
            <a:off x="8183880" y="1508760"/>
            <a:ext cx="3108960"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今後の検証課題と開発状況</a:t>
            </a:r>
            <a:endParaRPr lang="en-US" sz="1500" dirty="0"/>
          </a:p>
        </p:txBody>
      </p:sp>
      <p:sp>
        <p:nvSpPr>
          <p:cNvPr id="11" name="Text 9"/>
          <p:cNvSpPr txBox="1"/>
          <p:nvPr/>
        </p:nvSpPr>
        <p:spPr>
          <a:xfrm>
            <a:off x="8183880" y="1965960"/>
            <a:ext cx="3108960" cy="160020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審査通過後にセンター・基金への当事者ヒアリングを実施予定／高島市要綱PDFの取得と検証／API応答精度の検証を継続中（掲載画面はモック応答による検証環境で撮影）</a:t>
            </a:r>
            <a:endParaRPr lang="en-US" sz="1200" dirty="0"/>
          </a:p>
        </p:txBody>
      </p:sp>
      <p:sp>
        <p:nvSpPr>
          <p:cNvPr id="12" name="Shape 10"/>
          <p:cNvSpPr/>
          <p:nvPr/>
        </p:nvSpPr>
        <p:spPr>
          <a:xfrm>
            <a:off x="685800" y="3931920"/>
            <a:ext cx="10817352" cy="1371600"/>
          </a:xfrm>
          <a:prstGeom prst="roundRect">
            <a:avLst>
              <a:gd name="adj" fmla="val 5333"/>
            </a:avLst>
          </a:prstGeom>
          <a:solidFill>
            <a:srgbClr val="F1F4F7"/>
          </a:solidFill>
          <a:ln w="12700">
            <a:solidFill>
              <a:srgbClr val="F1F4F7"/>
            </a:solidFill>
            <a:prstDash val="solid"/>
          </a:ln>
        </p:spPr>
      </p:sp>
      <p:sp>
        <p:nvSpPr>
          <p:cNvPr id="13" name="Text 11"/>
          <p:cNvSpPr txBox="1"/>
          <p:nvPr/>
        </p:nvSpPr>
        <p:spPr>
          <a:xfrm>
            <a:off x="868680" y="4041648"/>
            <a:ext cx="10451592" cy="365760"/>
          </a:xfrm>
          <a:prstGeom prst="rect">
            <a:avLst/>
          </a:prstGeom>
          <a:noFill/>
          <a:ln/>
        </p:spPr>
        <p:txBody>
          <a:bodyPr wrap="square" lIns="0" tIns="0" rIns="0" bIns="0" rtlCol="0" anchor="t"/>
          <a:lstStyle/>
          <a:p>
            <a:pPr algn="l" indent="0" marL="0">
              <a:lnSpc>
                <a:spcPct val="125000"/>
              </a:lnSpc>
              <a:buNone/>
            </a:pPr>
            <a:r>
              <a:rPr lang="en-US" sz="1500" b="1" dirty="0">
                <a:solidFill>
                  <a:srgbClr val="1F2A37"/>
                </a:solidFill>
                <a:latin typeface="Meiryo" pitchFamily="34" charset="0"/>
                <a:ea typeface="Meiryo" pitchFamily="34" charset="-122"/>
                <a:cs typeface="Meiryo" pitchFamily="34" charset="-120"/>
              </a:rPr>
              <a:t>技術構成</a:t>
            </a:r>
            <a:endParaRPr lang="en-US" sz="1500" dirty="0"/>
          </a:p>
        </p:txBody>
      </p:sp>
      <p:sp>
        <p:nvSpPr>
          <p:cNvPr id="14" name="Text 12"/>
          <p:cNvSpPr txBox="1"/>
          <p:nvPr/>
        </p:nvSpPr>
        <p:spPr>
          <a:xfrm>
            <a:off x="868680" y="4480560"/>
            <a:ext cx="10451592" cy="7315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技術構成：Python／Streamlit／Anthropic API（Claude）／python-docx。京都市・高島市の2プロファイルで動作。要綱の規則はコードに書かず、資料フォルダから毎回抽出。日付の計算だけコード側。</a:t>
            </a:r>
            <a:endParaRPr lang="en-US" sz="1200" dirty="0"/>
          </a:p>
        </p:txBody>
      </p:sp>
      <p:sp>
        <p:nvSpPr>
          <p:cNvPr id="15" name="Text 13"/>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出典：京都市獣医師会 まちねこページ／京都市10年評価／どうぶつ基金 2022年度実績</a:t>
            </a:r>
            <a:endParaRPr lang="en-US" sz="800" dirty="0"/>
          </a:p>
        </p:txBody>
      </p:sp>
      <p:sp>
        <p:nvSpPr>
          <p:cNvPr id="16" name="Text 14"/>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548640"/>
          </a:xfrm>
          <a:prstGeom prst="rect">
            <a:avLst/>
          </a:prstGeom>
          <a:noFill/>
          <a:ln/>
        </p:spPr>
        <p:txBody>
          <a:bodyPr wrap="square" lIns="0" tIns="0" rIns="0" bIns="0" rtlCol="0" anchor="t"/>
          <a:lstStyle/>
          <a:p>
            <a:pPr indent="0" marL="0">
              <a:lnSpc>
                <a:spcPct val="115000"/>
              </a:lnSpc>
              <a:buNone/>
            </a:pPr>
            <a:r>
              <a:rPr lang="en-US" sz="2000" b="1" dirty="0">
                <a:solidFill>
                  <a:srgbClr val="1F2A37"/>
                </a:solidFill>
                <a:latin typeface="Meiryo" pitchFamily="34" charset="0"/>
                <a:ea typeface="Meiryo" pitchFamily="34" charset="-122"/>
                <a:cs typeface="Meiryo" pitchFamily="34" charset="-120"/>
              </a:rPr>
              <a:t>付録A　一次情報の出典</a:t>
            </a:r>
            <a:endParaRPr lang="en-US" sz="2000" dirty="0"/>
          </a:p>
        </p:txBody>
      </p:sp>
      <p:sp>
        <p:nvSpPr>
          <p:cNvPr id="3" name="Text 1"/>
          <p:cNvSpPr txBox="1"/>
          <p:nvPr/>
        </p:nvSpPr>
        <p:spPr>
          <a:xfrm>
            <a:off x="685800"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京都市（デモ対象）</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まちねこ活動支援事業</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https://www.city.kyoto.lg.jp/hokenfukushi/page/0000189400.html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要綱（令和6年4月1日改正）</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https://www.city.kyoto.lg.jp/hokenfukushi/cmsfiles/contents/0000189/189400/yoko060401.pdf</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第1号様式 …/touroku.docx／第6号様式 …/jissikeikaku.docx／記載例 …/rei_touroku.pdf, …/rei_jissikeikaku.pdf／参考様式 …/osirase.pdf（同ディレクトリ）</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10年間の事業評価</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https://www.city.kyoto.lg.jp/hokenfukushi/page/0000277536.html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京都市獣医師会</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https://www.kyoto-shiju.or.jp/machineko.html</a:t>
            </a:r>
            <a:endParaRPr lang="en-US" sz="850" dirty="0"/>
          </a:p>
        </p:txBody>
      </p:sp>
      <p:sp>
        <p:nvSpPr>
          <p:cNvPr id="4" name="Text 2"/>
          <p:cNvSpPr txBox="1"/>
          <p:nvPr/>
        </p:nvSpPr>
        <p:spPr>
          <a:xfrm>
            <a:off x="4325112"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どうぶつ基金・基金型自治体</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チケットFAQ</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https://sakuraneko-tnr.doubutukikin.or.jp/faq</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登録・チケット規約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https://sakuraneko-tnr.doubutukikin.or.jp/about/register</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事業概要</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https://www.doubutukikin.or.jp/activity/sakuraneko-surgery/</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2022年度実績</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https://www.doubutukikin.or.jp/activitynews/20230727/37090/</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高島市 環境政策課</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https://www.city.takashima.lg.jp/soshiki/kankyobu/kankyoseisakuka/2924.html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大網白里市</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https://www.city.oamishirasato.lg.jp/0000014129.html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函館市</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https://www.city.hakodate.hokkaido.jp/docs/2019041000041/</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広島市</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https://www.city.hiroshima.lg.jp/living/dobutsu/1023459/1023540/1023556.html</a:t>
            </a:r>
            <a:endParaRPr lang="en-US" sz="850" dirty="0"/>
          </a:p>
        </p:txBody>
      </p:sp>
      <p:sp>
        <p:nvSpPr>
          <p:cNvPr id="5" name="Text 3"/>
          <p:cNvSpPr txBox="1"/>
          <p:nvPr/>
        </p:nvSpPr>
        <p:spPr>
          <a:xfrm>
            <a:off x="7964424"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当事者の声・背景</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福岡県 県民モニター調査（N=349。実施年は資料に明記なし、自由記述から2022年実施と推定）</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https://www.pref.fukuoka.lg.jp/uploaded/attachment/186043.pdf</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堺市（猫は法令上捕獲根拠がなく行政は収容しない）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https://www.city.sakai.lg.jp/kurashi/dobutsu/dogcat/komarigoto/inunekokomaru.html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環境省 犬・猫の引取り及び負傷動物の収容状況</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https://www.env.go.jp/nature/dobutsu/aigo/2_data/statistics/dog-cat.html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数字の扱い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本資料の数値はすべて上記一次情報からの引用。収容数や苦情の減少といった実績は京都市の既存事業による成果であり、現時点における本プロダクトの実績値ではない。本システムが直接変革を目指す指標は「申請から手術までの所要日数」「制度登録の継続率」「担い手交代時における活動の継続性」である。</a:t>
            </a:r>
            <a:endParaRPr lang="en-US" sz="850" dirty="0"/>
          </a:p>
        </p:txBody>
      </p:sp>
      <p:sp>
        <p:nvSpPr>
          <p:cNvPr id="6" name="Text 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7" name="Text 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A</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548640"/>
          </a:xfrm>
          <a:prstGeom prst="rect">
            <a:avLst/>
          </a:prstGeom>
          <a:noFill/>
          <a:ln/>
        </p:spPr>
        <p:txBody>
          <a:bodyPr wrap="square" lIns="0" tIns="0" rIns="0" bIns="0" rtlCol="0" anchor="t"/>
          <a:lstStyle/>
          <a:p>
            <a:pPr indent="0" marL="0">
              <a:lnSpc>
                <a:spcPct val="115000"/>
              </a:lnSpc>
              <a:buNone/>
            </a:pPr>
            <a:r>
              <a:rPr lang="en-US" sz="2000" b="1" dirty="0">
                <a:solidFill>
                  <a:srgbClr val="1F2A37"/>
                </a:solidFill>
                <a:latin typeface="Meiryo" pitchFamily="34" charset="0"/>
                <a:ea typeface="Meiryo" pitchFamily="34" charset="-122"/>
                <a:cs typeface="Meiryo" pitchFamily="34" charset="-120"/>
              </a:rPr>
              <a:t>付録B　京都市まちねこ活動支援要綱 抜粋（令和6年4月1日改正）</a:t>
            </a:r>
            <a:endParaRPr lang="en-US" sz="2000" dirty="0"/>
          </a:p>
        </p:txBody>
      </p:sp>
      <p:sp>
        <p:nvSpPr>
          <p:cNvPr id="3" name="Text 1"/>
          <p:cNvSpPr txBox="1"/>
          <p:nvPr/>
        </p:nvSpPr>
        <p:spPr>
          <a:xfrm>
            <a:off x="685800" y="1188720"/>
            <a:ext cx="5303520" cy="5120640"/>
          </a:xfrm>
          <a:prstGeom prst="rect">
            <a:avLst/>
          </a:prstGeom>
          <a:noFill/>
          <a:ln/>
        </p:spPr>
        <p:txBody>
          <a:bodyPr wrap="square" lIns="0" tIns="0" rIns="0" bIns="0" rtlCol="0" anchor="t"/>
          <a:lstStyle/>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第2条⑵　活動は、同一世帯員ではない地域住民２人以上（ただし、その管理する野良猫が１０頭以上の場合にあっては同一世帯員ではない地域住民２人を含む京都市民３人以上）による団体を構成して行うものであること。</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第5条　「まちねこ活動登録申請書」（第１号様式）に、「まちねこ活動実施計画書」（第６号様式）及び次に掲げる事項を示した周辺地図を添えて、医療衛生センター長に提出するものとする。⑴活動地域の範囲 ⑵給餌の場所 ⑶野良猫用のトイレの場所</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第5条3　登録の有効期間は、登録の日から３年間とする。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第6条2　登録を更新しようとする団体は、「まちねこ活動登録更新申請書」（第２号様式）及び「実施計画書」を、従前の登録の有効期間の満了の日の３０日前から満了日までに医療衛生センター長に提出するもの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第7条3　医療衛生センター長は、期限までに第６条の更新が行われなかったもの又は活動の実態が認められない若しくは効果がないと思料するものについて、まちねこ活動団体に、第１項に規定する届出を行うよう求め、又は必要な調査を行ったうえ職権で登録を抹消することができる。</a:t>
            </a:r>
            <a:endParaRPr lang="en-US" sz="950" dirty="0"/>
          </a:p>
        </p:txBody>
      </p:sp>
      <p:sp>
        <p:nvSpPr>
          <p:cNvPr id="4" name="Text 2"/>
          <p:cNvSpPr txBox="1"/>
          <p:nvPr/>
        </p:nvSpPr>
        <p:spPr>
          <a:xfrm>
            <a:off x="6263640" y="1188720"/>
            <a:ext cx="5257800" cy="5120640"/>
          </a:xfrm>
          <a:prstGeom prst="rect">
            <a:avLst/>
          </a:prstGeom>
          <a:noFill/>
          <a:ln/>
        </p:spPr>
        <p:txBody>
          <a:bodyPr wrap="square" lIns="0" tIns="0" rIns="0" bIns="0" rtlCol="0" anchor="t"/>
          <a:lstStyle/>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第9条　まちねこの避妊去勢手術を依頼しようとするときは、まちねこ避妊去勢手術実施申請書（第４号様式）を医療衛生センター長に提出するものとする。</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第10条　避妊去勢手術の実施の日時は、動物愛護センターが医療衛生センター長を通じ、まちねこ活動団体に通知する。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第12条　まちねこ活動団体は、１年ごとに、医療衛生センター長に対して、「まちねこ活動状況報告書」（第５号様式）を提出し、まちねこの管理の状況について、報告しなければならない。</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第12条2　前項に規定する報告は、登録をした日の属する年の翌年以降、毎年、登録した日と同月日から３０日以内に行うものとする。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様式一覧　第1号 登録申請書／第2号 登録更新申請書／第3号 廃止届出書／第4号 避妊去勢手術実施申請書／第5号 活動状況報告書／第6号 活動実施計画書／参考様式 近隣の皆さまへ（お知らせ）</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記載例の注記（R6.4.1〜）　代表者の署名・押印不要。管理する猫が10頭以上の場合、地域住民2名以上のほかに京都市民1名以上の登録が必要。3人目の活動者は同一町内でなくとも可。</a:t>
            </a:r>
            <a:endParaRPr lang="en-US" sz="950" dirty="0"/>
          </a:p>
        </p:txBody>
      </p:sp>
      <p:sp>
        <p:nvSpPr>
          <p:cNvPr id="5" name="Text 3"/>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出典：京都市まちねこ活動支援要綱（yoko060401.pdf）／記載例 rei_touroku.pdf</a:t>
            </a:r>
            <a:endParaRPr lang="en-US" sz="800" dirty="0"/>
          </a:p>
        </p:txBody>
      </p:sp>
      <p:sp>
        <p:nvSpPr>
          <p:cNvPr id="6" name="Text 4"/>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B</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2026-09-11T08:52:35Z</dcterms:created>
  <dcterms:modified xsi:type="dcterms:W3CDTF">2026-09-11T08:52:35Z</dcterms:modified>
</cp:coreProperties>
</file>